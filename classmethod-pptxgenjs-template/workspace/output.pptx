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4"/>
    <p:sldId id="259" r:id="rId5"/>
    <p:sldId id="264" r:id="rId10"/>
    <p:sldId id="266" r:id="rId12"/>
    <p:sldId id="274" r:id="rId25"/>
    <p:sldId id="275" r:id="rId26"/>
    <p:sldId id="276" r:id="rId27"/>
    <p:sldId id="265" r:id="rId11"/>
    <p:sldId id="272" r:id="rId18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9.xml"/><Relationship Id="rId12" Type="http://schemas.openxmlformats.org/officeDocument/2006/relationships/slide" Target="slides/slide5.xml"/><Relationship Id="rId18" Type="http://schemas.openxmlformats.org/officeDocument/2006/relationships/slide" Target="slides/slide10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Relationship Id="rId25" Type="http://schemas.openxmlformats.org/officeDocument/2006/relationships/slide" Target="slides/slide6.xml"/><Relationship Id="rId26" Type="http://schemas.openxmlformats.org/officeDocument/2006/relationships/slide" Target="slides/slide7.xml"/><Relationship Id="rId27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3F3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0" y="731520"/>
            <a:ext cx="2743200" cy="60350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55448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b="1" sz="3400">
                <a:solidFill>
                  <a:srgbClr val="262626"/>
                </a:solidFill>
              </a:rPr>
              <a:t>キャリアの選択肢、"半径5m"で決めていませんか？</a:t>
            </a:r>
            <a:endParaRPr lang="en-US" sz="3800" dirty="0"/>
          </a:p>
        </p:txBody>
      </p:sp>
      <p:sp>
        <p:nvSpPr>
          <p:cNvPr id="4" name="Text 1"/>
          <p:cNvSpPr/>
          <p:nvPr/>
        </p:nvSpPr>
        <p:spPr>
          <a:xfrm>
            <a:off x="914400" y="28346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sz="1600">
                <a:solidFill>
                  <a:srgbClr val="595959"/>
                </a:solidFill>
              </a:rPr>
              <a:t>その会社ならではのキャリア実現を支援するAIエージェント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3200400" y="3566160"/>
            <a:ext cx="274320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828800" y="37490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sz="1400">
                <a:solidFill>
                  <a:srgbClr val="999999"/>
                </a:solidFill>
              </a:rPr>
              <a:t>Google AI Agent Hackathon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b="1" sz="2800">
                <a:solidFill>
                  <a:srgbClr val="434343"/>
                </a:solidFill>
              </a:rPr>
              <a:t>課題提起：大企業の"視野の狭窄"問題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8412480" y="109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8046720" cy="39547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b="1" sz="2200">
                <a:solidFill>
                  <a:srgbClr val="434343"/>
                </a:solidFill>
              </a:rPr>
              <a:t>なぜ優秀な人材が辞めていくのか？</a:t>
            </a:r>
            <a:endParaRPr lang="en-US" sz="1600" dirty="0"/>
          </a:p>
          <a:p>
            <a:pPr marL="284480" indent="-142240" algn="l">
              <a:spcAft>
                <a:spcPts val="400"/>
              </a:spcAft>
              <a:buChar char="•"/>
            </a:pPr>
            <a:r>
              <a:rPr sz="1400">
                <a:solidFill>
                  <a:srgbClr val="434343"/>
                </a:solidFill>
              </a:rPr>
              <a:t>見えるロールモデルが「直属の上司・先輩」に限られ、「この会社にいてもこの道しかない」と感じて辞めていく</a:t>
            </a:r>
          </a:p>
          <a:p>
            <a:pPr marL="284480" indent="-142240" algn="l">
              <a:spcAft>
                <a:spcPts val="400"/>
              </a:spcAft>
              <a:buChar char="•"/>
            </a:pPr>
            <a:r>
              <a:rPr sz="1400">
                <a:solidFill>
                  <a:srgbClr val="434343"/>
                </a:solidFill>
              </a:rPr>
              <a:t>実際には社内に全く違うキャリアを歩んでいる人がいるのに、その存在を知る手段がない</a:t>
            </a:r>
          </a:p>
          <a:p>
            <a:pPr marL="284480" indent="-142240" algn="l">
              <a:spcAft>
                <a:spcPts val="400"/>
              </a:spcAft>
              <a:buChar char="•"/>
            </a:pPr>
            <a:r>
              <a:rPr sz="1400">
                <a:solidFill>
                  <a:srgbClr val="434343"/>
                </a:solidFill>
              </a:rPr>
              <a:t>入社3年以内の離職率は約30%（厚生労働省調査）、エンゲージメント低下が主因</a:t>
            </a:r>
          </a:p>
          <a:p>
            <a:pPr marL="284480" indent="-142240" algn="l">
              <a:spcAft>
                <a:spcPts val="400"/>
              </a:spcAft>
              <a:buChar char="•"/>
            </a:pPr>
            <a:r>
              <a:rPr sz="1400">
                <a:solidFill>
                  <a:srgbClr val="434343"/>
                </a:solidFill>
              </a:rPr>
              <a:t>既存の解決策（1on1、社内公募、外部コーチング）は"発見"を生む設計になっていない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b="1" sz="3200">
                <a:solidFill>
                  <a:srgbClr val="262626"/>
                </a:solidFill>
              </a:rPr>
              <a:t>本質的な原因："知れば辞めない"構造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80467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sz="1600">
                <a:solidFill>
                  <a:srgbClr val="434343"/>
                </a:solidFill>
              </a:rPr>
              <a:t>辞める人の多くは「会社が嫌い」なのではなく、「この会社での可能性が見えない」から辞めている。</a:t>
            </a:r>
            <a:endParaRPr lang="en-US" sz="1600" dirty="0"/>
          </a:p>
          <a:p>
            <a:pPr marL="284480" indent="-142240" algn="l">
              <a:spcAft>
                <a:spcPts val="400"/>
              </a:spcAft>
              <a:buChar char="•"/>
            </a:pPr>
            <a:r>
              <a:rPr sz="1400">
                <a:solidFill>
                  <a:srgbClr val="434343"/>
                </a:solidFill>
              </a:rPr>
              <a:t>異なるキャリアを歩む社員の考え方・学び方・ターニングポイントを知ることができれば、自社の中にまだ見ぬ選択肢があると気づける</a:t>
            </a:r>
          </a:p>
          <a:p>
            <a:pPr marL="284480" indent="-142240" algn="l">
              <a:spcAft>
                <a:spcPts val="400"/>
              </a:spcAft>
              <a:buChar char="•"/>
            </a:pPr>
            <a:r>
              <a:rPr sz="1400">
                <a:solidFill>
                  <a:srgbClr val="434343"/>
                </a:solidFill>
              </a:rPr>
              <a:t>既存の1on1や社内公募は「偶然の出会い」頼みで、組織的に"発見"を生む仕組みがない</a:t>
            </a:r>
          </a:p>
          <a:p>
            <a:pPr marL="284480" indent="-142240" algn="l">
              <a:spcAft>
                <a:spcPts val="400"/>
              </a:spcAft>
              <a:buChar char="•"/>
            </a:pPr>
            <a:r>
              <a:rPr sz="1400">
                <a:solidFill>
                  <a:srgbClr val="434343"/>
                </a:solidFill>
              </a:rPr>
              <a:t>外部コーチングは汎用的で「その会社ならでは」のキャリアパスを提示できない</a:t>
            </a:r>
          </a:p>
        </p:txBody>
      </p:sp>
      <p:sp>
        <p:nvSpPr>
          <p:cNvPr id="4" name="Text 2"/>
          <p:cNvSpPr/>
          <p:nvPr/>
        </p:nvSpPr>
        <p:spPr>
          <a:xfrm>
            <a:off x="8412480" y="109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b="1" sz="2800">
                <a:solidFill>
                  <a:srgbClr val="434343"/>
                </a:solidFill>
              </a:rPr>
              <a:t>解決策：3つの価値を届けるAIエージェント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8412480" y="109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2529840" cy="39547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b="1" sz="2200">
                <a:solidFill>
                  <a:srgbClr val="262626"/>
                </a:solidFill>
              </a:rPr>
              <a:t>① 発見</a:t>
            </a:r>
            <a:endParaRPr lang="en-US" sz="1600" dirty="0"/>
          </a:p>
          <a:p>
            <a:pPr marL="284480" indent="-142240" algn="l">
              <a:spcAft>
                <a:spcPts val="400"/>
              </a:spcAft>
              <a:buChar char="•"/>
            </a:pPr>
            <a:r>
              <a:rPr sz="1400">
                <a:solidFill>
                  <a:srgbClr val="434343"/>
                </a:solidFill>
              </a:rPr>
              <a:t>その会社固有のキャリアパスを提案</a:t>
            </a:r>
          </a:p>
          <a:p>
            <a:pPr marL="284480" indent="-142240" algn="l">
              <a:spcAft>
                <a:spcPts val="400"/>
              </a:spcAft>
              <a:buChar char="•"/>
            </a:pPr>
            <a:r>
              <a:rPr sz="1400">
                <a:solidFill>
                  <a:srgbClr val="434343"/>
                </a:solidFill>
              </a:rPr>
              <a:t>ロールモデル社員との"疑似対話"で視野を拡大</a:t>
            </a:r>
          </a:p>
          <a:p>
            <a:pPr marL="284480" indent="-142240" algn="l">
              <a:spcAft>
                <a:spcPts val="400"/>
              </a:spcAft>
              <a:buChar char="•"/>
            </a:pPr>
            <a:r>
              <a:rPr sz="1400">
                <a:solidFill>
                  <a:srgbClr val="434343"/>
                </a:solidFill>
              </a:rPr>
              <a:t>インタビュー記事を元にした対話型キャリア相談</a:t>
            </a:r>
          </a:p>
        </p:txBody>
      </p:sp>
      <p:sp>
        <p:nvSpPr>
          <p:cNvPr id="6" name="Shape 4"/>
          <p:cNvSpPr/>
          <p:nvPr/>
        </p:nvSpPr>
        <p:spPr>
          <a:xfrm>
            <a:off x="3192780" y="868680"/>
            <a:ext cx="0" cy="395478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3307080" y="868680"/>
            <a:ext cx="2529840" cy="39547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b="1" sz="2200">
                <a:solidFill>
                  <a:srgbClr val="262626"/>
                </a:solidFill>
              </a:rPr>
              <a:t>② 継続</a:t>
            </a:r>
            <a:endParaRPr lang="en-US" sz="1600" dirty="0"/>
          </a:p>
          <a:p>
            <a:pPr marL="284480" indent="-142240" algn="l">
              <a:spcAft>
                <a:spcPts val="400"/>
              </a:spcAft>
              <a:buChar char="•"/>
            </a:pPr>
            <a:r>
              <a:rPr sz="1400">
                <a:solidFill>
                  <a:srgbClr val="434343"/>
                </a:solidFill>
              </a:rPr>
              <a:t>プロアクティブな励ましメッセージ</a:t>
            </a:r>
          </a:p>
          <a:p>
            <a:pPr marL="284480" indent="-142240" algn="l">
              <a:spcAft>
                <a:spcPts val="400"/>
              </a:spcAft>
              <a:buChar char="•"/>
            </a:pPr>
            <a:r>
              <a:rPr sz="1400">
                <a:solidFill>
                  <a:srgbClr val="434343"/>
                </a:solidFill>
              </a:rPr>
              <a:t>公募更新の自動通知</a:t>
            </a:r>
          </a:p>
          <a:p>
            <a:pPr marL="284480" indent="-142240" algn="l">
              <a:spcAft>
                <a:spcPts val="400"/>
              </a:spcAft>
              <a:buChar char="•"/>
            </a:pPr>
            <a:r>
              <a:rPr sz="1400">
                <a:solidFill>
                  <a:srgbClr val="434343"/>
                </a:solidFill>
              </a:rPr>
              <a:t>新入社員への定期メンタリング</a:t>
            </a:r>
          </a:p>
        </p:txBody>
      </p:sp>
      <p:sp>
        <p:nvSpPr>
          <p:cNvPr id="8" name="Shape 6"/>
          <p:cNvSpPr/>
          <p:nvPr/>
        </p:nvSpPr>
        <p:spPr>
          <a:xfrm>
            <a:off x="5951220" y="868680"/>
            <a:ext cx="0" cy="395478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065520" y="868680"/>
            <a:ext cx="2529840" cy="39547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b="1" sz="2200">
                <a:solidFill>
                  <a:srgbClr val="262626"/>
                </a:solidFill>
              </a:rPr>
              <a:t>③ 組織</a:t>
            </a:r>
            <a:endParaRPr lang="en-US" sz="1600" dirty="0"/>
          </a:p>
          <a:p>
            <a:pPr marL="284480" indent="-142240" algn="l">
              <a:spcAft>
                <a:spcPts val="400"/>
              </a:spcAft>
              <a:buChar char="•"/>
            </a:pPr>
            <a:r>
              <a:rPr sz="1400">
                <a:solidFill>
                  <a:srgbClr val="434343"/>
                </a:solidFill>
              </a:rPr>
              <a:t>全社員のスキルマップ蓄積</a:t>
            </a:r>
          </a:p>
          <a:p>
            <a:pPr marL="284480" indent="-142240" algn="l">
              <a:spcAft>
                <a:spcPts val="400"/>
              </a:spcAft>
              <a:buChar char="•"/>
            </a:pPr>
            <a:r>
              <a:rPr sz="1400">
                <a:solidFill>
                  <a:srgbClr val="434343"/>
                </a:solidFill>
              </a:rPr>
              <a:t>社員マッチング・勉強会促進</a:t>
            </a:r>
          </a:p>
          <a:p>
            <a:pPr marL="284480" indent="-142240" algn="l">
              <a:spcAft>
                <a:spcPts val="400"/>
              </a:spcAft>
              <a:buChar char="•"/>
            </a:pPr>
            <a:r>
              <a:rPr sz="1400">
                <a:solidFill>
                  <a:srgbClr val="434343"/>
                </a:solidFill>
              </a:rPr>
              <a:t>最適な人員配置の自動化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b="1" sz="3200">
                <a:solidFill>
                  <a:srgbClr val="434343"/>
                </a:solidFill>
              </a:rPr>
              <a:t>ユーザー体験フロー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8412480" y="109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348740" y="1737360"/>
            <a:ext cx="6446520" cy="0"/>
          </a:xfrm>
          <a:prstGeom prst="line">
            <a:avLst/>
          </a:prstGeom>
          <a:noFill/>
          <a:ln w="25400">
            <a:solidFill>
              <a:srgbClr val="D9D9D9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1028700" y="1417320"/>
            <a:ext cx="640080" cy="640080"/>
          </a:xfrm>
          <a:prstGeom prst="ellipse">
            <a:avLst/>
          </a:prstGeom>
          <a:solidFill>
            <a:srgbClr val="2C67E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028700" y="1417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34340" y="22402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b="1" sz="1600">
                <a:solidFill>
                  <a:srgbClr val="262626"/>
                </a:solidFill>
              </a:rPr>
              <a:t>相談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34340" y="269748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sz="1200">
                <a:solidFill>
                  <a:srgbClr val="595959"/>
                </a:solidFill>
              </a:rPr>
              <a:t>「今の仕事の延長しか見えない」若手社員がキャリアの悩みを相談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177540" y="1417320"/>
            <a:ext cx="640080" cy="640080"/>
          </a:xfrm>
          <a:prstGeom prst="ellipse">
            <a:avLst/>
          </a:prstGeom>
          <a:solidFill>
            <a:srgbClr val="2C67E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3177540" y="1417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583180" y="22402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b="1" sz="1600">
                <a:solidFill>
                  <a:srgbClr val="262626"/>
                </a:solidFill>
              </a:rPr>
              <a:t>発見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583180" y="269748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sz="1200">
                <a:solidFill>
                  <a:srgbClr val="595959"/>
                </a:solidFill>
              </a:rPr>
              <a:t>意外なキャリアを歩んだロールモデル社員をAIが紹介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326380" y="1417320"/>
            <a:ext cx="640080" cy="640080"/>
          </a:xfrm>
          <a:prstGeom prst="ellipse">
            <a:avLst/>
          </a:prstGeom>
          <a:solidFill>
            <a:srgbClr val="2C67E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5326380" y="1417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732020" y="22402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b="1" sz="1600">
                <a:solidFill>
                  <a:srgbClr val="262626"/>
                </a:solidFill>
              </a:rPr>
              <a:t>対話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732020" y="269748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sz="1200">
                <a:solidFill>
                  <a:srgbClr val="595959"/>
                </a:solidFill>
              </a:rPr>
              <a:t>その人の考え方・勉強法・ターニングポイントを疑似対話で深掘り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475220" y="1417320"/>
            <a:ext cx="640080" cy="640080"/>
          </a:xfrm>
          <a:prstGeom prst="ellipse">
            <a:avLst/>
          </a:prstGeom>
          <a:solidFill>
            <a:srgbClr val="2C67E5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7475220" y="1417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880860" y="22402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b="1" sz="1600">
                <a:solidFill>
                  <a:srgbClr val="262626"/>
                </a:solidFill>
              </a:rPr>
              <a:t>行動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880860" y="269748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sz="1200">
                <a:solidFill>
                  <a:srgbClr val="595959"/>
                </a:solidFill>
              </a:rPr>
              <a:t>新しい選択肢が見え、キャリアプラン策定・社内公募へアクション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2743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b="1" sz="3200">
                <a:solidFill>
                  <a:srgbClr val="262626"/>
                </a:solidFill>
              </a:rPr>
              <a:t>独自性：なぜ"その会社ならでは"が可能か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80467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sz="1600">
                <a:solidFill>
                  <a:srgbClr val="434343"/>
                </a:solidFill>
              </a:rPr>
              <a:t>社内データをRAGで取り込み、汎用キャリアアドバイスとは一線を画す</a:t>
            </a:r>
            <a:endParaRPr lang="en-US" sz="1600" dirty="0"/>
          </a:p>
          <a:p>
            <a:pPr marL="284480" indent="-142240" algn="l">
              <a:spcAft>
                <a:spcPts val="400"/>
              </a:spcAft>
              <a:buChar char="•"/>
            </a:pPr>
            <a:r>
              <a:rPr sz="1400">
                <a:solidFill>
                  <a:srgbClr val="434343"/>
                </a:solidFill>
              </a:rPr>
              <a:t>社内インタビュー記事・社員プロフィールからロールモデルの人物像を構築</a:t>
            </a:r>
          </a:p>
          <a:p>
            <a:pPr marL="284480" indent="-142240" algn="l">
              <a:spcAft>
                <a:spcPts val="400"/>
              </a:spcAft>
              <a:buChar char="•"/>
            </a:pPr>
            <a:r>
              <a:rPr sz="1400">
                <a:solidFill>
                  <a:srgbClr val="434343"/>
                </a:solidFill>
              </a:rPr>
              <a:t>スキルデータ・評価情報からキャリアパスの実績データを蓄積</a:t>
            </a:r>
          </a:p>
          <a:p>
            <a:pPr marL="284480" indent="-142240" algn="l">
              <a:spcAft>
                <a:spcPts val="400"/>
              </a:spcAft>
              <a:buChar char="•"/>
            </a:pPr>
            <a:r>
              <a:rPr sz="1400">
                <a:solidFill>
                  <a:srgbClr val="434343"/>
                </a:solidFill>
              </a:rPr>
              <a:t>社内公募・異動情報をリアルタイムに反映し、最新のキャリア選択肢を提示</a:t>
            </a:r>
          </a:p>
        </p:txBody>
      </p:sp>
      <p:sp>
        <p:nvSpPr>
          <p:cNvPr id="4" name="Text 2"/>
          <p:cNvSpPr/>
          <p:nvPr/>
        </p:nvSpPr>
        <p:spPr>
          <a:xfrm>
            <a:off x="8412480" y="109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2743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b="1" sz="3600">
                <a:solidFill>
                  <a:srgbClr val="262626"/>
                </a:solidFill>
              </a:rPr>
              <a:t>アーキテクチャ概要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80467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b="1" sz="1600">
                <a:solidFill>
                  <a:srgbClr val="434343"/>
                </a:solidFill>
              </a:rPr>
              <a:t>Google Cloud + Gemini をベースとした構成</a:t>
            </a:r>
            <a:endParaRPr lang="en-US" sz="1600" dirty="0"/>
          </a:p>
          <a:p>
            <a:pPr marL="284480" indent="-142240" algn="l">
              <a:spcAft>
                <a:spcPts val="400"/>
              </a:spcAft>
              <a:buChar char="•"/>
            </a:pPr>
            <a:r>
              <a:rPr sz="1400">
                <a:solidFill>
                  <a:srgbClr val="434343"/>
                </a:solidFill>
              </a:rPr>
              <a:t>LLM: Gemini（キャリア相談対話・ロールモデル疑似対話）</a:t>
            </a:r>
          </a:p>
          <a:p>
            <a:pPr marL="284480" indent="-142240" algn="l">
              <a:spcAft>
                <a:spcPts val="400"/>
              </a:spcAft>
              <a:buChar char="•"/>
            </a:pPr>
            <a:r>
              <a:rPr sz="1400">
                <a:solidFill>
                  <a:srgbClr val="434343"/>
                </a:solidFill>
              </a:rPr>
              <a:t>RAG: Vertex AI Search（社内インタビュー・スキルデータ・公募情報）</a:t>
            </a:r>
          </a:p>
          <a:p>
            <a:pPr marL="284480" indent="-142240" algn="l">
              <a:spcAft>
                <a:spcPts val="400"/>
              </a:spcAft>
              <a:buChar char="•"/>
            </a:pPr>
            <a:r>
              <a:rPr sz="1400">
                <a:solidFill>
                  <a:srgbClr val="434343"/>
                </a:solidFill>
              </a:rPr>
              <a:t>Agent: ADK（プロアクティブ通知・メンタリング自動化）</a:t>
            </a:r>
          </a:p>
          <a:p>
            <a:pPr marL="284480" indent="-142240" algn="l">
              <a:spcAft>
                <a:spcPts val="400"/>
              </a:spcAft>
              <a:buChar char="•"/>
            </a:pPr>
            <a:r>
              <a:rPr sz="1400">
                <a:solidFill>
                  <a:srgbClr val="434343"/>
                </a:solidFill>
              </a:rPr>
              <a:t>データ基盤: BigQuery（スキルマップ蓄積・人員配置最適化）</a:t>
            </a:r>
          </a:p>
          <a:p>
            <a:pPr marL="284480" indent="-142240" algn="l">
              <a:spcAft>
                <a:spcPts val="400"/>
              </a:spcAft>
              <a:buChar char="•"/>
            </a:pPr>
            <a:r>
              <a:rPr sz="1400">
                <a:solidFill>
                  <a:srgbClr val="434343"/>
                </a:solidFill>
              </a:rPr>
              <a:t>フロントエンド: Chat UI（Slack / Webアプリ連携）</a:t>
            </a:r>
          </a:p>
        </p:txBody>
      </p:sp>
      <p:sp>
        <p:nvSpPr>
          <p:cNvPr id="4" name="Text 2"/>
          <p:cNvSpPr/>
          <p:nvPr/>
        </p:nvSpPr>
        <p:spPr>
          <a:xfrm>
            <a:off x="8412480" y="109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457200" y="731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b="1" sz="2800">
                <a:solidFill>
                  <a:srgbClr val="434343"/>
                </a:solidFill>
              </a:rPr>
              <a:t>導入ロードマップ：3フェーズ展開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8412480" y="109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348740" y="1737360"/>
            <a:ext cx="6446520" cy="0"/>
          </a:xfrm>
          <a:prstGeom prst="line">
            <a:avLst/>
          </a:prstGeom>
          <a:noFill/>
          <a:ln w="25400">
            <a:solidFill>
              <a:srgbClr val="D9D9D9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1028700" y="1417320"/>
            <a:ext cx="640080" cy="640080"/>
          </a:xfrm>
          <a:prstGeom prst="ellipse">
            <a:avLst/>
          </a:prstGeom>
          <a:solidFill>
            <a:srgbClr val="2C67E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028700" y="1417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34340" y="22402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b="1" sz="1600">
                <a:solidFill>
                  <a:srgbClr val="262626"/>
                </a:solidFill>
              </a:rPr>
              <a:t>Phase 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34340" y="269748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sz="1200">
                <a:solidFill>
                  <a:srgbClr val="595959"/>
                </a:solidFill>
              </a:rPr>
              <a:t>MVP：キャリア相談チャットとロールモデル疑似対話機能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177540" y="1417320"/>
            <a:ext cx="640080" cy="640080"/>
          </a:xfrm>
          <a:prstGeom prst="ellipse">
            <a:avLst/>
          </a:prstGeom>
          <a:solidFill>
            <a:srgbClr val="2C67E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3177540" y="1417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583180" y="22402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b="1" sz="1600">
                <a:solidFill>
                  <a:srgbClr val="262626"/>
                </a:solidFill>
              </a:rPr>
              <a:t>Phase 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583180" y="269748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sz="1200">
                <a:solidFill>
                  <a:srgbClr val="595959"/>
                </a:solidFill>
              </a:rPr>
              <a:t>プロアクティブ機能：励まし・公募通知・新人メンタリング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326380" y="1417320"/>
            <a:ext cx="640080" cy="640080"/>
          </a:xfrm>
          <a:prstGeom prst="ellipse">
            <a:avLst/>
          </a:prstGeom>
          <a:solidFill>
            <a:srgbClr val="2C67E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5326380" y="1417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732020" y="22402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b="1" sz="1600">
                <a:solidFill>
                  <a:srgbClr val="262626"/>
                </a:solidFill>
              </a:rPr>
              <a:t>Phase 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732020" y="269748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sz="1200">
                <a:solidFill>
                  <a:srgbClr val="595959"/>
                </a:solidFill>
              </a:rPr>
              <a:t>組織データ活用：スキルマップ・人員配置最適化・社員マッチング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475220" y="1417320"/>
            <a:ext cx="640080" cy="640080"/>
          </a:xfrm>
          <a:prstGeom prst="ellipse">
            <a:avLst/>
          </a:prstGeom>
          <a:solidFill>
            <a:srgbClr val="2C67E5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7475220" y="1417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880860" y="22402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b="1" sz="1600">
                <a:solidFill>
                  <a:srgbClr val="262626"/>
                </a:solidFill>
              </a:rPr>
              <a:t>拡張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880860" y="269748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sz="1200">
                <a:solidFill>
                  <a:srgbClr val="595959"/>
                </a:solidFill>
              </a:rPr>
              <a:t>他社・グループ会社への横展開、業界特化モデルの開発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b="1" sz="3200">
                <a:solidFill>
                  <a:srgbClr val="434343"/>
                </a:solidFill>
              </a:rPr>
              <a:t>期待される効果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8412480" y="109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85800" y="1005840"/>
            <a:ext cx="237744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685800" y="1005840"/>
            <a:ext cx="2377440" cy="54864"/>
          </a:xfrm>
          <a:prstGeom prst="rect">
            <a:avLst/>
          </a:prstGeom>
          <a:solidFill>
            <a:srgbClr val="2C67E5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1600200" y="1280160"/>
            <a:ext cx="548640" cy="548640"/>
          </a:xfrm>
          <a:prstGeom prst="ellipse">
            <a:avLst/>
          </a:prstGeom>
          <a:solidFill>
            <a:srgbClr val="2C67E5"/>
          </a:solidFill>
          <a:ln/>
        </p:spPr>
        <p:txBody>
          <a:bodyPr/>
          <a:p/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19072" y="1399032"/>
            <a:ext cx="310896" cy="31089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85800" y="205740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b="1" sz="5200">
                <a:solidFill>
                  <a:srgbClr val="2C67E5"/>
                </a:solidFill>
              </a:rPr>
              <a:t>-30%</a:t>
            </a:r>
            <a:endParaRPr lang="en-US" sz="5200" dirty="0"/>
          </a:p>
        </p:txBody>
      </p:sp>
      <p:sp>
        <p:nvSpPr>
          <p:cNvPr id="10" name="Text 7"/>
          <p:cNvSpPr/>
          <p:nvPr/>
        </p:nvSpPr>
        <p:spPr>
          <a:xfrm>
            <a:off x="868680" y="329184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sz="1400">
                <a:solidFill>
                  <a:srgbClr val="595959"/>
                </a:solidFill>
              </a:rPr>
              <a:t>離職率低下（入社3年以内）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3383280" y="1005840"/>
            <a:ext cx="237744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2" name="Shape 9"/>
          <p:cNvSpPr/>
          <p:nvPr/>
        </p:nvSpPr>
        <p:spPr>
          <a:xfrm>
            <a:off x="3383280" y="1005840"/>
            <a:ext cx="2377440" cy="54864"/>
          </a:xfrm>
          <a:prstGeom prst="rect">
            <a:avLst/>
          </a:prstGeom>
          <a:solidFill>
            <a:srgbClr val="2C67E5"/>
          </a:solidFill>
          <a:ln/>
        </p:spPr>
        <p:txBody>
          <a:bodyPr/>
          <a:p/>
        </p:txBody>
      </p:sp>
      <p:sp>
        <p:nvSpPr>
          <p:cNvPr id="13" name="Shape 10"/>
          <p:cNvSpPr/>
          <p:nvPr/>
        </p:nvSpPr>
        <p:spPr>
          <a:xfrm>
            <a:off x="4297680" y="1280160"/>
            <a:ext cx="548640" cy="548640"/>
          </a:xfrm>
          <a:prstGeom prst="ellipse">
            <a:avLst/>
          </a:prstGeom>
          <a:solidFill>
            <a:srgbClr val="2C67E5"/>
          </a:solidFill>
          <a:ln/>
        </p:spPr>
        <p:txBody>
          <a:bodyPr/>
          <a:p/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6552" y="1399032"/>
            <a:ext cx="310896" cy="31089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383280" y="205740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b="1" sz="5200">
                <a:solidFill>
                  <a:srgbClr val="2C67E5"/>
                </a:solidFill>
              </a:rPr>
              <a:t>+40%</a:t>
            </a:r>
            <a:endParaRPr lang="en-US" sz="5200" dirty="0"/>
          </a:p>
        </p:txBody>
      </p:sp>
      <p:sp>
        <p:nvSpPr>
          <p:cNvPr id="16" name="Text 12"/>
          <p:cNvSpPr/>
          <p:nvPr/>
        </p:nvSpPr>
        <p:spPr>
          <a:xfrm>
            <a:off x="3566160" y="329184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sz="1400">
                <a:solidFill>
                  <a:srgbClr val="595959"/>
                </a:solidFill>
              </a:rPr>
              <a:t>エンゲージメントスコア向上</a:t>
            </a: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>
            <a:off x="6080760" y="1005840"/>
            <a:ext cx="237744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8" name="Shape 14"/>
          <p:cNvSpPr/>
          <p:nvPr/>
        </p:nvSpPr>
        <p:spPr>
          <a:xfrm>
            <a:off x="6080760" y="1005840"/>
            <a:ext cx="2377440" cy="54864"/>
          </a:xfrm>
          <a:prstGeom prst="rect">
            <a:avLst/>
          </a:prstGeom>
          <a:solidFill>
            <a:srgbClr val="2C67E5"/>
          </a:solidFill>
          <a:ln/>
        </p:spPr>
        <p:txBody>
          <a:bodyPr/>
          <a:p/>
        </p:txBody>
      </p:sp>
      <p:sp>
        <p:nvSpPr>
          <p:cNvPr id="19" name="Shape 15"/>
          <p:cNvSpPr/>
          <p:nvPr/>
        </p:nvSpPr>
        <p:spPr>
          <a:xfrm>
            <a:off x="6995160" y="1280160"/>
            <a:ext cx="548640" cy="548640"/>
          </a:xfrm>
          <a:prstGeom prst="ellipse">
            <a:avLst/>
          </a:prstGeom>
          <a:solidFill>
            <a:srgbClr val="2C67E5"/>
          </a:solidFill>
          <a:ln/>
        </p:spPr>
        <p:txBody>
          <a:bodyPr/>
          <a:p/>
        </p:txBody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4032" y="1399032"/>
            <a:ext cx="310896" cy="310896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080760" y="205740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b="1" sz="5200">
                <a:solidFill>
                  <a:srgbClr val="2C67E5"/>
                </a:solidFill>
              </a:rPr>
              <a:t>-50%</a:t>
            </a:r>
            <a:endParaRPr lang="en-US" sz="5200" dirty="0"/>
          </a:p>
        </p:txBody>
      </p:sp>
      <p:sp>
        <p:nvSpPr>
          <p:cNvPr id="22" name="Text 17"/>
          <p:cNvSpPr/>
          <p:nvPr/>
        </p:nvSpPr>
        <p:spPr>
          <a:xfrm>
            <a:off x="6263640" y="329184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sz="1400">
                <a:solidFill>
                  <a:srgbClr val="595959"/>
                </a:solidFill>
              </a:rPr>
              <a:t>人事キャリア面談工数削減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2C67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7280" y="1280160"/>
            <a:ext cx="6949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b="1" sz="3800">
                <a:solidFill>
                  <a:srgbClr val="FFFFFF"/>
                </a:solidFill>
              </a:rPr>
              <a:t>半径5mの外に、あなたのキャリアがある。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1097280" y="2560320"/>
            <a:ext cx="6949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sz="1800">
                <a:solidFill>
                  <a:srgbClr val="FFFFFF"/>
                </a:solidFill>
              </a:rPr>
              <a:t>AIエージェントが、一人ひとりの「その会社ならでは」のキャリアを照らし出す。見えなかった可能性を見つけ、つながり、歩み出す力を。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Classmethod Slide Template</dc:title>
  <dc:subject>PptxGenJS Presentation</dc:subject>
  <dc:creator>Classmethod</dc:creator>
  <cp:lastModifiedBy>Classmethod</cp:lastModifiedBy>
  <cp:revision>1</cp:revision>
  <dcterms:created xsi:type="dcterms:W3CDTF">2026-04-20T15:09:41Z</dcterms:created>
  <dcterms:modified xsi:type="dcterms:W3CDTF">2026-04-20T15:09:41Z</dcterms:modified>
</cp:coreProperties>
</file>