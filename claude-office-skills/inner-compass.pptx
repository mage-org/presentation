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3301901" cy="5143500"/>
          </a:xfrm>
          <a:prstGeom prst="rect">
            <a:avLst/>
          </a:prstGeom>
          <a:solidFill>
            <a:srgbClr val="1F4E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55550" y="457200"/>
            <a:ext cx="264261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400"/>
              </a:spcAft>
              <a:buNone/>
            </a:pPr>
            <a:r>
              <a:rPr lang="en-US" sz="1100" b="1" dirty="0">
                <a:solidFill>
                  <a:srgbClr val="E76F5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CAREER × AI AGENT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55550" y="787301"/>
            <a:ext cx="2642616" cy="853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Inner Compass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55550" y="1818084"/>
            <a:ext cx="2642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400"/>
              </a:spcBef>
              <a:buNone/>
            </a:pPr>
            <a:r>
              <a:rPr lang="en-US" sz="1200" dirty="0">
                <a:solidFill>
                  <a:srgbClr val="AAB7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社内ロールモデル発見型キャリアAIエージェント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55550" y="4280297"/>
            <a:ext cx="2642616" cy="203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FAF7F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Google AI Agent Hackathon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55550" y="4483298"/>
            <a:ext cx="2642616" cy="203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FAF7F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2026 / Team Submission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911501" y="752773"/>
            <a:ext cx="471535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800"/>
              </a:spcAft>
              <a:buNone/>
            </a:pPr>
            <a:r>
              <a:rPr lang="en-US" sz="1200" b="1" dirty="0">
                <a:solidFill>
                  <a:srgbClr val="5D6D7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QUESTION TO YOU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911501" y="1152823"/>
            <a:ext cx="4715357" cy="109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320"/>
              </a:lnSpc>
              <a:spcAft>
                <a:spcPts val="600"/>
              </a:spcAft>
              <a:buNone/>
            </a:pPr>
            <a:r>
              <a:rPr lang="en-US" sz="3200" b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あなたのキャリアの選択肢、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911501" y="2326184"/>
            <a:ext cx="4715357" cy="109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320"/>
              </a:lnSpc>
              <a:spcAft>
                <a:spcPts val="600"/>
              </a:spcAft>
              <a:buNone/>
            </a:pPr>
            <a:r>
              <a:rPr lang="en-US" sz="3200" b="1" dirty="0">
                <a:solidFill>
                  <a:srgbClr val="E76F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"半径5m"</a:t>
            </a:r>
            <a:pPr algn="l" indent="0" marL="0">
              <a:lnSpc>
                <a:spcPts val="4320"/>
              </a:lnSpc>
              <a:spcAft>
                <a:spcPts val="600"/>
              </a:spcAft>
              <a:buNone/>
            </a:pPr>
            <a:r>
              <a:rPr lang="en-US" sz="32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で決めていませんか？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3911501" y="3829645"/>
            <a:ext cx="4715357" cy="280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10"/>
              </a:lnSpc>
              <a:spcBef>
                <a:spcPts val="2600"/>
              </a:spcBef>
              <a:buNone/>
            </a:pPr>
            <a:r>
              <a:rPr lang="en-US" sz="1300" dirty="0">
                <a:solidFill>
                  <a:srgbClr val="5D6D7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大企業のなかに埋もれている "まだ見ぬ自分のキャリア" を、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911501" y="4110186"/>
            <a:ext cx="4715357" cy="280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10"/>
              </a:lnSpc>
              <a:buNone/>
            </a:pPr>
            <a:r>
              <a:rPr lang="en-US" sz="1300" dirty="0">
                <a:solidFill>
                  <a:srgbClr val="5D6D7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AIエージェントが引き出す。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12688"/>
            <a:ext cx="121049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76F5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02 / PROBLEM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999506" y="279350"/>
            <a:ext cx="67340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4E5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課題提起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09600" y="666601"/>
            <a:ext cx="8083296" cy="89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spcBef>
                <a:spcPts val="400"/>
              </a:spcBef>
              <a:spcAft>
                <a:spcPts val="1800"/>
              </a:spcAft>
              <a:buNone/>
            </a:pPr>
            <a:r>
              <a:rPr lang="en-US" sz="26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大企業の </a:t>
            </a:r>
            <a:pPr algn="l" indent="0" marL="0">
              <a:lnSpc>
                <a:spcPts val="3510"/>
              </a:lnSpc>
              <a:spcBef>
                <a:spcPts val="400"/>
              </a:spcBef>
              <a:spcAft>
                <a:spcPts val="1800"/>
              </a:spcAft>
              <a:buNone/>
            </a:pPr>
            <a:r>
              <a:rPr lang="en-US" sz="2600" b="1" dirty="0">
                <a:solidFill>
                  <a:srgbClr val="E76F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"視野の狭窄"</a:t>
            </a:r>
            <a:pPr algn="l" indent="0" marL="0">
              <a:lnSpc>
                <a:spcPts val="3510"/>
              </a:lnSpc>
              <a:spcBef>
                <a:spcPts val="400"/>
              </a:spcBef>
              <a:spcAft>
                <a:spcPts val="1800"/>
              </a:spcAft>
              <a:buNone/>
            </a:pPr>
            <a:r>
              <a:rPr lang="en-US" sz="26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が、優秀な人材を外へ流出させている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09600" y="1786682"/>
            <a:ext cx="3429000" cy="3001268"/>
          </a:xfrm>
          <a:prstGeom prst="roundRect">
            <a:avLst>
              <a:gd name="adj" fmla="val 5924"/>
            </a:avLst>
          </a:prstGeom>
          <a:solidFill>
            <a:srgbClr val="1F4E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939701" y="2355056"/>
            <a:ext cx="282417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E76F5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YOUR CAREER VIEW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39701" y="2624882"/>
            <a:ext cx="2824174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半径5m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939701" y="3442543"/>
            <a:ext cx="2824174" cy="7768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40"/>
              </a:lnSpc>
              <a:spcBef>
                <a:spcPts val="1400"/>
              </a:spcBef>
              <a:buNone/>
            </a:pPr>
            <a:r>
              <a:rPr lang="en-US" sz="1200" dirty="0">
                <a:solidFill>
                  <a:srgbClr val="FAF7F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見えるロールモデルは、直属の上司と先輩だけ。「この会社にいても、この道しかない」という錯覚が離職を生む。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394150" y="1786682"/>
            <a:ext cx="4140250" cy="1086892"/>
          </a:xfrm>
          <a:prstGeom prst="roundRect">
            <a:avLst>
              <a:gd name="adj" fmla="val 70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26941" dir="2700000">
              <a:srgbClr val="1c2833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4432250" y="1786682"/>
            <a:ext cx="0" cy="1086892"/>
          </a:xfrm>
          <a:prstGeom prst="line">
            <a:avLst/>
          </a:prstGeom>
          <a:noFill/>
          <a:ln w="76200">
            <a:solidFill>
              <a:srgbClr val="E76F5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24251" y="1964382"/>
            <a:ext cx="362737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F4E5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視界の固定化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724251" y="2262783"/>
            <a:ext cx="3627373" cy="433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社内に全く違うキャリアを歩む人がいるのに、その存在を知る手段がない。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394150" y="3000524"/>
            <a:ext cx="4140250" cy="1595884"/>
          </a:xfrm>
          <a:prstGeom prst="roundRect">
            <a:avLst>
              <a:gd name="adj" fmla="val 4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26941" dir="2700000">
              <a:srgbClr val="1c2833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4432250" y="3000524"/>
            <a:ext cx="0" cy="1595884"/>
          </a:xfrm>
          <a:prstGeom prst="line">
            <a:avLst/>
          </a:prstGeom>
          <a:noFill/>
          <a:ln w="76200">
            <a:solidFill>
              <a:srgbClr val="E76F5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24251" y="3178225"/>
            <a:ext cx="362737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F4E5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定量データも警告している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724251" y="3476625"/>
            <a:ext cx="1701850" cy="942082"/>
          </a:xfrm>
          <a:prstGeom prst="roundRect">
            <a:avLst>
              <a:gd name="adj" fmla="val 10785"/>
            </a:avLst>
          </a:prstGeom>
          <a:solidFill>
            <a:srgbClr val="FAF7F2"/>
          </a:solidFill>
          <a:ln w="19050">
            <a:solidFill>
              <a:srgbClr val="27788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895701" y="3622625"/>
            <a:ext cx="1386129" cy="279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E76F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31.5%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95701" y="3952726"/>
            <a:ext cx="1386129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400"/>
              </a:spcBef>
              <a:buNone/>
            </a:pPr>
            <a:r>
              <a:rPr lang="en-US" sz="900" dirty="0">
                <a:solidFill>
                  <a:srgbClr val="5D6D7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大卒新入社員の3年以内離職率（厚労省）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578501" y="3476625"/>
            <a:ext cx="1701998" cy="942082"/>
          </a:xfrm>
          <a:prstGeom prst="roundRect">
            <a:avLst>
              <a:gd name="adj" fmla="val 10785"/>
            </a:avLst>
          </a:prstGeom>
          <a:solidFill>
            <a:srgbClr val="FAF7F2"/>
          </a:solidFill>
          <a:ln w="19050">
            <a:solidFill>
              <a:srgbClr val="27788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749951" y="3622625"/>
            <a:ext cx="1386280" cy="279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E76F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749951" y="3952726"/>
            <a:ext cx="138628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400"/>
              </a:spcBef>
              <a:buNone/>
            </a:pPr>
            <a:r>
              <a:rPr lang="en-US" sz="900" dirty="0">
                <a:solidFill>
                  <a:srgbClr val="5D6D7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日本の「熱意ある社員」の割合（Gallup）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36488"/>
            <a:ext cx="108813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76F5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03 / INSIGHT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879550" y="203150"/>
            <a:ext cx="101010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4E5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本質的な原因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09600" y="514201"/>
            <a:ext cx="8083296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60"/>
              </a:lnSpc>
              <a:spcBef>
                <a:spcPts val="200"/>
              </a:spcBef>
              <a:spcAft>
                <a:spcPts val="1200"/>
              </a:spcAft>
              <a:buNone/>
            </a:pPr>
            <a:r>
              <a:rPr lang="en-US" sz="2200" b="1" dirty="0">
                <a:solidFill>
                  <a:srgbClr val="E76F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"知れば辞めない"</a:t>
            </a:r>
            <a:pPr algn="l" indent="0" marL="0">
              <a:lnSpc>
                <a:spcPts val="2860"/>
              </a:lnSpc>
              <a:spcBef>
                <a:spcPts val="200"/>
              </a:spcBef>
              <a:spcAft>
                <a:spcPts val="1200"/>
              </a:spcAft>
              <a:buNone/>
            </a:pPr>
            <a:r>
              <a:rPr lang="en-US" sz="22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のに、知る機会がない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09600" y="1029742"/>
            <a:ext cx="7924800" cy="542925"/>
          </a:xfrm>
          <a:prstGeom prst="roundRect">
            <a:avLst>
              <a:gd name="adj" fmla="val 23392"/>
            </a:avLst>
          </a:prstGeom>
          <a:solidFill>
            <a:srgbClr val="1F4E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38200" y="1182142"/>
            <a:ext cx="761695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75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辞める人の多くは「会社が嫌い」なのではなく、</a:t>
            </a:r>
            <a:pPr algn="l" indent="0" marL="0">
              <a:lnSpc>
                <a:spcPts val="1875"/>
              </a:lnSpc>
              <a:buNone/>
            </a:pPr>
            <a:r>
              <a:rPr lang="en-US" sz="1250" b="1" dirty="0">
                <a:solidFill>
                  <a:srgbClr val="F4A26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「この会社での可能性が見えない」</a:t>
            </a:r>
            <a:pPr algn="l" indent="0" marL="0">
              <a:lnSpc>
                <a:spcPts val="1875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から辞めている。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09600" y="1750368"/>
            <a:ext cx="3860750" cy="3164532"/>
          </a:xfrm>
          <a:prstGeom prst="roundRect">
            <a:avLst>
              <a:gd name="adj" fmla="val 401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26941" dir="2700000">
              <a:srgbClr val="1c2833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38200" y="1928068"/>
            <a:ext cx="347162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C0392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× 既存施策の限界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38200" y="2239119"/>
            <a:ext cx="3471621" cy="2314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3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1C28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"発見"を生む設計になっていない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38200" y="2572048"/>
            <a:ext cx="3403550" cy="1326952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lnSpc>
                <a:spcPts val="1575"/>
              </a:lnSpc>
              <a:spcAft>
                <a:spcPts val="500"/>
              </a:spcAft>
              <a:buSzPct val="100000"/>
              <a:buChar char="•"/>
            </a:pPr>
            <a:r>
              <a:rPr lang="en-US" sz="1050" b="1" dirty="0">
                <a:solidFill>
                  <a:srgbClr val="1C28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1on1</a:t>
            </a:r>
            <a:pPr algn="l" indent="0" marL="0">
              <a:lnSpc>
                <a:spcPts val="1575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1C28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：上司との会話のため、視野が上司の世界観に閉じる</a:t>
            </a:r>
            <a:endParaRPr lang="en-US" sz="1050" dirty="0"/>
          </a:p>
          <a:p>
            <a:pPr algn="l" marL="88900" indent="-88900">
              <a:lnSpc>
                <a:spcPts val="1575"/>
              </a:lnSpc>
              <a:spcAft>
                <a:spcPts val="500"/>
              </a:spcAft>
              <a:buSzPct val="100000"/>
              <a:buChar char="•"/>
            </a:pPr>
            <a:r>
              <a:rPr lang="en-US" sz="1050" b="1" dirty="0">
                <a:solidFill>
                  <a:srgbClr val="1C28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社内公募</a:t>
            </a:r>
            <a:pPr algn="l" indent="0" marL="0">
              <a:lnSpc>
                <a:spcPts val="1575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1C28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：自分から検索しないと出会えず、受け身では機能しない</a:t>
            </a:r>
            <a:endParaRPr lang="en-US" sz="1050" dirty="0"/>
          </a:p>
          <a:p>
            <a:pPr algn="l" marL="88900" indent="-88900">
              <a:lnSpc>
                <a:spcPts val="1575"/>
              </a:lnSpc>
              <a:spcAft>
                <a:spcPts val="500"/>
              </a:spcAft>
              <a:buSzPct val="100000"/>
              <a:buChar char="•"/>
            </a:pPr>
            <a:r>
              <a:rPr lang="en-US" sz="1050" b="1" dirty="0">
                <a:solidFill>
                  <a:srgbClr val="1C28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外部コーチング</a:t>
            </a:r>
            <a:pPr algn="l" indent="0" marL="0">
              <a:lnSpc>
                <a:spcPts val="1575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1C28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：自社特有のキャリア構造を理解していない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673501" y="1750368"/>
            <a:ext cx="3860899" cy="3164532"/>
          </a:xfrm>
          <a:prstGeom prst="roundRect">
            <a:avLst>
              <a:gd name="adj" fmla="val 401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26941" dir="2700000">
              <a:srgbClr val="1c2833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902101" y="1928068"/>
            <a:ext cx="347177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27788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◎ 本当に必要なもの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902101" y="2239119"/>
            <a:ext cx="3471773" cy="2314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3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1C28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自社内の"未知のロールモデル"との出会い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902101" y="2572048"/>
            <a:ext cx="3403699" cy="726877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lnSpc>
                <a:spcPts val="1575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C28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異なる部門で活躍する社員の </a:t>
            </a:r>
            <a:pPr algn="l" indent="0" marL="0">
              <a:lnSpc>
                <a:spcPts val="1575"/>
              </a:lnSpc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1C28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考え方・学び方</a:t>
            </a:r>
            <a:pPr algn="l" indent="0" marL="0">
              <a:lnSpc>
                <a:spcPts val="1575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1C28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を知る</a:t>
            </a:r>
            <a:endParaRPr lang="en-US" sz="1050" dirty="0"/>
          </a:p>
          <a:p>
            <a:pPr algn="l" marL="88900" indent="-88900">
              <a:lnSpc>
                <a:spcPts val="1575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C28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キャリアの </a:t>
            </a:r>
            <a:pPr algn="l" indent="0" marL="0">
              <a:lnSpc>
                <a:spcPts val="1575"/>
              </a:lnSpc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1C28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ターニングポイント</a:t>
            </a:r>
            <a:pPr algn="l" indent="0" marL="0">
              <a:lnSpc>
                <a:spcPts val="1575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1C28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を追体験する</a:t>
            </a:r>
            <a:endParaRPr lang="en-US" sz="1050" dirty="0"/>
          </a:p>
          <a:p>
            <a:pPr algn="l" marL="88900" indent="-88900">
              <a:lnSpc>
                <a:spcPts val="1575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C28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自社の中に </a:t>
            </a:r>
            <a:pPr algn="l" indent="0" marL="0">
              <a:lnSpc>
                <a:spcPts val="1575"/>
              </a:lnSpc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1C28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まだ見ぬ選択肢</a:t>
            </a:r>
            <a:pPr algn="l" indent="0" marL="0">
              <a:lnSpc>
                <a:spcPts val="1575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1C28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があることに気づく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12688"/>
            <a:ext cx="125800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76F5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04 / SOLUTION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2046089" y="279350"/>
            <a:ext cx="117846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4E5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解決策の全体像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09600" y="666601"/>
            <a:ext cx="8083296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spcBef>
                <a:spcPts val="400"/>
              </a:spcBef>
              <a:spcAft>
                <a:spcPts val="2000"/>
              </a:spcAft>
              <a:buNone/>
            </a:pPr>
            <a:r>
              <a:rPr lang="en-US" sz="2600" b="1" dirty="0">
                <a:solidFill>
                  <a:srgbClr val="E76F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3つの価値</a:t>
            </a:r>
            <a:pPr algn="l" indent="0" marL="0">
              <a:lnSpc>
                <a:spcPts val="3510"/>
              </a:lnSpc>
              <a:spcBef>
                <a:spcPts val="400"/>
              </a:spcBef>
              <a:spcAft>
                <a:spcPts val="2000"/>
              </a:spcAft>
              <a:buNone/>
            </a:pPr>
            <a:r>
              <a:rPr lang="en-US" sz="26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で "発見・継続・組織" をつなぐ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09600" y="1366242"/>
            <a:ext cx="2506117" cy="3406229"/>
          </a:xfrm>
          <a:prstGeom prst="roundRect">
            <a:avLst>
              <a:gd name="adj" fmla="val 60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4343" dir="3360000">
              <a:srgbClr val="1c2833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63501" y="1645593"/>
            <a:ext cx="558701" cy="558701"/>
          </a:xfrm>
          <a:prstGeom prst="roundRect">
            <a:avLst>
              <a:gd name="adj" fmla="val 163665"/>
            </a:avLst>
          </a:prstGeom>
          <a:solidFill>
            <a:srgbClr val="E76F5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074390" y="1767780"/>
            <a:ext cx="13966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63501" y="2381994"/>
            <a:ext cx="203828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E76F5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DISCOVERY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63501" y="2575620"/>
            <a:ext cx="2038282" cy="297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40"/>
              </a:lnSpc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1F4E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発見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63501" y="3025080"/>
            <a:ext cx="1998315" cy="1468041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lnSpc>
                <a:spcPts val="1627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C28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その会社固有の </a:t>
            </a:r>
            <a:pPr algn="l" indent="0" marL="0">
              <a:lnSpc>
                <a:spcPts val="1627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1C28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キャリアパス提案</a:t>
            </a:r>
            <a:endParaRPr lang="en-US" sz="1050" dirty="0"/>
          </a:p>
          <a:p>
            <a:pPr algn="l" marL="88900" indent="-88900">
              <a:lnSpc>
                <a:spcPts val="1627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C28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ロールモデル社員との </a:t>
            </a:r>
            <a:pPr algn="l" indent="0" marL="0">
              <a:lnSpc>
                <a:spcPts val="1627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1C28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"疑似対話"</a:t>
            </a:r>
            <a:pPr algn="l" indent="0" marL="0">
              <a:lnSpc>
                <a:spcPts val="1627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1C28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で視野を広げる</a:t>
            </a:r>
            <a:endParaRPr lang="en-US" sz="1050" dirty="0"/>
          </a:p>
          <a:p>
            <a:pPr algn="l" marL="88900" indent="-88900">
              <a:lnSpc>
                <a:spcPts val="1627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C28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インタビュー記事をRAGで取り込み、その人らしさを再現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318867" y="1366242"/>
            <a:ext cx="2506266" cy="3406229"/>
          </a:xfrm>
          <a:prstGeom prst="roundRect">
            <a:avLst>
              <a:gd name="adj" fmla="val 6081"/>
            </a:avLst>
          </a:prstGeom>
          <a:solidFill>
            <a:srgbClr val="1F4E5F"/>
          </a:solidFill>
          <a:ln/>
          <a:effectLst>
            <a:outerShdw sx="100000" sy="100000" kx="0" ky="0" algn="bl" rotWithShape="0" blurRad="76200" dist="34343" dir="3360000">
              <a:srgbClr val="1c2833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572768" y="1645593"/>
            <a:ext cx="558701" cy="558701"/>
          </a:xfrm>
          <a:prstGeom prst="roundRect">
            <a:avLst>
              <a:gd name="adj" fmla="val 163665"/>
            </a:avLst>
          </a:prstGeom>
          <a:solidFill>
            <a:srgbClr val="F4A26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764607" y="1767780"/>
            <a:ext cx="17852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572768" y="2381994"/>
            <a:ext cx="203843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F4A26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CONTINUITY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572768" y="2575620"/>
            <a:ext cx="2038433" cy="297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40"/>
              </a:lnSpc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継続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572768" y="3025080"/>
            <a:ext cx="1998464" cy="1261467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lnSpc>
                <a:spcPts val="1627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AF7F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プロアクティブな </a:t>
            </a:r>
            <a:pPr algn="l" indent="0" marL="0">
              <a:lnSpc>
                <a:spcPts val="1627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FAF7F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励まし通知</a:t>
            </a:r>
            <a:endParaRPr lang="en-US" sz="1050" dirty="0"/>
          </a:p>
          <a:p>
            <a:pPr algn="l" marL="88900" indent="-88900">
              <a:lnSpc>
                <a:spcPts val="1627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AF7F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関心に合う </a:t>
            </a:r>
            <a:pPr algn="l" indent="0" marL="0">
              <a:lnSpc>
                <a:spcPts val="1627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FAF7F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公募の自動レコメンド</a:t>
            </a:r>
            <a:endParaRPr lang="en-US" sz="1050" dirty="0"/>
          </a:p>
          <a:p>
            <a:pPr algn="l" marL="88900" indent="-88900">
              <a:lnSpc>
                <a:spcPts val="1627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AF7F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新人への </a:t>
            </a:r>
            <a:pPr algn="l" indent="0" marL="0">
              <a:lnSpc>
                <a:spcPts val="1627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FAF7F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定期メンタリング</a:t>
            </a:r>
            <a:pPr algn="l" indent="0" marL="0">
              <a:lnSpc>
                <a:spcPts val="1627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FAF7F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で孤立させない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028283" y="1366242"/>
            <a:ext cx="2506117" cy="3406229"/>
          </a:xfrm>
          <a:prstGeom prst="roundRect">
            <a:avLst>
              <a:gd name="adj" fmla="val 60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4343" dir="3360000">
              <a:srgbClr val="1c2833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282184" y="1645593"/>
            <a:ext cx="558701" cy="558701"/>
          </a:xfrm>
          <a:prstGeom prst="roundRect">
            <a:avLst>
              <a:gd name="adj" fmla="val 163665"/>
            </a:avLst>
          </a:prstGeom>
          <a:solidFill>
            <a:srgbClr val="E76F5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474172" y="1767780"/>
            <a:ext cx="178067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282184" y="2381994"/>
            <a:ext cx="203828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E76F5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ORGANIZATION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282184" y="2575620"/>
            <a:ext cx="2038282" cy="297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40"/>
              </a:lnSpc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1F4E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組織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282184" y="3025080"/>
            <a:ext cx="1998315" cy="1468041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lnSpc>
                <a:spcPts val="1627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C28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会話履歴から </a:t>
            </a:r>
            <a:pPr algn="l" indent="0" marL="0">
              <a:lnSpc>
                <a:spcPts val="1627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1C28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全社員のスキルマップ</a:t>
            </a:r>
            <a:pPr algn="l" indent="0" marL="0">
              <a:lnSpc>
                <a:spcPts val="1627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1C28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を自動蓄積</a:t>
            </a:r>
            <a:endParaRPr lang="en-US" sz="1050" dirty="0"/>
          </a:p>
          <a:p>
            <a:pPr algn="l" marL="88900" indent="-88900">
              <a:lnSpc>
                <a:spcPts val="1627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C28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社員同士を繋ぐ </a:t>
            </a:r>
            <a:pPr algn="l" indent="0" marL="0">
              <a:lnSpc>
                <a:spcPts val="1627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1C28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勉強会・メンタリングマッチング</a:t>
            </a:r>
            <a:endParaRPr lang="en-US" sz="1050" dirty="0"/>
          </a:p>
          <a:p>
            <a:pPr algn="l" marL="88900" indent="-88900">
              <a:lnSpc>
                <a:spcPts val="1627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C28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マネジメントの </a:t>
            </a:r>
            <a:pPr algn="l" indent="0" marL="0">
              <a:lnSpc>
                <a:spcPts val="1627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1C28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人員配置を最適化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12688"/>
            <a:ext cx="139174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76F5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05 / USER FLOW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2177207" y="279350"/>
            <a:ext cx="151516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4E5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ユーザー体験フロー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09600" y="666601"/>
            <a:ext cx="8083296" cy="89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spcBef>
                <a:spcPts val="400"/>
              </a:spcBef>
              <a:spcAft>
                <a:spcPts val="1800"/>
              </a:spcAft>
              <a:buNone/>
            </a:pPr>
            <a:r>
              <a:rPr lang="en-US" sz="26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「今の仕事の延長しか見えない若手」が、 </a:t>
            </a:r>
            <a:pPr algn="l" indent="0" marL="0">
              <a:lnSpc>
                <a:spcPts val="3510"/>
              </a:lnSpc>
              <a:spcBef>
                <a:spcPts val="400"/>
              </a:spcBef>
              <a:spcAft>
                <a:spcPts val="1800"/>
              </a:spcAft>
              <a:buNone/>
            </a:pPr>
            <a:r>
              <a:rPr lang="en-US" sz="2600" b="1" dirty="0">
                <a:solidFill>
                  <a:srgbClr val="E76F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新しい選択肢に出会う</a:t>
            </a:r>
            <a:pPr algn="l" indent="0" marL="0">
              <a:lnSpc>
                <a:spcPts val="3510"/>
              </a:lnSpc>
              <a:spcBef>
                <a:spcPts val="400"/>
              </a:spcBef>
              <a:spcAft>
                <a:spcPts val="1800"/>
              </a:spcAft>
              <a:buNone/>
            </a:pPr>
            <a:r>
              <a:rPr lang="en-US" sz="26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まで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09600" y="1786682"/>
            <a:ext cx="7924800" cy="762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647700" y="1786682"/>
            <a:ext cx="0" cy="762000"/>
          </a:xfrm>
          <a:prstGeom prst="line">
            <a:avLst/>
          </a:prstGeom>
          <a:noFill/>
          <a:ln w="76200">
            <a:solidFill>
              <a:srgbClr val="27788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939082"/>
            <a:ext cx="75392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050" b="1" dirty="0">
                <a:solidFill>
                  <a:srgbClr val="27788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PERSONA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C28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入社3年目・営業部所属。「このまま営業でキャリアを積むしかないのか」と漠然と悩む田中さん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31750" y="2726382"/>
            <a:ext cx="1351508" cy="2163217"/>
          </a:xfrm>
          <a:prstGeom prst="roundRect">
            <a:avLst>
              <a:gd name="adj" fmla="val 93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26941" dir="2700000">
              <a:srgbClr val="1c2833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84150" y="2929533"/>
            <a:ext cx="106764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Aft>
                <a:spcPts val="400"/>
              </a:spcAft>
              <a:buNone/>
            </a:pPr>
            <a:r>
              <a:rPr lang="en-US" sz="2400" b="1" dirty="0">
                <a:solidFill>
                  <a:srgbClr val="E76F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84150" y="3285083"/>
            <a:ext cx="1067642" cy="189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95"/>
              </a:lnSpc>
              <a:spcAft>
                <a:spcPts val="800"/>
              </a:spcAft>
              <a:buNone/>
            </a:pPr>
            <a:r>
              <a:rPr lang="en-US" sz="1150" b="1" dirty="0">
                <a:solidFill>
                  <a:srgbClr val="1F4E5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相談を投げる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84150" y="3576340"/>
            <a:ext cx="1067642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950" dirty="0">
                <a:solidFill>
                  <a:srgbClr val="1C28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「営業以外で自分を活かせる道はあるのか」と素朴な悩みをAIに共有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935510" y="3674566"/>
            <a:ext cx="7772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76F5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›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163961" y="2726382"/>
            <a:ext cx="1351657" cy="2163217"/>
          </a:xfrm>
          <a:prstGeom prst="roundRect">
            <a:avLst>
              <a:gd name="adj" fmla="val 93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26941" dir="2700000">
              <a:srgbClr val="1c2833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2316361" y="2929533"/>
            <a:ext cx="106779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Aft>
                <a:spcPts val="400"/>
              </a:spcAft>
              <a:buNone/>
            </a:pPr>
            <a:r>
              <a:rPr lang="en-US" sz="2400" b="1" dirty="0">
                <a:solidFill>
                  <a:srgbClr val="E76F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2316361" y="3285083"/>
            <a:ext cx="1067794" cy="379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95"/>
              </a:lnSpc>
              <a:spcAft>
                <a:spcPts val="800"/>
              </a:spcAft>
              <a:buNone/>
            </a:pPr>
            <a:r>
              <a:rPr lang="en-US" sz="1150" b="1" dirty="0">
                <a:solidFill>
                  <a:srgbClr val="1F4E5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意外な社員を発見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2316361" y="3766096"/>
            <a:ext cx="1067794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950" dirty="0">
                <a:solidFill>
                  <a:srgbClr val="1C28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営業経験を経てプロダクト企画に転じたA氏、UXリサーチャーのB氏を推薦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667869" y="3674566"/>
            <a:ext cx="7772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76F5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›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896320" y="2726382"/>
            <a:ext cx="1351508" cy="2163217"/>
          </a:xfrm>
          <a:prstGeom prst="roundRect">
            <a:avLst>
              <a:gd name="adj" fmla="val 93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26941" dir="2700000">
              <a:srgbClr val="1c2833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048720" y="2929533"/>
            <a:ext cx="106764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Aft>
                <a:spcPts val="400"/>
              </a:spcAft>
              <a:buNone/>
            </a:pPr>
            <a:r>
              <a:rPr lang="en-US" sz="2400" b="1" dirty="0">
                <a:solidFill>
                  <a:srgbClr val="E76F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4048720" y="3285083"/>
            <a:ext cx="1067642" cy="379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95"/>
              </a:lnSpc>
              <a:spcAft>
                <a:spcPts val="800"/>
              </a:spcAft>
              <a:buNone/>
            </a:pPr>
            <a:r>
              <a:rPr lang="en-US" sz="1150" b="1" dirty="0">
                <a:solidFill>
                  <a:srgbClr val="1F4E5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疑似対話で掘り下げる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048720" y="3766096"/>
            <a:ext cx="1067642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950" dirty="0">
                <a:solidFill>
                  <a:srgbClr val="1C28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インタビュー記事ベースで、その人の考え方・勉強法・転機を対話で追体験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400080" y="3674566"/>
            <a:ext cx="7772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76F5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›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628531" y="2726382"/>
            <a:ext cx="1351508" cy="2163217"/>
          </a:xfrm>
          <a:prstGeom prst="roundRect">
            <a:avLst>
              <a:gd name="adj" fmla="val 93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26941" dir="2700000">
              <a:srgbClr val="1c2833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5780931" y="2929533"/>
            <a:ext cx="106764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Aft>
                <a:spcPts val="400"/>
              </a:spcAft>
              <a:buNone/>
            </a:pPr>
            <a:r>
              <a:rPr lang="en-US" sz="2400" b="1" dirty="0">
                <a:solidFill>
                  <a:srgbClr val="E76F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5780931" y="3285083"/>
            <a:ext cx="1067642" cy="189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95"/>
              </a:lnSpc>
              <a:spcAft>
                <a:spcPts val="800"/>
              </a:spcAft>
              <a:buNone/>
            </a:pPr>
            <a:r>
              <a:rPr lang="en-US" sz="1150" b="1" dirty="0">
                <a:solidFill>
                  <a:srgbClr val="1F4E5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選択肢が見える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780931" y="3576340"/>
            <a:ext cx="1067642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950" dirty="0">
                <a:solidFill>
                  <a:srgbClr val="1C28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スキルマップと照合し、次に伸ばすべき力と社内公募を具体的に提示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7132290" y="3674566"/>
            <a:ext cx="7772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76F5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›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7360741" y="2726382"/>
            <a:ext cx="1351508" cy="2163217"/>
          </a:xfrm>
          <a:prstGeom prst="roundRect">
            <a:avLst>
              <a:gd name="adj" fmla="val 9397"/>
            </a:avLst>
          </a:prstGeom>
          <a:solidFill>
            <a:srgbClr val="1F4E5F"/>
          </a:solidFill>
          <a:ln/>
          <a:effectLst>
            <a:outerShdw sx="100000" sy="100000" kx="0" ky="0" algn="bl" rotWithShape="0" blurRad="57150" dist="26941" dir="2700000">
              <a:srgbClr val="1c2833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7513141" y="2929533"/>
            <a:ext cx="106764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Aft>
                <a:spcPts val="400"/>
              </a:spcAft>
              <a:buNone/>
            </a:pPr>
            <a:r>
              <a:rPr lang="en-US" sz="2400" b="1" dirty="0">
                <a:solidFill>
                  <a:srgbClr val="F4A2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7513141" y="3285083"/>
            <a:ext cx="1067642" cy="189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95"/>
              </a:lnSpc>
              <a:spcAft>
                <a:spcPts val="800"/>
              </a:spcAft>
              <a:buNone/>
            </a:pPr>
            <a:r>
              <a:rPr lang="en-US" sz="115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日々の伴走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7513141" y="3576340"/>
            <a:ext cx="1067642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950" dirty="0">
                <a:solidFill>
                  <a:srgbClr val="FAF7F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AIが定期的に励まし・公募通知・1on1前の棚卸しを提案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36488"/>
            <a:ext cx="19262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76F5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06 / DIFFERENTIATION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2701230" y="203150"/>
            <a:ext cx="50505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4E5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独自性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09600" y="488752"/>
            <a:ext cx="8083296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60"/>
              </a:lnSpc>
              <a:spcBef>
                <a:spcPts val="200"/>
              </a:spcBef>
              <a:spcAft>
                <a:spcPts val="1200"/>
              </a:spcAft>
              <a:buNone/>
            </a:pPr>
            <a:r>
              <a:rPr lang="en-US" sz="22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なぜ "</a:t>
            </a:r>
            <a:pPr algn="l" indent="0" marL="0">
              <a:lnSpc>
                <a:spcPts val="2860"/>
              </a:lnSpc>
              <a:spcBef>
                <a:spcPts val="200"/>
              </a:spcBef>
              <a:spcAft>
                <a:spcPts val="1200"/>
              </a:spcAft>
              <a:buNone/>
            </a:pPr>
            <a:r>
              <a:rPr lang="en-US" sz="2200" b="1" dirty="0">
                <a:solidFill>
                  <a:srgbClr val="E76F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その会社ならでは</a:t>
            </a:r>
            <a:pPr algn="l" indent="0" marL="0">
              <a:lnSpc>
                <a:spcPts val="2860"/>
              </a:lnSpc>
              <a:spcBef>
                <a:spcPts val="200"/>
              </a:spcBef>
              <a:spcAft>
                <a:spcPts val="1200"/>
              </a:spcAft>
              <a:buNone/>
            </a:pPr>
            <a:r>
              <a:rPr lang="en-US" sz="22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 のアドバイスが可能なのか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09600" y="1004292"/>
            <a:ext cx="297931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5D6D7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COMPANY-NATIVE DATA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09600" y="1273969"/>
            <a:ext cx="2920901" cy="596503"/>
          </a:xfrm>
          <a:prstGeom prst="roundRect">
            <a:avLst>
              <a:gd name="adj" fmla="val 1277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638175" y="1273969"/>
            <a:ext cx="0" cy="596503"/>
          </a:xfrm>
          <a:prstGeom prst="line">
            <a:avLst/>
          </a:prstGeom>
          <a:noFill/>
          <a:ln w="57150">
            <a:solidFill>
              <a:srgbClr val="27788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9150" y="1388269"/>
            <a:ext cx="2610130" cy="183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000" b="1" dirty="0">
                <a:solidFill>
                  <a:srgbClr val="1C28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社内インタビュー記事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19150" y="1572220"/>
            <a:ext cx="2610130" cy="183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000" dirty="0">
                <a:solidFill>
                  <a:srgbClr val="1C28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考え方・ターニングポイント・学習の歩み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09600" y="1971973"/>
            <a:ext cx="2920901" cy="596503"/>
          </a:xfrm>
          <a:prstGeom prst="roundRect">
            <a:avLst>
              <a:gd name="adj" fmla="val 1277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638175" y="1971973"/>
            <a:ext cx="0" cy="596503"/>
          </a:xfrm>
          <a:prstGeom prst="line">
            <a:avLst/>
          </a:prstGeom>
          <a:noFill/>
          <a:ln w="57150">
            <a:solidFill>
              <a:srgbClr val="27788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9150" y="2086273"/>
            <a:ext cx="2610130" cy="183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000" b="1" dirty="0">
                <a:solidFill>
                  <a:srgbClr val="1C28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スキルマップデータ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19150" y="2270224"/>
            <a:ext cx="2610130" cy="183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000" dirty="0">
                <a:solidFill>
                  <a:srgbClr val="1C28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全社員の保有スキル・経験職種・社内資格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09600" y="2669977"/>
            <a:ext cx="2920901" cy="596503"/>
          </a:xfrm>
          <a:prstGeom prst="roundRect">
            <a:avLst>
              <a:gd name="adj" fmla="val 1277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638175" y="2669977"/>
            <a:ext cx="0" cy="596503"/>
          </a:xfrm>
          <a:prstGeom prst="line">
            <a:avLst/>
          </a:prstGeom>
          <a:noFill/>
          <a:ln w="57150">
            <a:solidFill>
              <a:srgbClr val="27788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9150" y="2784277"/>
            <a:ext cx="2610130" cy="183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000" b="1" dirty="0">
                <a:solidFill>
                  <a:srgbClr val="1C28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社内公募・人事情報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19150" y="2968228"/>
            <a:ext cx="2610130" cy="183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000" dirty="0">
                <a:solidFill>
                  <a:srgbClr val="1C28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過去の異動パターン・公募トレンド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928467" y="2653159"/>
            <a:ext cx="120837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76F5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›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3808512" y="3123009"/>
            <a:ext cx="36554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000" b="1" dirty="0">
                <a:solidFill>
                  <a:srgbClr val="E76F5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RAG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444901" y="1004292"/>
            <a:ext cx="4089499" cy="3910608"/>
          </a:xfrm>
          <a:prstGeom prst="roundRect">
            <a:avLst>
              <a:gd name="adj" fmla="val 3897"/>
            </a:avLst>
          </a:prstGeom>
          <a:solidFill>
            <a:srgbClr val="1F4E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724251" y="1750814"/>
            <a:ext cx="360141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F4A26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OUR UNIQUE MOAT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724251" y="1969889"/>
            <a:ext cx="3601414" cy="5280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汎用キャリアAIには再現できない、自社文脈のアドバイス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724251" y="2624882"/>
            <a:ext cx="3601414" cy="619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7"/>
              </a:lnSpc>
              <a:spcAft>
                <a:spcPts val="800"/>
              </a:spcAft>
              <a:buNone/>
            </a:pPr>
            <a:r>
              <a:rPr lang="en-US" sz="1050" dirty="0">
                <a:solidFill>
                  <a:srgbClr val="FAF7F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「同じ悩みを抱えていた5年先輩のB部長は、こう動いた」まで語れる。社内ドキュメントがRAGの燃料となり、企業ごとに育つ"自社専用エージェント"に。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724251" y="3422303"/>
            <a:ext cx="3530798" cy="745927"/>
          </a:xfrm>
          <a:prstGeom prst="roundRect">
            <a:avLst>
              <a:gd name="adj" fmla="val 10215"/>
            </a:avLst>
          </a:prstGeom>
          <a:solidFill>
            <a:srgbClr val="FFFFFF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876651" y="3523804"/>
            <a:ext cx="329051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950" b="1" dirty="0">
                <a:solidFill>
                  <a:srgbClr val="F4A26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汎用AI：</a:t>
            </a:r>
            <a:pPr algn="l" indent="0" marL="0">
              <a:lnSpc>
                <a:spcPts val="1425"/>
              </a:lnSpc>
              <a:buNone/>
            </a:pPr>
            <a:r>
              <a:rPr lang="en-US" sz="950" dirty="0">
                <a:solidFill>
                  <a:srgbClr val="FAF7F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「一般的には、まず関連部署で経験を…」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876651" y="3704779"/>
            <a:ext cx="3290518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950" b="1" dirty="0">
                <a:solidFill>
                  <a:srgbClr val="F4A26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Inner Compass：</a:t>
            </a:r>
            <a:pPr algn="l" indent="0" marL="0">
              <a:lnSpc>
                <a:spcPts val="1425"/>
              </a:lnSpc>
              <a:buNone/>
            </a:pPr>
            <a:r>
              <a:rPr lang="en-US" sz="950" dirty="0">
                <a:solidFill>
                  <a:srgbClr val="FAF7F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「営業出身のC氏が、〇〇で転機を掴みました」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12688"/>
            <a:ext cx="170947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76F5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07 / ARCHITECTURE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2488704" y="279350"/>
            <a:ext cx="150939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4E5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アーキテクチャ概要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09600" y="666601"/>
            <a:ext cx="8083296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spcBef>
                <a:spcPts val="400"/>
              </a:spcBef>
              <a:spcAft>
                <a:spcPts val="1400"/>
              </a:spcAft>
              <a:buNone/>
            </a:pPr>
            <a:r>
              <a:rPr lang="en-US" sz="26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Google Cloud 上で組み上げる </a:t>
            </a:r>
            <a:pPr algn="l" indent="0" marL="0">
              <a:lnSpc>
                <a:spcPts val="3510"/>
              </a:lnSpc>
              <a:spcBef>
                <a:spcPts val="400"/>
              </a:spcBef>
              <a:spcAft>
                <a:spcPts val="1400"/>
              </a:spcAft>
              <a:buNone/>
            </a:pPr>
            <a:r>
              <a:rPr lang="en-US" sz="2600" b="1" dirty="0">
                <a:solidFill>
                  <a:srgbClr val="E76F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4層構成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09600" y="1290042"/>
            <a:ext cx="8083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1600"/>
              </a:spcAft>
              <a:buNone/>
            </a:pPr>
            <a:r>
              <a:rPr lang="en-US" sz="1200" dirty="0">
                <a:solidFill>
                  <a:srgbClr val="5D6D7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既存のエンタープライズ基盤にそのまま接続できる、現実的で最短距離の構成。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09600" y="1721793"/>
            <a:ext cx="7924800" cy="568226"/>
          </a:xfrm>
          <a:prstGeom prst="roundRect">
            <a:avLst>
              <a:gd name="adj" fmla="val 223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26941" dir="2700000">
              <a:srgbClr val="1c2833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38200" y="1901130"/>
            <a:ext cx="168396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76F5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① USER INTERFACE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489150" y="1874193"/>
            <a:ext cx="1401366" cy="263426"/>
          </a:xfrm>
          <a:prstGeom prst="roundRect">
            <a:avLst>
              <a:gd name="adj" fmla="val 67495"/>
            </a:avLst>
          </a:prstGeom>
          <a:solidFill>
            <a:srgbClr val="EAF1F3"/>
          </a:solidFill>
          <a:ln w="9525">
            <a:solidFill>
              <a:srgbClr val="27788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2651075" y="1934468"/>
            <a:ext cx="109906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4E5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Slack / Teams Bot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017466" y="1874193"/>
            <a:ext cx="1443335" cy="263426"/>
          </a:xfrm>
          <a:prstGeom prst="roundRect">
            <a:avLst>
              <a:gd name="adj" fmla="val 67495"/>
            </a:avLst>
          </a:prstGeom>
          <a:solidFill>
            <a:srgbClr val="EAF1F3"/>
          </a:solidFill>
          <a:ln w="9525">
            <a:solidFill>
              <a:srgbClr val="27788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179391" y="1934468"/>
            <a:ext cx="11418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4E5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Web Chat (Next.js)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587752" y="1874193"/>
            <a:ext cx="1071711" cy="263426"/>
          </a:xfrm>
          <a:prstGeom prst="roundRect">
            <a:avLst>
              <a:gd name="adj" fmla="val 67495"/>
            </a:avLst>
          </a:prstGeom>
          <a:solidFill>
            <a:srgbClr val="EAF1F3"/>
          </a:solidFill>
          <a:ln w="9525">
            <a:solidFill>
              <a:srgbClr val="27788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749677" y="1934468"/>
            <a:ext cx="76281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4E5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Mobile Push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09600" y="2391519"/>
            <a:ext cx="7924800" cy="711101"/>
          </a:xfrm>
          <a:prstGeom prst="roundRect">
            <a:avLst>
              <a:gd name="adj" fmla="val 17860"/>
            </a:avLst>
          </a:prstGeom>
          <a:solidFill>
            <a:srgbClr val="1F4E5F"/>
          </a:solidFill>
          <a:ln/>
          <a:effectLst>
            <a:outerShdw sx="100000" sy="100000" kx="0" ky="0" algn="bl" rotWithShape="0" blurRad="57150" dist="26941" dir="2700000">
              <a:srgbClr val="1c2833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838200" y="2642295"/>
            <a:ext cx="168396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4A26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② AGENT LAYER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489150" y="2543919"/>
            <a:ext cx="1123206" cy="406301"/>
          </a:xfrm>
          <a:prstGeom prst="roundRect">
            <a:avLst>
              <a:gd name="adj" fmla="val 43761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4A26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2651075" y="2604195"/>
            <a:ext cx="81534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Gemini 2.5 Pro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739307" y="2543919"/>
            <a:ext cx="1584424" cy="406301"/>
          </a:xfrm>
          <a:prstGeom prst="roundRect">
            <a:avLst>
              <a:gd name="adj" fmla="val 43761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4A26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3901232" y="2604195"/>
            <a:ext cx="128578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Vertex AI Agent Builder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50681" y="2543919"/>
            <a:ext cx="1306711" cy="406301"/>
          </a:xfrm>
          <a:prstGeom prst="roundRect">
            <a:avLst>
              <a:gd name="adj" fmla="val 43761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4A26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5612606" y="2604195"/>
            <a:ext cx="100251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ADK (Multi-Agent)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884343" y="2543919"/>
            <a:ext cx="1421457" cy="406301"/>
          </a:xfrm>
          <a:prstGeom prst="roundRect">
            <a:avLst>
              <a:gd name="adj" fmla="val 43761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4A26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7046268" y="2604195"/>
            <a:ext cx="111956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Proactive Scheduler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09600" y="3204121"/>
            <a:ext cx="7924800" cy="711101"/>
          </a:xfrm>
          <a:prstGeom prst="roundRect">
            <a:avLst>
              <a:gd name="adj" fmla="val 1786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26941" dir="2700000">
              <a:srgbClr val="1c2833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838200" y="3378696"/>
            <a:ext cx="1683969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76F5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③ KNOWLEDGE / RAG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489150" y="3356521"/>
            <a:ext cx="1245245" cy="406301"/>
          </a:xfrm>
          <a:prstGeom prst="roundRect">
            <a:avLst>
              <a:gd name="adj" fmla="val 43761"/>
            </a:avLst>
          </a:prstGeom>
          <a:solidFill>
            <a:srgbClr val="EAF1F3"/>
          </a:solidFill>
          <a:ln w="9525">
            <a:solidFill>
              <a:srgbClr val="27788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2651075" y="3416796"/>
            <a:ext cx="93982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4E5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Vertex AI Search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861346" y="3356521"/>
            <a:ext cx="1106091" cy="406301"/>
          </a:xfrm>
          <a:prstGeom prst="roundRect">
            <a:avLst>
              <a:gd name="adj" fmla="val 43761"/>
            </a:avLst>
          </a:prstGeom>
          <a:solidFill>
            <a:srgbClr val="EAF1F3"/>
          </a:solidFill>
          <a:ln w="9525">
            <a:solidFill>
              <a:srgbClr val="27788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023271" y="3416796"/>
            <a:ext cx="79788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4E5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Vector Search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094387" y="3356521"/>
            <a:ext cx="1522661" cy="406301"/>
          </a:xfrm>
          <a:prstGeom prst="roundRect">
            <a:avLst>
              <a:gd name="adj" fmla="val 43761"/>
            </a:avLst>
          </a:prstGeom>
          <a:solidFill>
            <a:srgbClr val="EAF1F3"/>
          </a:solidFill>
          <a:ln w="9525">
            <a:solidFill>
              <a:srgbClr val="27788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5256312" y="3416796"/>
            <a:ext cx="1222787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4E5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Cloud Storage (Docs)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743998" y="3356521"/>
            <a:ext cx="1561802" cy="406301"/>
          </a:xfrm>
          <a:prstGeom prst="roundRect">
            <a:avLst>
              <a:gd name="adj" fmla="val 43761"/>
            </a:avLst>
          </a:prstGeom>
          <a:solidFill>
            <a:srgbClr val="EAF1F3"/>
          </a:solidFill>
          <a:ln w="9525">
            <a:solidFill>
              <a:srgbClr val="27788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6905923" y="3416796"/>
            <a:ext cx="126271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4E5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Persona Prompt Store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09600" y="4016722"/>
            <a:ext cx="7924800" cy="768251"/>
          </a:xfrm>
          <a:prstGeom prst="roundRect">
            <a:avLst>
              <a:gd name="adj" fmla="val 1653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26941" dir="2700000">
              <a:srgbClr val="1c2833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838200" y="4219873"/>
            <a:ext cx="1683969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76F5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④ DATA / INTEGRATION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2489150" y="4169122"/>
            <a:ext cx="1470868" cy="463451"/>
          </a:xfrm>
          <a:prstGeom prst="roundRect">
            <a:avLst>
              <a:gd name="adj" fmla="val 38364"/>
            </a:avLst>
          </a:prstGeom>
          <a:solidFill>
            <a:srgbClr val="EAF1F3"/>
          </a:solidFill>
          <a:ln w="9525">
            <a:solidFill>
              <a:srgbClr val="27788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2651075" y="4229398"/>
            <a:ext cx="116995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4E5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BigQuery (Skill Map)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086969" y="4169122"/>
            <a:ext cx="1329779" cy="463451"/>
          </a:xfrm>
          <a:prstGeom prst="roundRect">
            <a:avLst>
              <a:gd name="adj" fmla="val 38364"/>
            </a:avLst>
          </a:prstGeom>
          <a:solidFill>
            <a:srgbClr val="EAF1F3"/>
          </a:solidFill>
          <a:ln w="9525">
            <a:solidFill>
              <a:srgbClr val="27788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4248894" y="4229398"/>
            <a:ext cx="102604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4E5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HRIS / 公募DB API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543699" y="4169122"/>
            <a:ext cx="1555254" cy="463451"/>
          </a:xfrm>
          <a:prstGeom prst="roundRect">
            <a:avLst>
              <a:gd name="adj" fmla="val 38364"/>
            </a:avLst>
          </a:prstGeom>
          <a:solidFill>
            <a:srgbClr val="EAF1F3"/>
          </a:solidFill>
          <a:ln w="9525">
            <a:solidFill>
              <a:srgbClr val="27788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5705624" y="4229398"/>
            <a:ext cx="125603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4E5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Cloud Run Jobs (ETL)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7225903" y="4169122"/>
            <a:ext cx="1079897" cy="463451"/>
          </a:xfrm>
          <a:prstGeom prst="roundRect">
            <a:avLst>
              <a:gd name="adj" fmla="val 38364"/>
            </a:avLst>
          </a:prstGeom>
          <a:solidFill>
            <a:srgbClr val="EAF1F3"/>
          </a:solidFill>
          <a:ln w="9525">
            <a:solidFill>
              <a:srgbClr val="27788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7387828" y="4229398"/>
            <a:ext cx="77116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4E5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IAM / VPC-SC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36488"/>
            <a:ext cx="123204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76F5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08 / ROADMAP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2020639" y="203150"/>
            <a:ext cx="134681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4E5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導入ロードマップ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09600" y="488752"/>
            <a:ext cx="8083296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60"/>
              </a:lnSpc>
              <a:spcBef>
                <a:spcPts val="200"/>
              </a:spcBef>
              <a:spcAft>
                <a:spcPts val="1200"/>
              </a:spcAft>
              <a:buNone/>
            </a:pPr>
            <a:r>
              <a:rPr lang="en-US" sz="2200" b="1" dirty="0">
                <a:solidFill>
                  <a:srgbClr val="E76F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3フェーズ</a:t>
            </a:r>
            <a:pPr algn="l" indent="0" marL="0">
              <a:lnSpc>
                <a:spcPts val="2860"/>
              </a:lnSpc>
              <a:spcBef>
                <a:spcPts val="200"/>
              </a:spcBef>
              <a:spcAft>
                <a:spcPts val="1200"/>
              </a:spcAft>
              <a:buNone/>
            </a:pPr>
            <a:r>
              <a:rPr lang="en-US" sz="22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で、個人 → 習慣 → 組織データへ拡張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09600" y="1004292"/>
            <a:ext cx="2539901" cy="39106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4343" dir="3360000">
              <a:srgbClr val="1c2833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12750" y="1181993"/>
            <a:ext cx="1041350" cy="209550"/>
          </a:xfrm>
          <a:prstGeom prst="roundRect">
            <a:avLst>
              <a:gd name="adj" fmla="val 60606"/>
            </a:avLst>
          </a:prstGeom>
          <a:solidFill>
            <a:srgbClr val="EAF1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39701" y="1220093"/>
            <a:ext cx="80319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7788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MONTH 1-3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12750" y="1543943"/>
            <a:ext cx="217627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E76F5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PHASE 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12750" y="1721644"/>
            <a:ext cx="2176272" cy="2539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F4E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MVP：キャリア相談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12750" y="2077045"/>
            <a:ext cx="2176272" cy="193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3"/>
              </a:lnSpc>
              <a:spcAft>
                <a:spcPts val="800"/>
              </a:spcAft>
              <a:buNone/>
            </a:pPr>
            <a:r>
              <a:rPr lang="en-US" sz="1050" b="1" dirty="0">
                <a:solidFill>
                  <a:srgbClr val="1C28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まず "発見" の価値を一点突破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12750" y="2371874"/>
            <a:ext cx="2133600" cy="851892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lnSpc>
                <a:spcPts val="1378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C28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社内インタビュー記事をRAGに投入</a:t>
            </a:r>
            <a:endParaRPr lang="en-US" sz="950" dirty="0"/>
          </a:p>
          <a:p>
            <a:pPr algn="l" marL="88900" indent="-88900">
              <a:lnSpc>
                <a:spcPts val="1378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C28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ロールモデル社員との疑似対話</a:t>
            </a:r>
            <a:endParaRPr lang="en-US" sz="950" dirty="0"/>
          </a:p>
          <a:p>
            <a:pPr algn="l" marL="88900" indent="-88900">
              <a:lnSpc>
                <a:spcPts val="1378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C28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自社ならではのキャリアパス提案</a:t>
            </a:r>
            <a:endParaRPr lang="en-US" sz="950" dirty="0"/>
          </a:p>
          <a:p>
            <a:pPr algn="l" marL="88900" indent="-88900">
              <a:lnSpc>
                <a:spcPts val="1378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C28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1部署でパイロット導入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812750" y="3325267"/>
            <a:ext cx="2133600" cy="472380"/>
          </a:xfrm>
          <a:prstGeom prst="roundRect">
            <a:avLst>
              <a:gd name="adj" fmla="val 10754"/>
            </a:avLst>
          </a:prstGeom>
          <a:solidFill>
            <a:srgbClr val="FAF7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836563" y="3325267"/>
            <a:ext cx="0" cy="472380"/>
          </a:xfrm>
          <a:prstGeom prst="line">
            <a:avLst/>
          </a:prstGeom>
          <a:noFill/>
          <a:ln w="47625">
            <a:solidFill>
              <a:srgbClr val="E76F5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87326" y="3401467"/>
            <a:ext cx="1868716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E76F5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KPI：</a:t>
            </a:r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1F4E5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週次利用率・視野拡張の体感率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301901" y="1004292"/>
            <a:ext cx="2540050" cy="39106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4343" dir="3360000">
              <a:srgbClr val="1c2833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3505051" y="1181993"/>
            <a:ext cx="1041350" cy="209550"/>
          </a:xfrm>
          <a:prstGeom prst="roundRect">
            <a:avLst>
              <a:gd name="adj" fmla="val 60606"/>
            </a:avLst>
          </a:prstGeom>
          <a:solidFill>
            <a:srgbClr val="EAF1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632002" y="1220093"/>
            <a:ext cx="80319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7788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MONTH 4-8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505051" y="1543943"/>
            <a:ext cx="217642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E76F5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PHASE 02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505051" y="1721644"/>
            <a:ext cx="2176424" cy="2539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F4E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プロアクティブ機能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505051" y="2077045"/>
            <a:ext cx="2176424" cy="193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3"/>
              </a:lnSpc>
              <a:spcAft>
                <a:spcPts val="800"/>
              </a:spcAft>
              <a:buNone/>
            </a:pPr>
            <a:r>
              <a:rPr lang="en-US" sz="1050" b="1" dirty="0">
                <a:solidFill>
                  <a:srgbClr val="1C28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"継続" で孤立を生まない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505051" y="2371874"/>
            <a:ext cx="2133749" cy="851892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lnSpc>
                <a:spcPts val="1378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C28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AIから自発的な励まし通知</a:t>
            </a:r>
            <a:endParaRPr lang="en-US" sz="950" dirty="0"/>
          </a:p>
          <a:p>
            <a:pPr algn="l" marL="88900" indent="-88900">
              <a:lnSpc>
                <a:spcPts val="1378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C28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公募更新のリアルタイム通知</a:t>
            </a:r>
            <a:endParaRPr lang="en-US" sz="950" dirty="0"/>
          </a:p>
          <a:p>
            <a:pPr algn="l" marL="88900" indent="-88900">
              <a:lnSpc>
                <a:spcPts val="1378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C28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新人向け定期メンタリング</a:t>
            </a:r>
            <a:endParaRPr lang="en-US" sz="950" dirty="0"/>
          </a:p>
          <a:p>
            <a:pPr algn="l" marL="88900" indent="-88900">
              <a:lnSpc>
                <a:spcPts val="1378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C28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1on1前の棚卸しサマリ生成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505051" y="3325267"/>
            <a:ext cx="2133749" cy="472380"/>
          </a:xfrm>
          <a:prstGeom prst="roundRect">
            <a:avLst>
              <a:gd name="adj" fmla="val 10754"/>
            </a:avLst>
          </a:prstGeom>
          <a:solidFill>
            <a:srgbClr val="FAF7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3528864" y="3325267"/>
            <a:ext cx="0" cy="472380"/>
          </a:xfrm>
          <a:prstGeom prst="line">
            <a:avLst/>
          </a:prstGeom>
          <a:noFill/>
          <a:ln w="47625">
            <a:solidFill>
              <a:srgbClr val="E76F5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79627" y="3401467"/>
            <a:ext cx="1868868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E76F5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KPI：</a:t>
            </a:r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1F4E5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エンゲージメント・公募応募数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994350" y="1004292"/>
            <a:ext cx="2540050" cy="39106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4343" dir="3360000">
              <a:srgbClr val="1c2833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6197501" y="1181993"/>
            <a:ext cx="1123950" cy="209550"/>
          </a:xfrm>
          <a:prstGeom prst="roundRect">
            <a:avLst>
              <a:gd name="adj" fmla="val 60606"/>
            </a:avLst>
          </a:prstGeom>
          <a:solidFill>
            <a:srgbClr val="EAF1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6324451" y="1220093"/>
            <a:ext cx="8874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7788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MONTH 9-12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197501" y="1543943"/>
            <a:ext cx="217642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E76F5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PHASE 03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197501" y="1721644"/>
            <a:ext cx="2176424" cy="2539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F4E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組織データ活用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197501" y="2077045"/>
            <a:ext cx="2176424" cy="193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3"/>
              </a:lnSpc>
              <a:spcAft>
                <a:spcPts val="800"/>
              </a:spcAft>
              <a:buNone/>
            </a:pPr>
            <a:r>
              <a:rPr lang="en-US" sz="1050" b="1" dirty="0">
                <a:solidFill>
                  <a:srgbClr val="1C28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"組織" として経営レバーへ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197501" y="2371874"/>
            <a:ext cx="2133749" cy="851892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lnSpc>
                <a:spcPts val="1378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C28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全社スキルマップの自動蓄積</a:t>
            </a:r>
            <a:endParaRPr lang="en-US" sz="950" dirty="0"/>
          </a:p>
          <a:p>
            <a:pPr algn="l" marL="88900" indent="-88900">
              <a:lnSpc>
                <a:spcPts val="1378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C28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社員同士のマッチング推薦</a:t>
            </a:r>
            <a:endParaRPr lang="en-US" sz="950" dirty="0"/>
          </a:p>
          <a:p>
            <a:pPr algn="l" marL="88900" indent="-88900">
              <a:lnSpc>
                <a:spcPts val="1378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C28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プロジェクト人員配置の最適化</a:t>
            </a:r>
            <a:endParaRPr lang="en-US" sz="950" dirty="0"/>
          </a:p>
          <a:p>
            <a:pPr algn="l" marL="88900" indent="-88900">
              <a:lnSpc>
                <a:spcPts val="1378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C28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人事・経営ダッシュボード連携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197501" y="3325267"/>
            <a:ext cx="2133749" cy="472380"/>
          </a:xfrm>
          <a:prstGeom prst="roundRect">
            <a:avLst>
              <a:gd name="adj" fmla="val 10754"/>
            </a:avLst>
          </a:prstGeom>
          <a:solidFill>
            <a:srgbClr val="FAF7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Shape 31"/>
          <p:cNvSpPr/>
          <p:nvPr/>
        </p:nvSpPr>
        <p:spPr>
          <a:xfrm>
            <a:off x="6221313" y="3325267"/>
            <a:ext cx="0" cy="472380"/>
          </a:xfrm>
          <a:prstGeom prst="line">
            <a:avLst/>
          </a:prstGeom>
          <a:noFill/>
          <a:ln w="47625">
            <a:solidFill>
              <a:srgbClr val="E76F5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72076" y="3401467"/>
            <a:ext cx="1868868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E76F5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KPI：</a:t>
            </a:r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1F4E5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離職率低下・配置リードタイム短縮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12688"/>
            <a:ext cx="102392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76F5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09 / IMPACT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816596" y="279350"/>
            <a:ext cx="117846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4E5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期待される効果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09600" y="666601"/>
            <a:ext cx="8083296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spcBef>
                <a:spcPts val="400"/>
              </a:spcBef>
              <a:spcAft>
                <a:spcPts val="2000"/>
              </a:spcAft>
              <a:buNone/>
            </a:pPr>
            <a:r>
              <a:rPr lang="en-US" sz="26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個人のやる気・組織のコストに </a:t>
            </a:r>
            <a:pPr algn="l" indent="0" marL="0">
              <a:lnSpc>
                <a:spcPts val="3510"/>
              </a:lnSpc>
              <a:spcBef>
                <a:spcPts val="400"/>
              </a:spcBef>
              <a:spcAft>
                <a:spcPts val="2000"/>
              </a:spcAft>
              <a:buNone/>
            </a:pPr>
            <a:r>
              <a:rPr lang="en-US" sz="2600" b="1" dirty="0">
                <a:solidFill>
                  <a:srgbClr val="E76F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定量的に</a:t>
            </a:r>
            <a:pPr algn="l" indent="0" marL="0">
              <a:lnSpc>
                <a:spcPts val="3510"/>
              </a:lnSpc>
              <a:spcBef>
                <a:spcPts val="400"/>
              </a:spcBef>
              <a:spcAft>
                <a:spcPts val="2000"/>
              </a:spcAft>
              <a:buNone/>
            </a:pPr>
            <a:r>
              <a:rPr lang="en-US" sz="26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効く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09600" y="1366242"/>
            <a:ext cx="2523083" cy="2335411"/>
          </a:xfrm>
          <a:prstGeom prst="roundRect">
            <a:avLst>
              <a:gd name="adj" fmla="val 65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4343" dir="3360000">
              <a:srgbClr val="1c2833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63501" y="1620143"/>
            <a:ext cx="205558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000" b="1" dirty="0">
                <a:solidFill>
                  <a:srgbClr val="27788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TURNOVER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63501" y="1864519"/>
            <a:ext cx="2055587" cy="558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4400" dirty="0">
                <a:solidFill>
                  <a:srgbClr val="E76F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-30</a:t>
            </a:r>
            <a:pPr algn="l" indent="0" marL="0">
              <a:lnSpc>
                <a:spcPts val="4400"/>
              </a:lnSpc>
              <a:buNone/>
            </a:pPr>
            <a:r>
              <a:rPr lang="en-US" sz="1800" b="1" dirty="0">
                <a:solidFill>
                  <a:srgbClr val="E76F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%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863501" y="2550319"/>
            <a:ext cx="2055587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1000"/>
              </a:spcBef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4E5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離職率の低下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3501" y="2857500"/>
            <a:ext cx="2055587" cy="5902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000" dirty="0">
                <a:solidFill>
                  <a:srgbClr val="1C28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「社内に選択肢がある」と気づけることで、3年以内離職者のうち3割を社内異動に転換。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310384" y="1366242"/>
            <a:ext cx="2523232" cy="2335411"/>
          </a:xfrm>
          <a:prstGeom prst="roundRect">
            <a:avLst>
              <a:gd name="adj" fmla="val 65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4343" dir="3360000">
              <a:srgbClr val="1c2833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564285" y="1620143"/>
            <a:ext cx="205573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000" b="1" dirty="0">
                <a:solidFill>
                  <a:srgbClr val="27788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ENGAGEMENT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564285" y="1864519"/>
            <a:ext cx="2055739" cy="558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4400" dirty="0">
                <a:solidFill>
                  <a:srgbClr val="E76F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+15</a:t>
            </a:r>
            <a:pPr algn="l" indent="0" marL="0">
              <a:lnSpc>
                <a:spcPts val="4400"/>
              </a:lnSpc>
              <a:buNone/>
            </a:pPr>
            <a:r>
              <a:rPr lang="en-US" sz="1800" b="1" dirty="0">
                <a:solidFill>
                  <a:srgbClr val="E76F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pt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3564285" y="2550319"/>
            <a:ext cx="205573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1000"/>
              </a:spcBef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4E5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エンゲージメント向上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564285" y="2857500"/>
            <a:ext cx="2055739" cy="5902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000" dirty="0">
                <a:solidFill>
                  <a:srgbClr val="1C28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プロアクティブな声がけとロールモデル発見で、やる気スコアを平均+15ptに引き上げ。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011317" y="1366242"/>
            <a:ext cx="2523083" cy="2335411"/>
          </a:xfrm>
          <a:prstGeom prst="roundRect">
            <a:avLst>
              <a:gd name="adj" fmla="val 65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4343" dir="3360000">
              <a:srgbClr val="1c2833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265218" y="1620143"/>
            <a:ext cx="205558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000" b="1" dirty="0">
                <a:solidFill>
                  <a:srgbClr val="27788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HR OPS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265218" y="1864519"/>
            <a:ext cx="2055587" cy="558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4400" dirty="0">
                <a:solidFill>
                  <a:srgbClr val="E76F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-40</a:t>
            </a:r>
            <a:pPr algn="l" indent="0" marL="0">
              <a:lnSpc>
                <a:spcPts val="4400"/>
              </a:lnSpc>
              <a:buNone/>
            </a:pPr>
            <a:r>
              <a:rPr lang="en-US" sz="1800" b="1" dirty="0">
                <a:solidFill>
                  <a:srgbClr val="E76F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%</a:t>
            </a:r>
            <a:endParaRPr lang="en-US" sz="4400" dirty="0"/>
          </a:p>
        </p:txBody>
      </p:sp>
      <p:sp>
        <p:nvSpPr>
          <p:cNvPr id="18" name="Text 16"/>
          <p:cNvSpPr/>
          <p:nvPr/>
        </p:nvSpPr>
        <p:spPr>
          <a:xfrm>
            <a:off x="6265218" y="2550319"/>
            <a:ext cx="2055587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1000"/>
              </a:spcBef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4E5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人事・配置工数の削減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65218" y="2857500"/>
            <a:ext cx="2055587" cy="5902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000" dirty="0">
                <a:solidFill>
                  <a:srgbClr val="1C28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手作業のスキル把握と配置検討をAIが下書きし、人事部の意思決定工数を大幅に削減。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09600" y="3930253"/>
            <a:ext cx="7924800" cy="717947"/>
          </a:xfrm>
          <a:prstGeom prst="roundRect">
            <a:avLst>
              <a:gd name="adj" fmla="val 14152"/>
            </a:avLst>
          </a:prstGeom>
          <a:solidFill>
            <a:srgbClr val="1F4E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838200" y="4082653"/>
            <a:ext cx="7616952" cy="4131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7"/>
              </a:lnSpc>
              <a:buNone/>
            </a:pPr>
            <a:r>
              <a:rPr lang="en-US" sz="1050" b="1" dirty="0">
                <a:solidFill>
                  <a:srgbClr val="F4A26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仮説の前提：</a:t>
            </a:r>
            <a:pPr algn="l" indent="0" marL="0">
              <a:lnSpc>
                <a:spcPts val="1627"/>
              </a:lnSpc>
              <a:buNone/>
            </a:pPr>
            <a:r>
              <a:rPr lang="en-US" sz="1050" dirty="0">
                <a:solidFill>
                  <a:srgbClr val="FAF7F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従業員5,000名規模の企業で、年間離職コスト1人あたり約300万円と仮定。Phase 03 まで展開した場合の年間インパクトは約4.5億円の損失回避＋社員マッチングによる生産性向上。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F4E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06738" y="599777"/>
            <a:ext cx="135713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600"/>
              </a:spcAft>
              <a:buNone/>
            </a:pPr>
            <a:r>
              <a:rPr lang="en-US" sz="1100" b="1" dirty="0">
                <a:solidFill>
                  <a:srgbClr val="E76F5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OUR VISION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2467533" y="1082278"/>
            <a:ext cx="4208785" cy="6602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200"/>
              </a:lnSpc>
              <a:spcAft>
                <a:spcPts val="400"/>
              </a:spcAft>
              <a:buNone/>
            </a:pPr>
            <a:r>
              <a:rPr lang="en-US" sz="4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半径5mの </a:t>
            </a:r>
            <a:pPr algn="ctr" indent="0" marL="0">
              <a:lnSpc>
                <a:spcPts val="5200"/>
              </a:lnSpc>
              <a:spcAft>
                <a:spcPts val="400"/>
              </a:spcAft>
              <a:buNone/>
            </a:pPr>
            <a:r>
              <a:rPr lang="en-US" sz="4000" b="1" dirty="0">
                <a:solidFill>
                  <a:srgbClr val="F4A2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外</a:t>
            </a:r>
            <a:pPr algn="ctr" indent="0" marL="0">
              <a:lnSpc>
                <a:spcPts val="5200"/>
              </a:lnSpc>
              <a:spcAft>
                <a:spcPts val="400"/>
              </a:spcAft>
              <a:buNone/>
            </a:pPr>
            <a:r>
              <a:rPr lang="en-US" sz="4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に、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1463192" y="1793230"/>
            <a:ext cx="6217616" cy="6602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200"/>
              </a:lnSpc>
              <a:spcAft>
                <a:spcPts val="2400"/>
              </a:spcAft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あなたのキャリアがある。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1624562" y="3189833"/>
            <a:ext cx="5894728" cy="3022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8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FAF7F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社内にすでに存在する、"まだ見ぬロールモデル"との出会いをAIが繋ぐ。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20760" y="3568303"/>
            <a:ext cx="6702481" cy="3022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8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FAF7F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個人はいきいきと、組織は自律的に。会社と人のキャリアを、同じ方向に揃える。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33341" y="4353074"/>
            <a:ext cx="191486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200"/>
              </a:spcBef>
              <a:buNone/>
            </a:pPr>
            <a:r>
              <a:rPr lang="en-US" sz="1300" b="1" dirty="0">
                <a:solidFill>
                  <a:srgbClr val="F4A26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INNER COMPASS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Inner Compass — 社内ロールモデル発見型キャリアAIエージェント</dc:title>
  <dc:subject>PptxGenJS Presentation</dc:subject>
  <dc:creator>Google AI Agent Hackathon Submission</dc:creator>
  <cp:lastModifiedBy>Google AI Agent Hackathon Submission</cp:lastModifiedBy>
  <cp:revision>1</cp:revision>
  <dcterms:created xsi:type="dcterms:W3CDTF">2026-04-20T15:10:44Z</dcterms:created>
  <dcterms:modified xsi:type="dcterms:W3CDTF">2026-04-20T15:10:44Z</dcterms:modified>
</cp:coreProperties>
</file>