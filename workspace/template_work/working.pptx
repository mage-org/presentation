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63" r:id="rId13"/>
    <p:sldId id="259" r:id="rId9"/>
    <p:sldId id="264" r:id="rId14"/>
    <p:sldId id="260" r:id="rId10"/>
    <p:sldId id="262" r:id="rId12"/>
    <p:sldId id="268" r:id="rId21"/>
    <p:sldId id="258" r:id="rId8"/>
    <p:sldId id="267" r:id="rId20"/>
    <p:sldId id="266" r:id="rId16"/>
  </p:sldIdLst>
  <p:sldSz cx="18288000" cy="10287000"/>
  <p:notesSz cx="6858000" cy="9144000"/>
  <p:embeddedFontLst>
    <p:embeddedFont>
      <p:font typeface="Tex Gyre Termes Bold" charset="1" panose="00000800000000000000"/>
      <p:regular r:id="rId17"/>
    </p:embeddedFont>
    <p:embeddedFont>
      <p:font typeface="Open Sauce" charset="1" panose="00000500000000000000"/>
      <p:regular r:id="rId18"/>
    </p:embeddedFont>
    <p:embeddedFont>
      <p:font typeface="Open Sauce Bold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slide" Target="slides/slide12.xml"/><Relationship Id="rId21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image" Target="../media/image9.jpeg"/><Relationship Id="rId4" Type="http://schemas.openxmlformats.org/officeDocument/2006/relationships/image" Target="../media/image10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svg"/><Relationship Id="rId6" Type="http://schemas.openxmlformats.org/officeDocument/2006/relationships/image" Target="../media/image4.svg"/><Relationship Id="rId7" Type="http://schemas.openxmlformats.org/officeDocument/2006/relationships/image" Target="../media/image6.svg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2975" y="895350"/>
            <a:ext cx="6386155" cy="3451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99"/>
              </a:lnSpc>
            </a:pPr>
            <a:r>
              <a:rPr lang="en-US" b="true" sz="15999" spc="-639">
                <a:solidFill>
                  <a:srgbClr val="31220C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Pitch Deck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2975" y="4557743"/>
            <a:ext cx="1004153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spc="167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AI‑Powered Workflow Automation Platform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861068" y="8970010"/>
            <a:ext cx="176776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 spc="420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2026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861068" y="907856"/>
            <a:ext cx="1767765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Ingoude Company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2975" y="8916987"/>
            <a:ext cx="1004153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 spc="420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Morga</a:t>
            </a:r>
            <a:r>
              <a:rPr lang="en-US" b="true" sz="2100" spc="420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</a:t>
            </a:r>
            <a:r>
              <a:rPr lang="en-US" b="true" sz="2100" spc="420" strike="noStrike" u="none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100" spc="420" strike="noStrike" u="none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</a:t>
            </a:r>
            <a:r>
              <a:rPr lang="en-US" b="true" sz="2100" spc="420" strike="noStrike" u="none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AXWELL</a:t>
            </a:r>
          </a:p>
        </p:txBody>
      </p:sp>
      <p:sp>
        <p:nvSpPr>
          <p:cNvPr name="AutoShape 7" id="7"/>
          <p:cNvSpPr/>
          <p:nvPr/>
        </p:nvSpPr>
        <p:spPr>
          <a:xfrm flipH="true">
            <a:off x="15206662" y="0"/>
            <a:ext cx="0" cy="10287000"/>
          </a:xfrm>
          <a:prstGeom prst="line">
            <a:avLst/>
          </a:prstGeom>
          <a:ln cap="flat" w="9525">
            <a:solidFill>
              <a:srgbClr val="31220C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2975" y="1079499"/>
            <a:ext cx="6386155" cy="915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8000" spc="-320" b="true">
                <a:solidFill>
                  <a:srgbClr val="31220C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T</a:t>
            </a:r>
            <a:r>
              <a:rPr lang="en-US" b="true" sz="8000" spc="-320">
                <a:solidFill>
                  <a:srgbClr val="31220C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he Problem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2975" y="2921032"/>
            <a:ext cx="10041539" cy="197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167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Organizati</a:t>
            </a:r>
            <a:r>
              <a:rPr lang="en-US" b="true" sz="2799" spc="167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ons rely on scattered tools and manual processes that slow decisions, create inconsistent customer experiences, and increase operating risk.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861068" y="8970010"/>
            <a:ext cx="176776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 spc="420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861068" y="907856"/>
            <a:ext cx="1767765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Ingoude Company</a:t>
            </a:r>
          </a:p>
        </p:txBody>
      </p:sp>
      <p:sp>
        <p:nvSpPr>
          <p:cNvPr name="AutoShape 6" id="6"/>
          <p:cNvSpPr/>
          <p:nvPr/>
        </p:nvSpPr>
        <p:spPr>
          <a:xfrm flipH="true">
            <a:off x="15206662" y="0"/>
            <a:ext cx="0" cy="10287000"/>
          </a:xfrm>
          <a:prstGeom prst="line">
            <a:avLst/>
          </a:prstGeom>
          <a:ln cap="flat" w="9525">
            <a:solidFill>
              <a:srgbClr val="31220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942975" y="5288312"/>
            <a:ext cx="10041539" cy="186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 spc="126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Teams re‑enter data, manage appr</a:t>
            </a:r>
            <a:r>
              <a:rPr lang="en-US" sz="2100" spc="126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ovals by email, and struggle to surface insights quickly. Leaders need a dependable way to orchestrate workflows across departments while keeping quality high and costs predictable.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2975" y="1079499"/>
            <a:ext cx="6386155" cy="915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8000" spc="-320" b="true">
                <a:solidFill>
                  <a:srgbClr val="31220C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Our</a:t>
            </a:r>
            <a:r>
              <a:rPr lang="en-US" b="true" sz="8000" spc="-320">
                <a:solidFill>
                  <a:srgbClr val="31220C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 Solution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861068" y="8970010"/>
            <a:ext cx="176776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 spc="420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861068" y="907856"/>
            <a:ext cx="1767765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Ingoude Company</a:t>
            </a:r>
          </a:p>
        </p:txBody>
      </p:sp>
      <p:sp>
        <p:nvSpPr>
          <p:cNvPr name="AutoShape 5" id="5"/>
          <p:cNvSpPr/>
          <p:nvPr/>
        </p:nvSpPr>
        <p:spPr>
          <a:xfrm flipH="true">
            <a:off x="15206662" y="0"/>
            <a:ext cx="0" cy="10287000"/>
          </a:xfrm>
          <a:prstGeom prst="line">
            <a:avLst/>
          </a:prstGeom>
          <a:ln cap="flat" w="9525">
            <a:solidFill>
              <a:srgbClr val="31220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942975" y="2921032"/>
            <a:ext cx="1004153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167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Unifi</a:t>
            </a:r>
            <a:r>
              <a:rPr lang="en-US" b="true" sz="2799" spc="167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ed Automation &amp; Experience Platform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2975" y="3659537"/>
            <a:ext cx="10041539" cy="2586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5250"/>
              </a:lnSpc>
              <a:buFont typeface="Arial"/>
              <a:buChar char="•"/>
            </a:pPr>
            <a:r>
              <a:rPr lang="en-US" sz="2100" spc="126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Bu</a:t>
            </a:r>
            <a:r>
              <a:rPr lang="en-US" sz="2100" spc="126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ild workflows visually and standardize best practices</a:t>
            </a:r>
          </a:p>
          <a:p>
            <a:pPr algn="l" marL="453390" indent="-226695" lvl="1">
              <a:lnSpc>
                <a:spcPts val="5250"/>
              </a:lnSpc>
              <a:buFont typeface="Arial"/>
              <a:buChar char="•"/>
            </a:pPr>
            <a:r>
              <a:rPr lang="en-US" sz="2100" spc="126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Integrate with existing systems through connectors and APIs</a:t>
            </a:r>
          </a:p>
          <a:p>
            <a:pPr algn="l" marL="453390" indent="-226695" lvl="1">
              <a:lnSpc>
                <a:spcPts val="5250"/>
              </a:lnSpc>
              <a:buFont typeface="Arial"/>
              <a:buChar char="•"/>
            </a:pPr>
            <a:r>
              <a:rPr lang="en-US" sz="2100" spc="126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Apply responsible AI to classify, route, and summarize work</a:t>
            </a:r>
          </a:p>
          <a:p>
            <a:pPr algn="l" marL="453390" indent="-226695" lvl="1">
              <a:lnSpc>
                <a:spcPts val="5250"/>
              </a:lnSpc>
              <a:buFont typeface="Arial"/>
              <a:buChar char="•"/>
            </a:pPr>
            <a:r>
              <a:rPr lang="en-US" sz="2100" spc="126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Provide role‑based dashboards for operators and leaders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15206662" y="0"/>
            <a:ext cx="0" cy="10287000"/>
          </a:xfrm>
          <a:prstGeom prst="line">
            <a:avLst/>
          </a:prstGeom>
          <a:ln cap="flat" w="9525">
            <a:solidFill>
              <a:srgbClr val="31220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42975" y="3528978"/>
            <a:ext cx="1822657" cy="1822657"/>
          </a:xfrm>
          <a:custGeom>
            <a:avLst/>
            <a:gdLst/>
            <a:ahLst/>
            <a:cxnLst/>
            <a:rect r="r" b="b" t="t" l="l"/>
            <a:pathLst>
              <a:path h="1822657" w="1822657">
                <a:moveTo>
                  <a:pt x="0" y="0"/>
                </a:moveTo>
                <a:lnTo>
                  <a:pt x="1822657" y="0"/>
                </a:lnTo>
                <a:lnTo>
                  <a:pt x="1822657" y="1822657"/>
                </a:lnTo>
                <a:lnTo>
                  <a:pt x="0" y="18226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639295" y="3528978"/>
            <a:ext cx="1822657" cy="1822657"/>
          </a:xfrm>
          <a:custGeom>
            <a:avLst/>
            <a:gdLst/>
            <a:ahLst/>
            <a:cxnLst/>
            <a:rect r="r" b="b" t="t" l="l"/>
            <a:pathLst>
              <a:path h="1822657" w="1822657">
                <a:moveTo>
                  <a:pt x="0" y="0"/>
                </a:moveTo>
                <a:lnTo>
                  <a:pt x="1822657" y="0"/>
                </a:lnTo>
                <a:lnTo>
                  <a:pt x="1822657" y="1822657"/>
                </a:lnTo>
                <a:lnTo>
                  <a:pt x="0" y="18226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35615" y="3195330"/>
            <a:ext cx="1954813" cy="2156305"/>
          </a:xfrm>
          <a:custGeom>
            <a:avLst/>
            <a:gdLst/>
            <a:ahLst/>
            <a:cxnLst/>
            <a:rect r="r" b="b" t="t" l="l"/>
            <a:pathLst>
              <a:path h="2156305" w="1954813">
                <a:moveTo>
                  <a:pt x="0" y="0"/>
                </a:moveTo>
                <a:lnTo>
                  <a:pt x="1954813" y="0"/>
                </a:lnTo>
                <a:lnTo>
                  <a:pt x="1954813" y="2156305"/>
                </a:lnTo>
                <a:lnTo>
                  <a:pt x="0" y="21563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42975" y="1079499"/>
            <a:ext cx="8919160" cy="915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8000" spc="-320" b="true">
                <a:solidFill>
                  <a:srgbClr val="31220C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Pr</a:t>
            </a:r>
            <a:r>
              <a:rPr lang="en-US" b="true" sz="8000" spc="-320">
                <a:solidFill>
                  <a:srgbClr val="31220C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oduct at a Glance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861068" y="8970010"/>
            <a:ext cx="176776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 spc="420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861068" y="907856"/>
            <a:ext cx="1767765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Ingoude Company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2975" y="6275560"/>
            <a:ext cx="334386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167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</a:t>
            </a:r>
            <a:r>
              <a:rPr lang="en-US" b="true" sz="2799" spc="167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esign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2975" y="7156940"/>
            <a:ext cx="3343860" cy="139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 spc="126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Drag‑and‑drop builder for forms, rules, and steps.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39295" y="6275560"/>
            <a:ext cx="334386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167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Automat</a:t>
            </a:r>
            <a:r>
              <a:rPr lang="en-US" b="true" sz="2799" spc="167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39295" y="7156940"/>
            <a:ext cx="3343860" cy="139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 spc="126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AI assists with classification, extraction, and routing.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35615" y="6275560"/>
            <a:ext cx="334386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167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</a:t>
            </a:r>
            <a:r>
              <a:rPr lang="en-US" b="true" sz="2799" spc="167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easure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35615" y="7156940"/>
            <a:ext cx="3343860" cy="139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 spc="126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Live dashboards, audit history, and outcome tracking.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15206662" y="0"/>
            <a:ext cx="0" cy="10287000"/>
          </a:xfrm>
          <a:prstGeom prst="line">
            <a:avLst/>
          </a:prstGeom>
          <a:ln cap="flat" w="9525">
            <a:solidFill>
              <a:srgbClr val="31220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942975" y="1079499"/>
            <a:ext cx="8919160" cy="915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8000" spc="-320" b="true">
                <a:solidFill>
                  <a:srgbClr val="31220C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H</a:t>
            </a:r>
            <a:r>
              <a:rPr lang="en-US" b="true" sz="8000" spc="-320">
                <a:solidFill>
                  <a:srgbClr val="31220C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ow It Works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861068" y="8970010"/>
            <a:ext cx="176776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 spc="420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861068" y="907856"/>
            <a:ext cx="1767765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Ingoude Company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42975" y="3205128"/>
            <a:ext cx="947761" cy="947761"/>
            <a:chOff x="0" y="0"/>
            <a:chExt cx="1263681" cy="1263681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263681" cy="126368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9553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80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354373" y="282379"/>
              <a:ext cx="554936" cy="63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 spc="167">
                  <a:solidFill>
                    <a:srgbClr val="F6F3EA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1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439191" y="3066063"/>
            <a:ext cx="4655926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 spc="126" b="true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Intake:</a:t>
            </a:r>
            <a:r>
              <a:rPr lang="en-US" sz="2100" spc="126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 Capture requests via web, mobile, or system events.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42975" y="5343525"/>
            <a:ext cx="947761" cy="947761"/>
            <a:chOff x="0" y="0"/>
            <a:chExt cx="1263681" cy="1263681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263681" cy="1263681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9553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80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354373" y="282379"/>
              <a:ext cx="554936" cy="63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 spc="167">
                  <a:solidFill>
                    <a:srgbClr val="F6F3EA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2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439191" y="5194935"/>
            <a:ext cx="4655926" cy="139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 spc="126" b="true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Enrichment:</a:t>
            </a:r>
            <a:r>
              <a:rPr lang="en-US" sz="2100" spc="126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 Extract key fields, validate entries, and detect duplicates.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42975" y="7481922"/>
            <a:ext cx="947761" cy="947761"/>
            <a:chOff x="0" y="0"/>
            <a:chExt cx="1263681" cy="1263681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1263681" cy="1263681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9553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80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54373" y="282379"/>
              <a:ext cx="554936" cy="63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 spc="167">
                  <a:solidFill>
                    <a:srgbClr val="F6F3EA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3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439191" y="7342857"/>
            <a:ext cx="4655926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 spc="126" b="true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Routing:</a:t>
            </a:r>
            <a:r>
              <a:rPr lang="en-US" sz="2100" spc="126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 Assign tasks to people or services based on policies.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072438" y="3205128"/>
            <a:ext cx="947761" cy="947761"/>
            <a:chOff x="0" y="0"/>
            <a:chExt cx="1263681" cy="1263681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263681" cy="1263681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9553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80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354373" y="282379"/>
              <a:ext cx="554936" cy="63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 spc="167">
                  <a:solidFill>
                    <a:srgbClr val="F6F3EA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4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568653" y="3056538"/>
            <a:ext cx="4655926" cy="139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 spc="126" b="true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Action:</a:t>
            </a:r>
            <a:r>
              <a:rPr lang="en-US" sz="2100" spc="126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 Trigger updates, generate documents, and notify stakeholders.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8072438" y="5343525"/>
            <a:ext cx="947761" cy="947761"/>
            <a:chOff x="0" y="0"/>
            <a:chExt cx="1263681" cy="1263681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1263681" cy="1263681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9553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80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354373" y="282379"/>
              <a:ext cx="554936" cy="63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 spc="167">
                  <a:solidFill>
                    <a:srgbClr val="F6F3EA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5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9568653" y="5194935"/>
            <a:ext cx="4655926" cy="139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 spc="126" b="true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Review:</a:t>
            </a:r>
            <a:r>
              <a:rPr lang="en-US" sz="2100" spc="126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 Collect approvals with traceable comments and versions.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072438" y="7481922"/>
            <a:ext cx="947761" cy="947761"/>
            <a:chOff x="0" y="0"/>
            <a:chExt cx="1263681" cy="1263681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1263681" cy="1263681"/>
              <a:chOff x="0" y="0"/>
              <a:chExt cx="812800" cy="8128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9553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80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354373" y="282379"/>
              <a:ext cx="554936" cy="63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 spc="167">
                  <a:solidFill>
                    <a:srgbClr val="F6F3EA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6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9568653" y="7333332"/>
            <a:ext cx="4655926" cy="139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 spc="126" b="true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Insight:</a:t>
            </a:r>
            <a:r>
              <a:rPr lang="en-US" sz="2100" spc="126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 Monitor cycle times, queues, and outcomes in real time.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15206662" y="0"/>
            <a:ext cx="0" cy="10287000"/>
          </a:xfrm>
          <a:prstGeom prst="line">
            <a:avLst/>
          </a:prstGeom>
          <a:ln cap="flat" w="9525">
            <a:solidFill>
              <a:srgbClr val="31220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3429821"/>
            <a:ext cx="5811520" cy="4843462"/>
            <a:chOff x="0" y="0"/>
            <a:chExt cx="1530606" cy="12756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30606" cy="1275644"/>
            </a:xfrm>
            <a:custGeom>
              <a:avLst/>
              <a:gdLst/>
              <a:ahLst/>
              <a:cxnLst/>
              <a:rect r="r" b="b" t="t" l="l"/>
              <a:pathLst>
                <a:path h="1275644" w="1530606">
                  <a:moveTo>
                    <a:pt x="0" y="0"/>
                  </a:moveTo>
                  <a:lnTo>
                    <a:pt x="1530606" y="0"/>
                  </a:lnTo>
                  <a:lnTo>
                    <a:pt x="1530606" y="1275644"/>
                  </a:lnTo>
                  <a:lnTo>
                    <a:pt x="0" y="1275644"/>
                  </a:lnTo>
                  <a:close/>
                </a:path>
              </a:pathLst>
            </a:custGeom>
            <a:solidFill>
              <a:srgbClr val="C2955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23825"/>
              <a:ext cx="1530606" cy="1399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8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42975" y="1079499"/>
            <a:ext cx="8919160" cy="915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8000" spc="-320" b="true">
                <a:solidFill>
                  <a:srgbClr val="31220C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Value</a:t>
            </a:r>
            <a:r>
              <a:rPr lang="en-US" b="true" sz="8000" spc="-320">
                <a:solidFill>
                  <a:srgbClr val="31220C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 Proposition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861068" y="8970010"/>
            <a:ext cx="176776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 spc="420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861068" y="907856"/>
            <a:ext cx="1767765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Ingoude Company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09725" y="3797332"/>
            <a:ext cx="445958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167">
                <a:solidFill>
                  <a:srgbClr val="F6F3E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For Operators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00175" y="4897787"/>
            <a:ext cx="4730352" cy="2586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5250"/>
              </a:lnSpc>
              <a:buFont typeface="Arial"/>
              <a:buChar char="•"/>
            </a:pPr>
            <a:r>
              <a:rPr lang="en-US" sz="2100" spc="126">
                <a:solidFill>
                  <a:srgbClr val="F6F3EA"/>
                </a:solidFill>
                <a:latin typeface="Open Sauce"/>
                <a:ea typeface="Open Sauce"/>
                <a:cs typeface="Open Sauce"/>
                <a:sym typeface="Open Sauce"/>
              </a:rPr>
              <a:t>Fewer handoffs</a:t>
            </a:r>
          </a:p>
          <a:p>
            <a:pPr algn="l" marL="453390" indent="-226695" lvl="1">
              <a:lnSpc>
                <a:spcPts val="5250"/>
              </a:lnSpc>
              <a:buFont typeface="Arial"/>
              <a:buChar char="•"/>
            </a:pPr>
            <a:r>
              <a:rPr lang="en-US" sz="2100" spc="126">
                <a:solidFill>
                  <a:srgbClr val="F6F3EA"/>
                </a:solidFill>
                <a:latin typeface="Open Sauce"/>
                <a:ea typeface="Open Sauce"/>
                <a:cs typeface="Open Sauce"/>
                <a:sym typeface="Open Sauce"/>
              </a:rPr>
              <a:t>Clear ownership</a:t>
            </a:r>
          </a:p>
          <a:p>
            <a:pPr algn="l" marL="453390" indent="-226695" lvl="1">
              <a:lnSpc>
                <a:spcPts val="5250"/>
              </a:lnSpc>
              <a:buFont typeface="Arial"/>
              <a:buChar char="•"/>
            </a:pPr>
            <a:r>
              <a:rPr lang="en-US" sz="2100" spc="126">
                <a:solidFill>
                  <a:srgbClr val="F6F3EA"/>
                </a:solidFill>
                <a:latin typeface="Open Sauce"/>
                <a:ea typeface="Open Sauce"/>
                <a:cs typeface="Open Sauce"/>
                <a:sym typeface="Open Sauce"/>
              </a:rPr>
              <a:t>Consistent templates</a:t>
            </a:r>
          </a:p>
          <a:p>
            <a:pPr algn="l" marL="453390" indent="-226695" lvl="1">
              <a:lnSpc>
                <a:spcPts val="5250"/>
              </a:lnSpc>
              <a:buFont typeface="Arial"/>
              <a:buChar char="•"/>
            </a:pPr>
            <a:r>
              <a:rPr lang="en-US" sz="2100" spc="126">
                <a:solidFill>
                  <a:srgbClr val="F6F3EA"/>
                </a:solidFill>
                <a:latin typeface="Open Sauce"/>
                <a:ea typeface="Open Sauce"/>
                <a:cs typeface="Open Sauce"/>
                <a:sym typeface="Open Sauce"/>
              </a:rPr>
              <a:t>Faster cycle times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679030" y="3429821"/>
            <a:ext cx="5811520" cy="4843462"/>
            <a:chOff x="0" y="0"/>
            <a:chExt cx="1530606" cy="12756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30606" cy="1275644"/>
            </a:xfrm>
            <a:custGeom>
              <a:avLst/>
              <a:gdLst/>
              <a:ahLst/>
              <a:cxnLst/>
              <a:rect r="r" b="b" t="t" l="l"/>
              <a:pathLst>
                <a:path h="1275644" w="1530606">
                  <a:moveTo>
                    <a:pt x="0" y="0"/>
                  </a:moveTo>
                  <a:lnTo>
                    <a:pt x="1530606" y="0"/>
                  </a:lnTo>
                  <a:lnTo>
                    <a:pt x="1530606" y="1275644"/>
                  </a:lnTo>
                  <a:lnTo>
                    <a:pt x="0" y="1275644"/>
                  </a:lnTo>
                  <a:close/>
                </a:path>
              </a:pathLst>
            </a:custGeom>
            <a:solidFill>
              <a:srgbClr val="C2955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23825"/>
              <a:ext cx="1530606" cy="1399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8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262937" y="3797332"/>
            <a:ext cx="445958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167">
                <a:solidFill>
                  <a:srgbClr val="F6F3E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For Leaders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53388" y="4897787"/>
            <a:ext cx="4730352" cy="2586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5250"/>
              </a:lnSpc>
              <a:buFont typeface="Arial"/>
              <a:buChar char="•"/>
            </a:pPr>
            <a:r>
              <a:rPr lang="en-US" sz="2100" spc="126">
                <a:solidFill>
                  <a:srgbClr val="F6F3EA"/>
                </a:solidFill>
                <a:latin typeface="Open Sauce"/>
                <a:ea typeface="Open Sauce"/>
                <a:cs typeface="Open Sauce"/>
                <a:sym typeface="Open Sauce"/>
              </a:rPr>
              <a:t>Visibility into work in flight</a:t>
            </a:r>
          </a:p>
          <a:p>
            <a:pPr algn="l" marL="453390" indent="-226695" lvl="1">
              <a:lnSpc>
                <a:spcPts val="5250"/>
              </a:lnSpc>
              <a:buFont typeface="Arial"/>
              <a:buChar char="•"/>
            </a:pPr>
            <a:r>
              <a:rPr lang="en-US" sz="2100" spc="126">
                <a:solidFill>
                  <a:srgbClr val="F6F3EA"/>
                </a:solidFill>
                <a:latin typeface="Open Sauce"/>
                <a:ea typeface="Open Sauce"/>
                <a:cs typeface="Open Sauce"/>
                <a:sym typeface="Open Sauce"/>
              </a:rPr>
              <a:t>Policy enforcement by design</a:t>
            </a:r>
          </a:p>
          <a:p>
            <a:pPr algn="l" marL="453390" indent="-226695" lvl="1">
              <a:lnSpc>
                <a:spcPts val="5250"/>
              </a:lnSpc>
              <a:buFont typeface="Arial"/>
              <a:buChar char="•"/>
            </a:pPr>
            <a:r>
              <a:rPr lang="en-US" sz="2100" spc="126">
                <a:solidFill>
                  <a:srgbClr val="F6F3EA"/>
                </a:solidFill>
                <a:latin typeface="Open Sauce"/>
                <a:ea typeface="Open Sauce"/>
                <a:cs typeface="Open Sauce"/>
                <a:sym typeface="Open Sauce"/>
              </a:rPr>
              <a:t>Predictable outcomes</a:t>
            </a:r>
          </a:p>
          <a:p>
            <a:pPr algn="l" marL="453390" indent="-226695" lvl="1">
              <a:lnSpc>
                <a:spcPts val="5250"/>
              </a:lnSpc>
              <a:buFont typeface="Arial"/>
              <a:buChar char="•"/>
            </a:pPr>
            <a:r>
              <a:rPr lang="en-US" sz="2100" spc="126">
                <a:solidFill>
                  <a:srgbClr val="F6F3EA"/>
                </a:solidFill>
                <a:latin typeface="Open Sauce"/>
                <a:ea typeface="Open Sauce"/>
                <a:cs typeface="Open Sauce"/>
                <a:sym typeface="Open Sauce"/>
              </a:rPr>
              <a:t>Lower operational risk</a:t>
            </a:r>
          </a:p>
        </p:txBody>
      </p:sp>
      <p:sp>
        <p:nvSpPr>
          <p:cNvPr name="AutoShape 16" id="16"/>
          <p:cNvSpPr/>
          <p:nvPr/>
        </p:nvSpPr>
        <p:spPr>
          <a:xfrm>
            <a:off x="1028700" y="4716812"/>
            <a:ext cx="5811520" cy="0"/>
          </a:xfrm>
          <a:prstGeom prst="line">
            <a:avLst/>
          </a:prstGeom>
          <a:ln cap="flat" w="38100">
            <a:solidFill>
              <a:srgbClr val="F6F3E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7679030" y="4716812"/>
            <a:ext cx="5811520" cy="0"/>
          </a:xfrm>
          <a:prstGeom prst="line">
            <a:avLst/>
          </a:prstGeom>
          <a:ln cap="flat" w="38100">
            <a:solidFill>
              <a:srgbClr val="F6F3EA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15206662" y="0"/>
            <a:ext cx="0" cy="10287000"/>
          </a:xfrm>
          <a:prstGeom prst="line">
            <a:avLst/>
          </a:prstGeom>
          <a:ln cap="flat" w="9525">
            <a:solidFill>
              <a:srgbClr val="31220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942975" y="1079499"/>
            <a:ext cx="8919160" cy="915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8000" spc="-320" b="true">
                <a:solidFill>
                  <a:srgbClr val="31220C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Diffe</a:t>
            </a:r>
            <a:r>
              <a:rPr lang="en-US" b="true" sz="8000" spc="-320">
                <a:solidFill>
                  <a:srgbClr val="31220C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rentiation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861068" y="8970010"/>
            <a:ext cx="176776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 spc="420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8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861068" y="907856"/>
            <a:ext cx="1767765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Ingoude Company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53849" y="3363146"/>
            <a:ext cx="3660793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167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Conf</a:t>
            </a:r>
            <a:r>
              <a:rPr lang="en-US" b="true" sz="2799" spc="167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igurable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53849" y="4244526"/>
            <a:ext cx="3660793" cy="139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 spc="126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Teams assemble workflows without long projects.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08420" y="3363146"/>
            <a:ext cx="4608781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167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AI with guardrails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08420" y="4244526"/>
            <a:ext cx="4608781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 spc="126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Human‑in‑the‑loop and explainable suggestions.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53849" y="6742005"/>
            <a:ext cx="3660793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167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Clear v</a:t>
            </a:r>
            <a:r>
              <a:rPr lang="en-US" b="true" sz="2799" spc="167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isibility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53849" y="7623385"/>
            <a:ext cx="3660793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 spc="126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From request to result with full auditability.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408420" y="6742005"/>
            <a:ext cx="4608781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167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Open by default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408420" y="7623385"/>
            <a:ext cx="4608781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 spc="126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Connects to data and services through standard APIs.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42975" y="3168030"/>
            <a:ext cx="947761" cy="947761"/>
            <a:chOff x="0" y="0"/>
            <a:chExt cx="1263681" cy="1263681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263681" cy="1263681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955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80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354373" y="282379"/>
              <a:ext cx="554936" cy="63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 spc="167">
                  <a:solidFill>
                    <a:srgbClr val="F6F3EA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083498" y="3168030"/>
            <a:ext cx="947761" cy="947761"/>
            <a:chOff x="0" y="0"/>
            <a:chExt cx="1263681" cy="1263681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1263681" cy="1263681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9553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80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54373" y="282379"/>
              <a:ext cx="554936" cy="63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 spc="167">
                  <a:solidFill>
                    <a:srgbClr val="F6F3EA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3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2975" y="6546890"/>
            <a:ext cx="947761" cy="947761"/>
            <a:chOff x="0" y="0"/>
            <a:chExt cx="1263681" cy="1263681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263681" cy="1263681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9553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80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354373" y="282379"/>
              <a:ext cx="554936" cy="63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 spc="167">
                  <a:solidFill>
                    <a:srgbClr val="F6F3EA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083498" y="6546890"/>
            <a:ext cx="947761" cy="947761"/>
            <a:chOff x="0" y="0"/>
            <a:chExt cx="1263681" cy="1263681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1263681" cy="1263681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9553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80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354373" y="282379"/>
              <a:ext cx="554936" cy="63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 spc="167">
                  <a:solidFill>
                    <a:srgbClr val="F6F3EA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15206662" y="0"/>
            <a:ext cx="0" cy="10287000"/>
          </a:xfrm>
          <a:prstGeom prst="line">
            <a:avLst/>
          </a:prstGeom>
          <a:ln cap="flat" w="9525">
            <a:solidFill>
              <a:srgbClr val="31220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42975" y="2785307"/>
            <a:ext cx="3042578" cy="3042578"/>
          </a:xfrm>
          <a:custGeom>
            <a:avLst/>
            <a:gdLst/>
            <a:ahLst/>
            <a:cxnLst/>
            <a:rect r="r" b="b" t="t" l="l"/>
            <a:pathLst>
              <a:path h="3042578" w="3042578">
                <a:moveTo>
                  <a:pt x="0" y="0"/>
                </a:moveTo>
                <a:lnTo>
                  <a:pt x="3042578" y="0"/>
                </a:lnTo>
                <a:lnTo>
                  <a:pt x="3042578" y="3042578"/>
                </a:lnTo>
                <a:lnTo>
                  <a:pt x="0" y="30425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999" t="0" r="-2500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42975" y="1079499"/>
            <a:ext cx="8919160" cy="915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8000" spc="-320" b="true">
                <a:solidFill>
                  <a:srgbClr val="31220C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P</a:t>
            </a:r>
            <a:r>
              <a:rPr lang="en-US" b="true" sz="8000" spc="-320">
                <a:solidFill>
                  <a:srgbClr val="31220C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roduct Roadmap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861068" y="8970010"/>
            <a:ext cx="176776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 spc="420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861068" y="907856"/>
            <a:ext cx="1767765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Ingoude Company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2975" y="6275560"/>
            <a:ext cx="334386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167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Near T</a:t>
            </a:r>
            <a:r>
              <a:rPr lang="en-US" b="true" sz="2799" spc="167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erm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2975" y="7156940"/>
            <a:ext cx="3343860" cy="186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 spc="126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Improved builder ergonomics, template marketplace, and policy testing.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39295" y="6275560"/>
            <a:ext cx="334386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167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Mid Term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639295" y="7156940"/>
            <a:ext cx="3343860" cy="186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 spc="126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Domain‑specific AI skills, deeper role permissions, offline mobile tasks.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35615" y="6275560"/>
            <a:ext cx="334386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167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Later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335615" y="7156940"/>
            <a:ext cx="3343860" cy="186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 spc="126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Autonomous workflow suggestions with human control and full explainability.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639295" y="2785307"/>
            <a:ext cx="3042578" cy="3042578"/>
          </a:xfrm>
          <a:custGeom>
            <a:avLst/>
            <a:gdLst/>
            <a:ahLst/>
            <a:cxnLst/>
            <a:rect r="r" b="b" t="t" l="l"/>
            <a:pathLst>
              <a:path h="3042578" w="3042578">
                <a:moveTo>
                  <a:pt x="0" y="0"/>
                </a:moveTo>
                <a:lnTo>
                  <a:pt x="3042578" y="0"/>
                </a:lnTo>
                <a:lnTo>
                  <a:pt x="3042578" y="3042578"/>
                </a:lnTo>
                <a:lnTo>
                  <a:pt x="0" y="30425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5000" r="0" b="-2500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335615" y="2785307"/>
            <a:ext cx="3042578" cy="3042578"/>
          </a:xfrm>
          <a:custGeom>
            <a:avLst/>
            <a:gdLst/>
            <a:ahLst/>
            <a:cxnLst/>
            <a:rect r="r" b="b" t="t" l="l"/>
            <a:pathLst>
              <a:path h="3042578" w="3042578">
                <a:moveTo>
                  <a:pt x="0" y="0"/>
                </a:moveTo>
                <a:lnTo>
                  <a:pt x="3042578" y="0"/>
                </a:lnTo>
                <a:lnTo>
                  <a:pt x="3042578" y="3042578"/>
                </a:lnTo>
                <a:lnTo>
                  <a:pt x="0" y="30425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5000" r="0" b="-2500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2975" y="5417809"/>
            <a:ext cx="9421290" cy="1827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99"/>
              </a:lnSpc>
            </a:pPr>
            <a:r>
              <a:rPr lang="en-US" sz="15999" spc="-639" b="true">
                <a:solidFill>
                  <a:srgbClr val="31220C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The End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2975" y="7456190"/>
            <a:ext cx="1004153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spc="167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Thank You For Listening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861068" y="8970010"/>
            <a:ext cx="176776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 spc="420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2026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861068" y="907856"/>
            <a:ext cx="1767765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Ingoude Company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2975" y="8916987"/>
            <a:ext cx="1004153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 spc="420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Morga</a:t>
            </a:r>
            <a:r>
              <a:rPr lang="en-US" b="true" sz="2100" spc="420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</a:t>
            </a:r>
            <a:r>
              <a:rPr lang="en-US" b="true" sz="2100" spc="420" strike="noStrike" u="none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100" spc="420" strike="noStrike" u="none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</a:t>
            </a:r>
            <a:r>
              <a:rPr lang="en-US" b="true" sz="2100" spc="420" strike="noStrike" u="none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AXWELL</a:t>
            </a:r>
          </a:p>
        </p:txBody>
      </p:sp>
      <p:sp>
        <p:nvSpPr>
          <p:cNvPr name="AutoShape 7" id="7"/>
          <p:cNvSpPr/>
          <p:nvPr/>
        </p:nvSpPr>
        <p:spPr>
          <a:xfrm flipH="true">
            <a:off x="15206662" y="0"/>
            <a:ext cx="0" cy="10287000"/>
          </a:xfrm>
          <a:prstGeom prst="line">
            <a:avLst/>
          </a:prstGeom>
          <a:ln cap="flat" w="9525">
            <a:solidFill>
              <a:srgbClr val="31220C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AutoShape 2" id="2"/>
          <p:cNvSpPr/>
          <p:nvPr/>
        </p:nvSpPr>
        <p:spPr>
          <a:xfrm flipH="true">
            <a:off x="15206662" y="0"/>
            <a:ext cx="0" cy="10287000"/>
          </a:xfrm>
          <a:prstGeom prst="line">
            <a:avLst/>
          </a:prstGeom>
          <a:ln cap="flat" w="9525">
            <a:solidFill>
              <a:srgbClr val="31220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942975" y="1079499"/>
            <a:ext cx="8919160" cy="915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8000" spc="-320" b="true">
                <a:solidFill>
                  <a:srgbClr val="31220C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Diffe</a:t>
            </a:r>
            <a:r>
              <a:rPr lang="en-US" b="true" sz="8000" spc="-320">
                <a:solidFill>
                  <a:srgbClr val="31220C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rentiation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861068" y="8970010"/>
            <a:ext cx="176776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 spc="420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8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861068" y="907856"/>
            <a:ext cx="1767765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Ingoude Company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53849" y="3363146"/>
            <a:ext cx="3660793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167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Conf</a:t>
            </a:r>
            <a:r>
              <a:rPr lang="en-US" b="true" sz="2799" spc="167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igurable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53849" y="4244526"/>
            <a:ext cx="3660793" cy="139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 spc="126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Teams assemble workflows without long projects.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08420" y="3363146"/>
            <a:ext cx="4608781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167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AI with guardrails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08420" y="4244526"/>
            <a:ext cx="4608781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 spc="126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Human‑in‑the‑loop and explainable suggestions.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53849" y="6742005"/>
            <a:ext cx="3660793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167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Clear v</a:t>
            </a:r>
            <a:r>
              <a:rPr lang="en-US" b="true" sz="2799" spc="167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isibility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53849" y="7623385"/>
            <a:ext cx="3660793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 spc="126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From request to result with full auditability.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408420" y="6742005"/>
            <a:ext cx="4608781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167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Open by default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408420" y="7623385"/>
            <a:ext cx="4608781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 spc="126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Connects to data and services through standard APIs.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42975" y="3168030"/>
            <a:ext cx="947761" cy="947761"/>
            <a:chOff x="0" y="0"/>
            <a:chExt cx="1263681" cy="1263681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263681" cy="1263681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955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80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354373" y="282379"/>
              <a:ext cx="554936" cy="63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 spc="167">
                  <a:solidFill>
                    <a:srgbClr val="F6F3EA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083498" y="3168030"/>
            <a:ext cx="947761" cy="947761"/>
            <a:chOff x="0" y="0"/>
            <a:chExt cx="1263681" cy="1263681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1263681" cy="1263681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9553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80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54373" y="282379"/>
              <a:ext cx="554936" cy="63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 spc="167">
                  <a:solidFill>
                    <a:srgbClr val="F6F3EA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3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2975" y="6546890"/>
            <a:ext cx="947761" cy="947761"/>
            <a:chOff x="0" y="0"/>
            <a:chExt cx="1263681" cy="1263681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263681" cy="1263681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9553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80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354373" y="282379"/>
              <a:ext cx="554936" cy="63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 spc="167">
                  <a:solidFill>
                    <a:srgbClr val="F6F3EA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083498" y="6546890"/>
            <a:ext cx="947761" cy="947761"/>
            <a:chOff x="0" y="0"/>
            <a:chExt cx="1263681" cy="1263681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1263681" cy="1263681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9553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80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354373" y="282379"/>
              <a:ext cx="554936" cy="63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 spc="167">
                  <a:solidFill>
                    <a:srgbClr val="F6F3EA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AutoShape 2" id="2"/>
          <p:cNvSpPr/>
          <p:nvPr/>
        </p:nvSpPr>
        <p:spPr>
          <a:xfrm flipH="true">
            <a:off x="15206662" y="0"/>
            <a:ext cx="0" cy="10287000"/>
          </a:xfrm>
          <a:prstGeom prst="line">
            <a:avLst/>
          </a:prstGeom>
          <a:ln cap="flat" w="9525">
            <a:solidFill>
              <a:srgbClr val="31220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42975" y="3528978"/>
            <a:ext cx="1822657" cy="1822657"/>
          </a:xfrm>
          <a:custGeom>
            <a:avLst/>
            <a:gdLst/>
            <a:ahLst/>
            <a:cxnLst/>
            <a:rect r="r" b="b" t="t" l="l"/>
            <a:pathLst>
              <a:path h="1822657" w="1822657">
                <a:moveTo>
                  <a:pt x="0" y="0"/>
                </a:moveTo>
                <a:lnTo>
                  <a:pt x="1822657" y="0"/>
                </a:lnTo>
                <a:lnTo>
                  <a:pt x="1822657" y="1822657"/>
                </a:lnTo>
                <a:lnTo>
                  <a:pt x="0" y="18226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639295" y="3528978"/>
            <a:ext cx="1822657" cy="1822657"/>
          </a:xfrm>
          <a:custGeom>
            <a:avLst/>
            <a:gdLst/>
            <a:ahLst/>
            <a:cxnLst/>
            <a:rect r="r" b="b" t="t" l="l"/>
            <a:pathLst>
              <a:path h="1822657" w="1822657">
                <a:moveTo>
                  <a:pt x="0" y="0"/>
                </a:moveTo>
                <a:lnTo>
                  <a:pt x="1822657" y="0"/>
                </a:lnTo>
                <a:lnTo>
                  <a:pt x="1822657" y="1822657"/>
                </a:lnTo>
                <a:lnTo>
                  <a:pt x="0" y="18226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35615" y="3195330"/>
            <a:ext cx="1954813" cy="2156305"/>
          </a:xfrm>
          <a:custGeom>
            <a:avLst/>
            <a:gdLst/>
            <a:ahLst/>
            <a:cxnLst/>
            <a:rect r="r" b="b" t="t" l="l"/>
            <a:pathLst>
              <a:path h="2156305" w="1954813">
                <a:moveTo>
                  <a:pt x="0" y="0"/>
                </a:moveTo>
                <a:lnTo>
                  <a:pt x="1954813" y="0"/>
                </a:lnTo>
                <a:lnTo>
                  <a:pt x="1954813" y="2156305"/>
                </a:lnTo>
                <a:lnTo>
                  <a:pt x="0" y="21563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42975" y="1079499"/>
            <a:ext cx="8919160" cy="915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8000" spc="-320" b="true">
                <a:solidFill>
                  <a:srgbClr val="31220C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Pr</a:t>
            </a:r>
            <a:r>
              <a:rPr lang="en-US" b="true" sz="8000" spc="-320">
                <a:solidFill>
                  <a:srgbClr val="31220C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oduct at a Glance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861068" y="8970010"/>
            <a:ext cx="176776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 spc="420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861068" y="907856"/>
            <a:ext cx="1767765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Ingoude Company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2975" y="6275560"/>
            <a:ext cx="334386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167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</a:t>
            </a:r>
            <a:r>
              <a:rPr lang="en-US" b="true" sz="2799" spc="167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esign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2975" y="7156940"/>
            <a:ext cx="3343860" cy="139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 spc="126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Drag‑and‑drop builder for forms, rules, and steps.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39295" y="6275560"/>
            <a:ext cx="334386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167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Automat</a:t>
            </a:r>
            <a:r>
              <a:rPr lang="en-US" b="true" sz="2799" spc="167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39295" y="7156940"/>
            <a:ext cx="3343860" cy="139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 spc="126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AI assists with classification, extraction, and routing.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35615" y="6275560"/>
            <a:ext cx="334386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167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</a:t>
            </a:r>
            <a:r>
              <a:rPr lang="en-US" b="true" sz="2799" spc="167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easure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35615" y="7156940"/>
            <a:ext cx="3343860" cy="139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 spc="126">
                <a:solidFill>
                  <a:srgbClr val="31220C"/>
                </a:solidFill>
                <a:latin typeface="Open Sauce"/>
                <a:ea typeface="Open Sauce"/>
                <a:cs typeface="Open Sauce"/>
                <a:sym typeface="Open Sauce"/>
              </a:rPr>
              <a:t>Live dashboards, audit history, and outcome tracking.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DAHHksBbcXE</dc:identifier>
  <dcterms:modified xsi:type="dcterms:W3CDTF">2011-08-01T06:04:30Z</dcterms:modified>
  <cp:revision>1</cp:revision>
  <dc:title>Beige and Brown Plain Minimalist Modern Company Pitch Deck Presentation</dc:title>
</cp:coreProperties>
</file>