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Tex Gyre Termes Bold" charset="1" panose="00000800000000000000"/>
      <p:regular r:id="rId17"/>
    </p:embeddedFont>
    <p:embeddedFont>
      <p:font typeface="Open Sauce" charset="1" panose="00000500000000000000"/>
      <p:regular r:id="rId18"/>
    </p:embeddedFont>
    <p:embeddedFont>
      <p:font typeface="Open Sauce Bold" charset="1" panose="000008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image9.jpeg" Type="http://schemas.openxmlformats.org/officeDocument/2006/relationships/image"/><Relationship Id="rId4" Target="../media/image1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12.jpeg" Type="http://schemas.openxmlformats.org/officeDocument/2006/relationships/image"/><Relationship Id="rId4" Target="../media/image13.jpeg" Type="http://schemas.openxmlformats.org/officeDocument/2006/relationships/image"/><Relationship Id="rId5" Target="../media/image1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6F3EA"/>
        </a:solidFill>
      </p:bgPr>
    </p:bg>
    <p:spTree>
      <p:nvGrpSpPr>
        <p:cNvPr id="1" name=""/>
        <p:cNvGrpSpPr/>
        <p:nvPr/>
      </p:nvGrpSpPr>
      <p:grpSpPr>
        <a:xfrm>
          <a:off x="0" y="0"/>
          <a:ext cx="0" cy="0"/>
          <a:chOff x="0" y="0"/>
          <a:chExt cx="0" cy="0"/>
        </a:xfrm>
      </p:grpSpPr>
      <p:sp>
        <p:nvSpPr>
          <p:cNvPr name="TextBox 2" id="2"/>
          <p:cNvSpPr txBox="true"/>
          <p:nvPr/>
        </p:nvSpPr>
        <p:spPr>
          <a:xfrm rot="0">
            <a:off x="942975" y="895350"/>
            <a:ext cx="6386155" cy="3451224"/>
          </a:xfrm>
          <a:prstGeom prst="rect">
            <a:avLst/>
          </a:prstGeom>
        </p:spPr>
        <p:txBody>
          <a:bodyPr anchor="t" rtlCol="false" tIns="0" lIns="0" bIns="0" rIns="0">
            <a:spAutoFit/>
          </a:bodyPr>
          <a:lstStyle/>
          <a:p>
            <a:pPr algn="l">
              <a:lnSpc>
                <a:spcPts val="12799"/>
              </a:lnSpc>
            </a:pPr>
            <a:r>
              <a:rPr lang="en-US" b="true" sz="15999" spc="-639">
                <a:solidFill>
                  <a:srgbClr val="31220C"/>
                </a:solidFill>
                <a:latin typeface="Tex Gyre Termes Bold"/>
                <a:ea typeface="Tex Gyre Termes Bold"/>
                <a:cs typeface="Tex Gyre Termes Bold"/>
                <a:sym typeface="Tex Gyre Termes Bold"/>
              </a:rPr>
              <a:t>Pitch Deck</a:t>
            </a:r>
          </a:p>
        </p:txBody>
      </p:sp>
      <p:sp>
        <p:nvSpPr>
          <p:cNvPr name="TextBox 3" id="3"/>
          <p:cNvSpPr txBox="true"/>
          <p:nvPr/>
        </p:nvSpPr>
        <p:spPr>
          <a:xfrm rot="0">
            <a:off x="942975" y="4557743"/>
            <a:ext cx="10041539" cy="490855"/>
          </a:xfrm>
          <a:prstGeom prst="rect">
            <a:avLst/>
          </a:prstGeom>
        </p:spPr>
        <p:txBody>
          <a:bodyPr anchor="t" rtlCol="false" tIns="0" lIns="0" bIns="0" rIns="0">
            <a:spAutoFit/>
          </a:bodyPr>
          <a:lstStyle/>
          <a:p>
            <a:pPr algn="l">
              <a:lnSpc>
                <a:spcPts val="3919"/>
              </a:lnSpc>
              <a:spcBef>
                <a:spcPct val="0"/>
              </a:spcBef>
            </a:pPr>
            <a:r>
              <a:rPr lang="en-US" sz="2799" spc="167">
                <a:solidFill>
                  <a:srgbClr val="31220C"/>
                </a:solidFill>
                <a:latin typeface="Open Sauce"/>
                <a:ea typeface="Open Sauce"/>
                <a:cs typeface="Open Sauce"/>
                <a:sym typeface="Open Sauce"/>
              </a:rPr>
              <a:t>AI‑Powered Workflow Automation Platform</a:t>
            </a:r>
          </a:p>
        </p:txBody>
      </p:sp>
      <p:sp>
        <p:nvSpPr>
          <p:cNvPr name="TextBox 4" id="4"/>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2026</a:t>
            </a:r>
          </a:p>
        </p:txBody>
      </p:sp>
      <p:sp>
        <p:nvSpPr>
          <p:cNvPr name="TextBox 5" id="5"/>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TextBox 6" id="6"/>
          <p:cNvSpPr txBox="true"/>
          <p:nvPr/>
        </p:nvSpPr>
        <p:spPr>
          <a:xfrm rot="0">
            <a:off x="942975" y="8916987"/>
            <a:ext cx="10041539" cy="365760"/>
          </a:xfrm>
          <a:prstGeom prst="rect">
            <a:avLst/>
          </a:prstGeom>
        </p:spPr>
        <p:txBody>
          <a:bodyPr anchor="t" rtlCol="false" tIns="0" lIns="0" bIns="0" rIns="0">
            <a:spAutoFit/>
          </a:bodyPr>
          <a:lstStyle/>
          <a:p>
            <a:pPr algn="just" marL="0" indent="0" lvl="0">
              <a:lnSpc>
                <a:spcPts val="2940"/>
              </a:lnSpc>
              <a:spcBef>
                <a:spcPct val="0"/>
              </a:spcBef>
            </a:pPr>
            <a:r>
              <a:rPr lang="en-US" b="true" sz="2100" spc="420">
                <a:solidFill>
                  <a:srgbClr val="31220C"/>
                </a:solidFill>
                <a:latin typeface="Open Sauce Bold"/>
                <a:ea typeface="Open Sauce Bold"/>
                <a:cs typeface="Open Sauce Bold"/>
                <a:sym typeface="Open Sauce Bold"/>
              </a:rPr>
              <a:t>Morga</a:t>
            </a:r>
            <a:r>
              <a:rPr lang="en-US" b="true" sz="2100" spc="420">
                <a:solidFill>
                  <a:srgbClr val="31220C"/>
                </a:solidFill>
                <a:latin typeface="Open Sauce Bold"/>
                <a:ea typeface="Open Sauce Bold"/>
                <a:cs typeface="Open Sauce Bold"/>
                <a:sym typeface="Open Sauce Bold"/>
              </a:rPr>
              <a:t>N</a:t>
            </a:r>
            <a:r>
              <a:rPr lang="en-US" b="true" sz="2100" spc="420" strike="noStrike" u="none">
                <a:solidFill>
                  <a:srgbClr val="31220C"/>
                </a:solidFill>
                <a:latin typeface="Open Sauce Bold"/>
                <a:ea typeface="Open Sauce Bold"/>
                <a:cs typeface="Open Sauce Bold"/>
                <a:sym typeface="Open Sauce Bold"/>
              </a:rPr>
              <a:t> </a:t>
            </a:r>
            <a:r>
              <a:rPr lang="en-US" b="true" sz="2100" spc="420" strike="noStrike" u="none">
                <a:solidFill>
                  <a:srgbClr val="31220C"/>
                </a:solidFill>
                <a:latin typeface="Open Sauce Bold"/>
                <a:ea typeface="Open Sauce Bold"/>
                <a:cs typeface="Open Sauce Bold"/>
                <a:sym typeface="Open Sauce Bold"/>
              </a:rPr>
              <a:t>M</a:t>
            </a:r>
            <a:r>
              <a:rPr lang="en-US" b="true" sz="2100" spc="420" strike="noStrike" u="none">
                <a:solidFill>
                  <a:srgbClr val="31220C"/>
                </a:solidFill>
                <a:latin typeface="Open Sauce Bold"/>
                <a:ea typeface="Open Sauce Bold"/>
                <a:cs typeface="Open Sauce Bold"/>
                <a:sym typeface="Open Sauce Bold"/>
              </a:rPr>
              <a:t>AXWELL</a:t>
            </a:r>
          </a:p>
        </p:txBody>
      </p:sp>
      <p:sp>
        <p:nvSpPr>
          <p:cNvPr name="AutoShape 7" id="7"/>
          <p:cNvSpPr/>
          <p:nvPr/>
        </p:nvSpPr>
        <p:spPr>
          <a:xfrm flipH="true">
            <a:off x="15206662" y="0"/>
            <a:ext cx="0" cy="10287000"/>
          </a:xfrm>
          <a:prstGeom prst="line">
            <a:avLst/>
          </a:prstGeom>
          <a:ln cap="flat" w="9525">
            <a:solidFill>
              <a:srgbClr val="31220C"/>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p:cSld>
    <p:bg>
      <p:bgPr>
        <a:solidFill>
          <a:srgbClr val="F6F3EA"/>
        </a:solidFill>
      </p:bgPr>
    </p:bg>
    <p:spTree>
      <p:nvGrpSpPr>
        <p:cNvPr id="1" name=""/>
        <p:cNvGrpSpPr/>
        <p:nvPr/>
      </p:nvGrpSpPr>
      <p:grpSpPr>
        <a:xfrm>
          <a:off x="0" y="0"/>
          <a:ext cx="0" cy="0"/>
          <a:chOff x="0" y="0"/>
          <a:chExt cx="0" cy="0"/>
        </a:xfrm>
      </p:grpSpPr>
      <p:sp>
        <p:nvSpPr>
          <p:cNvPr name="TextBox 2" id="2"/>
          <p:cNvSpPr txBox="true"/>
          <p:nvPr/>
        </p:nvSpPr>
        <p:spPr>
          <a:xfrm rot="0">
            <a:off x="942975" y="1079499"/>
            <a:ext cx="6386155" cy="915989"/>
          </a:xfrm>
          <a:prstGeom prst="rect">
            <a:avLst/>
          </a:prstGeom>
        </p:spPr>
        <p:txBody>
          <a:bodyPr anchor="t" rtlCol="false" tIns="0" lIns="0" bIns="0" rIns="0">
            <a:spAutoFit/>
          </a:bodyPr>
          <a:lstStyle/>
          <a:p>
            <a:pPr algn="l">
              <a:lnSpc>
                <a:spcPts val="6400"/>
              </a:lnSpc>
            </a:pPr>
            <a:r>
              <a:rPr lang="en-US" sz="8000" spc="-320" b="true">
                <a:solidFill>
                  <a:srgbClr val="31220C"/>
                </a:solidFill>
                <a:latin typeface="Tex Gyre Termes Bold"/>
                <a:ea typeface="Tex Gyre Termes Bold"/>
                <a:cs typeface="Tex Gyre Termes Bold"/>
                <a:sym typeface="Tex Gyre Termes Bold"/>
              </a:rPr>
              <a:t>T</a:t>
            </a:r>
            <a:r>
              <a:rPr lang="en-US" b="true" sz="8000" spc="-320">
                <a:solidFill>
                  <a:srgbClr val="31220C"/>
                </a:solidFill>
                <a:latin typeface="Tex Gyre Termes Bold"/>
                <a:ea typeface="Tex Gyre Termes Bold"/>
                <a:cs typeface="Tex Gyre Termes Bold"/>
                <a:sym typeface="Tex Gyre Termes Bold"/>
              </a:rPr>
              <a:t>he Problem</a:t>
            </a:r>
          </a:p>
        </p:txBody>
      </p:sp>
      <p:sp>
        <p:nvSpPr>
          <p:cNvPr name="TextBox 3" id="3"/>
          <p:cNvSpPr txBox="true"/>
          <p:nvPr/>
        </p:nvSpPr>
        <p:spPr>
          <a:xfrm rot="0">
            <a:off x="942975" y="2921032"/>
            <a:ext cx="10041539" cy="19767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Organizati</a:t>
            </a:r>
            <a:r>
              <a:rPr lang="en-US" b="true" sz="2799" spc="167">
                <a:solidFill>
                  <a:srgbClr val="31220C"/>
                </a:solidFill>
                <a:latin typeface="Open Sauce Bold"/>
                <a:ea typeface="Open Sauce Bold"/>
                <a:cs typeface="Open Sauce Bold"/>
                <a:sym typeface="Open Sauce Bold"/>
              </a:rPr>
              <a:t>ons rely on scattered tools and manual processes that slow decisions, create inconsistent customer experiences, and increase operating risk. </a:t>
            </a:r>
          </a:p>
        </p:txBody>
      </p:sp>
      <p:sp>
        <p:nvSpPr>
          <p:cNvPr name="TextBox 4" id="4"/>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2</a:t>
            </a:r>
          </a:p>
        </p:txBody>
      </p:sp>
      <p:sp>
        <p:nvSpPr>
          <p:cNvPr name="TextBox 5" id="5"/>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AutoShape 6" id="6"/>
          <p:cNvSpPr/>
          <p:nvPr/>
        </p:nvSpPr>
        <p:spPr>
          <a:xfrm flipH="true">
            <a:off x="15206662" y="0"/>
            <a:ext cx="0" cy="10287000"/>
          </a:xfrm>
          <a:prstGeom prst="line">
            <a:avLst/>
          </a:prstGeom>
          <a:ln cap="flat" w="9525">
            <a:solidFill>
              <a:srgbClr val="31220C"/>
            </a:solidFill>
            <a:prstDash val="solid"/>
            <a:headEnd type="none" len="sm" w="sm"/>
            <a:tailEnd type="none" len="sm" w="sm"/>
          </a:ln>
        </p:spPr>
      </p:sp>
      <p:sp>
        <p:nvSpPr>
          <p:cNvPr name="TextBox 7" id="7"/>
          <p:cNvSpPr txBox="true"/>
          <p:nvPr/>
        </p:nvSpPr>
        <p:spPr>
          <a:xfrm rot="0">
            <a:off x="942975" y="5288312"/>
            <a:ext cx="10041539" cy="186880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Teams re‑enter data, manage appr</a:t>
            </a:r>
            <a:r>
              <a:rPr lang="en-US" sz="2100" spc="126">
                <a:solidFill>
                  <a:srgbClr val="31220C"/>
                </a:solidFill>
                <a:latin typeface="Open Sauce"/>
                <a:ea typeface="Open Sauce"/>
                <a:cs typeface="Open Sauce"/>
                <a:sym typeface="Open Sauce"/>
              </a:rPr>
              <a:t>ovals by email, and struggle to surface insights quickly. Leaders need a dependable way to orchestrate workflows across departments while keeping quality high and costs predictable.</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F6F3EA"/>
        </a:solidFill>
      </p:bgPr>
    </p:bg>
    <p:spTree>
      <p:nvGrpSpPr>
        <p:cNvPr id="1" name=""/>
        <p:cNvGrpSpPr/>
        <p:nvPr/>
      </p:nvGrpSpPr>
      <p:grpSpPr>
        <a:xfrm>
          <a:off x="0" y="0"/>
          <a:ext cx="0" cy="0"/>
          <a:chOff x="0" y="0"/>
          <a:chExt cx="0" cy="0"/>
        </a:xfrm>
      </p:grpSpPr>
      <p:sp>
        <p:nvSpPr>
          <p:cNvPr name="TextBox 2" id="2"/>
          <p:cNvSpPr txBox="true"/>
          <p:nvPr/>
        </p:nvSpPr>
        <p:spPr>
          <a:xfrm rot="0">
            <a:off x="942975" y="1079499"/>
            <a:ext cx="6386155" cy="915989"/>
          </a:xfrm>
          <a:prstGeom prst="rect">
            <a:avLst/>
          </a:prstGeom>
        </p:spPr>
        <p:txBody>
          <a:bodyPr anchor="t" rtlCol="false" tIns="0" lIns="0" bIns="0" rIns="0">
            <a:spAutoFit/>
          </a:bodyPr>
          <a:lstStyle/>
          <a:p>
            <a:pPr algn="l">
              <a:lnSpc>
                <a:spcPts val="6400"/>
              </a:lnSpc>
            </a:pPr>
            <a:r>
              <a:rPr lang="en-US" sz="8000" spc="-320" b="true">
                <a:solidFill>
                  <a:srgbClr val="31220C"/>
                </a:solidFill>
                <a:latin typeface="Tex Gyre Termes Bold"/>
                <a:ea typeface="Tex Gyre Termes Bold"/>
                <a:cs typeface="Tex Gyre Termes Bold"/>
                <a:sym typeface="Tex Gyre Termes Bold"/>
              </a:rPr>
              <a:t>Our</a:t>
            </a:r>
            <a:r>
              <a:rPr lang="en-US" b="true" sz="8000" spc="-320">
                <a:solidFill>
                  <a:srgbClr val="31220C"/>
                </a:solidFill>
                <a:latin typeface="Tex Gyre Termes Bold"/>
                <a:ea typeface="Tex Gyre Termes Bold"/>
                <a:cs typeface="Tex Gyre Termes Bold"/>
                <a:sym typeface="Tex Gyre Termes Bold"/>
              </a:rPr>
              <a:t> Solution</a:t>
            </a:r>
          </a:p>
        </p:txBody>
      </p:sp>
      <p:sp>
        <p:nvSpPr>
          <p:cNvPr name="TextBox 3" id="3"/>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3</a:t>
            </a:r>
          </a:p>
        </p:txBody>
      </p:sp>
      <p:sp>
        <p:nvSpPr>
          <p:cNvPr name="TextBox 4" id="4"/>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AutoShape 5" id="5"/>
          <p:cNvSpPr/>
          <p:nvPr/>
        </p:nvSpPr>
        <p:spPr>
          <a:xfrm flipH="true">
            <a:off x="15206662" y="0"/>
            <a:ext cx="0" cy="10287000"/>
          </a:xfrm>
          <a:prstGeom prst="line">
            <a:avLst/>
          </a:prstGeom>
          <a:ln cap="flat" w="9525">
            <a:solidFill>
              <a:srgbClr val="31220C"/>
            </a:solidFill>
            <a:prstDash val="solid"/>
            <a:headEnd type="none" len="sm" w="sm"/>
            <a:tailEnd type="none" len="sm" w="sm"/>
          </a:ln>
        </p:spPr>
      </p:sp>
      <p:sp>
        <p:nvSpPr>
          <p:cNvPr name="TextBox 6" id="6"/>
          <p:cNvSpPr txBox="true"/>
          <p:nvPr/>
        </p:nvSpPr>
        <p:spPr>
          <a:xfrm rot="0">
            <a:off x="942975" y="2921032"/>
            <a:ext cx="10041539"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Unifi</a:t>
            </a:r>
            <a:r>
              <a:rPr lang="en-US" b="true" sz="2799" spc="167">
                <a:solidFill>
                  <a:srgbClr val="31220C"/>
                </a:solidFill>
                <a:latin typeface="Open Sauce Bold"/>
                <a:ea typeface="Open Sauce Bold"/>
                <a:cs typeface="Open Sauce Bold"/>
                <a:sym typeface="Open Sauce Bold"/>
              </a:rPr>
              <a:t>ed Automation &amp; Experience Platform</a:t>
            </a:r>
          </a:p>
        </p:txBody>
      </p:sp>
      <p:sp>
        <p:nvSpPr>
          <p:cNvPr name="TextBox 7" id="7"/>
          <p:cNvSpPr txBox="true"/>
          <p:nvPr/>
        </p:nvSpPr>
        <p:spPr>
          <a:xfrm rot="0">
            <a:off x="942975" y="3659537"/>
            <a:ext cx="10041539" cy="2586990"/>
          </a:xfrm>
          <a:prstGeom prst="rect">
            <a:avLst/>
          </a:prstGeom>
        </p:spPr>
        <p:txBody>
          <a:bodyPr anchor="t" rtlCol="false" tIns="0" lIns="0" bIns="0" rIns="0">
            <a:spAutoFit/>
          </a:bodyPr>
          <a:lstStyle/>
          <a:p>
            <a:pPr algn="l" marL="453390" indent="-226695" lvl="1">
              <a:lnSpc>
                <a:spcPts val="5250"/>
              </a:lnSpc>
              <a:buFont typeface="Arial"/>
              <a:buChar char="•"/>
            </a:pPr>
            <a:r>
              <a:rPr lang="en-US" sz="2100" spc="126">
                <a:solidFill>
                  <a:srgbClr val="31220C"/>
                </a:solidFill>
                <a:latin typeface="Open Sauce"/>
                <a:ea typeface="Open Sauce"/>
                <a:cs typeface="Open Sauce"/>
                <a:sym typeface="Open Sauce"/>
              </a:rPr>
              <a:t>Bu</a:t>
            </a:r>
            <a:r>
              <a:rPr lang="en-US" sz="2100" spc="126">
                <a:solidFill>
                  <a:srgbClr val="31220C"/>
                </a:solidFill>
                <a:latin typeface="Open Sauce"/>
                <a:ea typeface="Open Sauce"/>
                <a:cs typeface="Open Sauce"/>
                <a:sym typeface="Open Sauce"/>
              </a:rPr>
              <a:t>ild workflows visually and standardize best practices</a:t>
            </a:r>
          </a:p>
          <a:p>
            <a:pPr algn="l" marL="453390" indent="-226695" lvl="1">
              <a:lnSpc>
                <a:spcPts val="5250"/>
              </a:lnSpc>
              <a:buFont typeface="Arial"/>
              <a:buChar char="•"/>
            </a:pPr>
            <a:r>
              <a:rPr lang="en-US" sz="2100" spc="126">
                <a:solidFill>
                  <a:srgbClr val="31220C"/>
                </a:solidFill>
                <a:latin typeface="Open Sauce"/>
                <a:ea typeface="Open Sauce"/>
                <a:cs typeface="Open Sauce"/>
                <a:sym typeface="Open Sauce"/>
              </a:rPr>
              <a:t>Integrate with existing systems through connectors and APIs</a:t>
            </a:r>
          </a:p>
          <a:p>
            <a:pPr algn="l" marL="453390" indent="-226695" lvl="1">
              <a:lnSpc>
                <a:spcPts val="5250"/>
              </a:lnSpc>
              <a:buFont typeface="Arial"/>
              <a:buChar char="•"/>
            </a:pPr>
            <a:r>
              <a:rPr lang="en-US" sz="2100" spc="126">
                <a:solidFill>
                  <a:srgbClr val="31220C"/>
                </a:solidFill>
                <a:latin typeface="Open Sauce"/>
                <a:ea typeface="Open Sauce"/>
                <a:cs typeface="Open Sauce"/>
                <a:sym typeface="Open Sauce"/>
              </a:rPr>
              <a:t>Apply responsible AI to classify, route, and summarize work</a:t>
            </a:r>
          </a:p>
          <a:p>
            <a:pPr algn="l" marL="453390" indent="-226695" lvl="1">
              <a:lnSpc>
                <a:spcPts val="5250"/>
              </a:lnSpc>
              <a:buFont typeface="Arial"/>
              <a:buChar char="•"/>
            </a:pPr>
            <a:r>
              <a:rPr lang="en-US" sz="2100" spc="126">
                <a:solidFill>
                  <a:srgbClr val="31220C"/>
                </a:solidFill>
                <a:latin typeface="Open Sauce"/>
                <a:ea typeface="Open Sauce"/>
                <a:cs typeface="Open Sauce"/>
                <a:sym typeface="Open Sauce"/>
              </a:rPr>
              <a:t>Provide role‑based dashboards for operators and leaders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6F3EA"/>
        </a:solidFill>
      </p:bgPr>
    </p:bg>
    <p:spTree>
      <p:nvGrpSpPr>
        <p:cNvPr id="1" name=""/>
        <p:cNvGrpSpPr/>
        <p:nvPr/>
      </p:nvGrpSpPr>
      <p:grpSpPr>
        <a:xfrm>
          <a:off x="0" y="0"/>
          <a:ext cx="0" cy="0"/>
          <a:chOff x="0" y="0"/>
          <a:chExt cx="0" cy="0"/>
        </a:xfrm>
      </p:grpSpPr>
      <p:sp>
        <p:nvSpPr>
          <p:cNvPr name="AutoShape 2" id="2"/>
          <p:cNvSpPr/>
          <p:nvPr/>
        </p:nvSpPr>
        <p:spPr>
          <a:xfrm flipH="true">
            <a:off x="15206662" y="0"/>
            <a:ext cx="0" cy="10287000"/>
          </a:xfrm>
          <a:prstGeom prst="line">
            <a:avLst/>
          </a:prstGeom>
          <a:ln cap="flat" w="9525">
            <a:solidFill>
              <a:srgbClr val="31220C"/>
            </a:solidFill>
            <a:prstDash val="solid"/>
            <a:headEnd type="none" len="sm" w="sm"/>
            <a:tailEnd type="none" len="sm" w="sm"/>
          </a:ln>
        </p:spPr>
      </p:sp>
      <p:sp>
        <p:nvSpPr>
          <p:cNvPr name="Freeform 3" id="3"/>
          <p:cNvSpPr/>
          <p:nvPr/>
        </p:nvSpPr>
        <p:spPr>
          <a:xfrm flipH="false" flipV="false" rot="0">
            <a:off x="942975" y="3528978"/>
            <a:ext cx="1822657" cy="1822657"/>
          </a:xfrm>
          <a:custGeom>
            <a:avLst/>
            <a:gdLst/>
            <a:ahLst/>
            <a:cxnLst/>
            <a:rect r="r" b="b" t="t" l="l"/>
            <a:pathLst>
              <a:path h="1822657" w="1822657">
                <a:moveTo>
                  <a:pt x="0" y="0"/>
                </a:moveTo>
                <a:lnTo>
                  <a:pt x="1822657" y="0"/>
                </a:lnTo>
                <a:lnTo>
                  <a:pt x="1822657" y="1822657"/>
                </a:lnTo>
                <a:lnTo>
                  <a:pt x="0" y="182265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639295" y="3528978"/>
            <a:ext cx="1822657" cy="1822657"/>
          </a:xfrm>
          <a:custGeom>
            <a:avLst/>
            <a:gdLst/>
            <a:ahLst/>
            <a:cxnLst/>
            <a:rect r="r" b="b" t="t" l="l"/>
            <a:pathLst>
              <a:path h="1822657" w="1822657">
                <a:moveTo>
                  <a:pt x="0" y="0"/>
                </a:moveTo>
                <a:lnTo>
                  <a:pt x="1822657" y="0"/>
                </a:lnTo>
                <a:lnTo>
                  <a:pt x="1822657" y="1822657"/>
                </a:lnTo>
                <a:lnTo>
                  <a:pt x="0" y="18226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335615" y="3195330"/>
            <a:ext cx="1954813" cy="2156305"/>
          </a:xfrm>
          <a:custGeom>
            <a:avLst/>
            <a:gdLst/>
            <a:ahLst/>
            <a:cxnLst/>
            <a:rect r="r" b="b" t="t" l="l"/>
            <a:pathLst>
              <a:path h="2156305" w="1954813">
                <a:moveTo>
                  <a:pt x="0" y="0"/>
                </a:moveTo>
                <a:lnTo>
                  <a:pt x="1954813" y="0"/>
                </a:lnTo>
                <a:lnTo>
                  <a:pt x="1954813" y="2156305"/>
                </a:lnTo>
                <a:lnTo>
                  <a:pt x="0" y="215630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942975" y="1079499"/>
            <a:ext cx="8919160" cy="915989"/>
          </a:xfrm>
          <a:prstGeom prst="rect">
            <a:avLst/>
          </a:prstGeom>
        </p:spPr>
        <p:txBody>
          <a:bodyPr anchor="t" rtlCol="false" tIns="0" lIns="0" bIns="0" rIns="0">
            <a:spAutoFit/>
          </a:bodyPr>
          <a:lstStyle/>
          <a:p>
            <a:pPr algn="l">
              <a:lnSpc>
                <a:spcPts val="6400"/>
              </a:lnSpc>
            </a:pPr>
            <a:r>
              <a:rPr lang="en-US" sz="8000" spc="-320" b="true">
                <a:solidFill>
                  <a:srgbClr val="31220C"/>
                </a:solidFill>
                <a:latin typeface="Tex Gyre Termes Bold"/>
                <a:ea typeface="Tex Gyre Termes Bold"/>
                <a:cs typeface="Tex Gyre Termes Bold"/>
                <a:sym typeface="Tex Gyre Termes Bold"/>
              </a:rPr>
              <a:t>Pr</a:t>
            </a:r>
            <a:r>
              <a:rPr lang="en-US" b="true" sz="8000" spc="-320">
                <a:solidFill>
                  <a:srgbClr val="31220C"/>
                </a:solidFill>
                <a:latin typeface="Tex Gyre Termes Bold"/>
                <a:ea typeface="Tex Gyre Termes Bold"/>
                <a:cs typeface="Tex Gyre Termes Bold"/>
                <a:sym typeface="Tex Gyre Termes Bold"/>
              </a:rPr>
              <a:t>oduct at a Glance</a:t>
            </a:r>
          </a:p>
        </p:txBody>
      </p:sp>
      <p:sp>
        <p:nvSpPr>
          <p:cNvPr name="TextBox 7" id="7"/>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4</a:t>
            </a:r>
          </a:p>
        </p:txBody>
      </p:sp>
      <p:sp>
        <p:nvSpPr>
          <p:cNvPr name="TextBox 8" id="8"/>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TextBox 9" id="9"/>
          <p:cNvSpPr txBox="true"/>
          <p:nvPr/>
        </p:nvSpPr>
        <p:spPr>
          <a:xfrm rot="0">
            <a:off x="942975" y="6275560"/>
            <a:ext cx="3343860"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D</a:t>
            </a:r>
            <a:r>
              <a:rPr lang="en-US" b="true" sz="2799" spc="167">
                <a:solidFill>
                  <a:srgbClr val="31220C"/>
                </a:solidFill>
                <a:latin typeface="Open Sauce Bold"/>
                <a:ea typeface="Open Sauce Bold"/>
                <a:cs typeface="Open Sauce Bold"/>
                <a:sym typeface="Open Sauce Bold"/>
              </a:rPr>
              <a:t>esign</a:t>
            </a:r>
          </a:p>
        </p:txBody>
      </p:sp>
      <p:sp>
        <p:nvSpPr>
          <p:cNvPr name="TextBox 10" id="10"/>
          <p:cNvSpPr txBox="true"/>
          <p:nvPr/>
        </p:nvSpPr>
        <p:spPr>
          <a:xfrm rot="0">
            <a:off x="942975" y="7156940"/>
            <a:ext cx="3343860" cy="139255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Drag‑and‑drop builder for forms, rules, and steps.</a:t>
            </a:r>
          </a:p>
        </p:txBody>
      </p:sp>
      <p:sp>
        <p:nvSpPr>
          <p:cNvPr name="TextBox 11" id="11"/>
          <p:cNvSpPr txBox="true"/>
          <p:nvPr/>
        </p:nvSpPr>
        <p:spPr>
          <a:xfrm rot="0">
            <a:off x="5639295" y="6275560"/>
            <a:ext cx="3343860"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Automat</a:t>
            </a:r>
            <a:r>
              <a:rPr lang="en-US" b="true" sz="2799" spc="167">
                <a:solidFill>
                  <a:srgbClr val="31220C"/>
                </a:solidFill>
                <a:latin typeface="Open Sauce Bold"/>
                <a:ea typeface="Open Sauce Bold"/>
                <a:cs typeface="Open Sauce Bold"/>
                <a:sym typeface="Open Sauce Bold"/>
              </a:rPr>
              <a:t>e</a:t>
            </a:r>
          </a:p>
        </p:txBody>
      </p:sp>
      <p:sp>
        <p:nvSpPr>
          <p:cNvPr name="TextBox 12" id="12"/>
          <p:cNvSpPr txBox="true"/>
          <p:nvPr/>
        </p:nvSpPr>
        <p:spPr>
          <a:xfrm rot="0">
            <a:off x="5639295" y="7156940"/>
            <a:ext cx="3343860" cy="139255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AI assists with classification, extraction, and routing.</a:t>
            </a:r>
          </a:p>
        </p:txBody>
      </p:sp>
      <p:sp>
        <p:nvSpPr>
          <p:cNvPr name="TextBox 13" id="13"/>
          <p:cNvSpPr txBox="true"/>
          <p:nvPr/>
        </p:nvSpPr>
        <p:spPr>
          <a:xfrm rot="0">
            <a:off x="10335615" y="6275560"/>
            <a:ext cx="3343860"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M</a:t>
            </a:r>
            <a:r>
              <a:rPr lang="en-US" b="true" sz="2799" spc="167">
                <a:solidFill>
                  <a:srgbClr val="31220C"/>
                </a:solidFill>
                <a:latin typeface="Open Sauce Bold"/>
                <a:ea typeface="Open Sauce Bold"/>
                <a:cs typeface="Open Sauce Bold"/>
                <a:sym typeface="Open Sauce Bold"/>
              </a:rPr>
              <a:t>easure</a:t>
            </a:r>
          </a:p>
        </p:txBody>
      </p:sp>
      <p:sp>
        <p:nvSpPr>
          <p:cNvPr name="TextBox 14" id="14"/>
          <p:cNvSpPr txBox="true"/>
          <p:nvPr/>
        </p:nvSpPr>
        <p:spPr>
          <a:xfrm rot="0">
            <a:off x="10335615" y="7156940"/>
            <a:ext cx="3343860" cy="139255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Live dashboards, audit history, and outcome tracking.</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6F3EA"/>
        </a:solidFill>
      </p:bgPr>
    </p:bg>
    <p:spTree>
      <p:nvGrpSpPr>
        <p:cNvPr id="1" name=""/>
        <p:cNvGrpSpPr/>
        <p:nvPr/>
      </p:nvGrpSpPr>
      <p:grpSpPr>
        <a:xfrm>
          <a:off x="0" y="0"/>
          <a:ext cx="0" cy="0"/>
          <a:chOff x="0" y="0"/>
          <a:chExt cx="0" cy="0"/>
        </a:xfrm>
      </p:grpSpPr>
      <p:sp>
        <p:nvSpPr>
          <p:cNvPr name="AutoShape 2" id="2"/>
          <p:cNvSpPr/>
          <p:nvPr/>
        </p:nvSpPr>
        <p:spPr>
          <a:xfrm flipH="true">
            <a:off x="15206662" y="0"/>
            <a:ext cx="0" cy="10287000"/>
          </a:xfrm>
          <a:prstGeom prst="line">
            <a:avLst/>
          </a:prstGeom>
          <a:ln cap="flat" w="9525">
            <a:solidFill>
              <a:srgbClr val="31220C"/>
            </a:solidFill>
            <a:prstDash val="solid"/>
            <a:headEnd type="none" len="sm" w="sm"/>
            <a:tailEnd type="none" len="sm" w="sm"/>
          </a:ln>
        </p:spPr>
      </p:sp>
      <p:sp>
        <p:nvSpPr>
          <p:cNvPr name="TextBox 3" id="3"/>
          <p:cNvSpPr txBox="true"/>
          <p:nvPr/>
        </p:nvSpPr>
        <p:spPr>
          <a:xfrm rot="0">
            <a:off x="942975" y="1079499"/>
            <a:ext cx="8919160" cy="915989"/>
          </a:xfrm>
          <a:prstGeom prst="rect">
            <a:avLst/>
          </a:prstGeom>
        </p:spPr>
        <p:txBody>
          <a:bodyPr anchor="t" rtlCol="false" tIns="0" lIns="0" bIns="0" rIns="0">
            <a:spAutoFit/>
          </a:bodyPr>
          <a:lstStyle/>
          <a:p>
            <a:pPr algn="l">
              <a:lnSpc>
                <a:spcPts val="6400"/>
              </a:lnSpc>
            </a:pPr>
            <a:r>
              <a:rPr lang="en-US" sz="8000" spc="-320" b="true">
                <a:solidFill>
                  <a:srgbClr val="31220C"/>
                </a:solidFill>
                <a:latin typeface="Tex Gyre Termes Bold"/>
                <a:ea typeface="Tex Gyre Termes Bold"/>
                <a:cs typeface="Tex Gyre Termes Bold"/>
                <a:sym typeface="Tex Gyre Termes Bold"/>
              </a:rPr>
              <a:t>H</a:t>
            </a:r>
            <a:r>
              <a:rPr lang="en-US" b="true" sz="8000" spc="-320">
                <a:solidFill>
                  <a:srgbClr val="31220C"/>
                </a:solidFill>
                <a:latin typeface="Tex Gyre Termes Bold"/>
                <a:ea typeface="Tex Gyre Termes Bold"/>
                <a:cs typeface="Tex Gyre Termes Bold"/>
                <a:sym typeface="Tex Gyre Termes Bold"/>
              </a:rPr>
              <a:t>ow It Works </a:t>
            </a:r>
          </a:p>
        </p:txBody>
      </p:sp>
      <p:sp>
        <p:nvSpPr>
          <p:cNvPr name="TextBox 4" id="4"/>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5</a:t>
            </a:r>
          </a:p>
        </p:txBody>
      </p:sp>
      <p:sp>
        <p:nvSpPr>
          <p:cNvPr name="TextBox 5" id="5"/>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grpSp>
        <p:nvGrpSpPr>
          <p:cNvPr name="Group 6" id="6"/>
          <p:cNvGrpSpPr/>
          <p:nvPr/>
        </p:nvGrpSpPr>
        <p:grpSpPr>
          <a:xfrm rot="0">
            <a:off x="942975" y="3205128"/>
            <a:ext cx="947761" cy="947761"/>
            <a:chOff x="0" y="0"/>
            <a:chExt cx="1263681" cy="1263681"/>
          </a:xfrm>
        </p:grpSpPr>
        <p:grpSp>
          <p:nvGrpSpPr>
            <p:cNvPr name="Group 7" id="7"/>
            <p:cNvGrpSpPr/>
            <p:nvPr/>
          </p:nvGrpSpPr>
          <p:grpSpPr>
            <a:xfrm rot="0">
              <a:off x="0" y="0"/>
              <a:ext cx="1263681" cy="1263681"/>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9" id="9"/>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10" id="10"/>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1</a:t>
              </a:r>
            </a:p>
          </p:txBody>
        </p:sp>
      </p:grpSp>
      <p:sp>
        <p:nvSpPr>
          <p:cNvPr name="TextBox 11" id="11"/>
          <p:cNvSpPr txBox="true"/>
          <p:nvPr/>
        </p:nvSpPr>
        <p:spPr>
          <a:xfrm rot="0">
            <a:off x="2439191" y="3066063"/>
            <a:ext cx="4655926" cy="916305"/>
          </a:xfrm>
          <a:prstGeom prst="rect">
            <a:avLst/>
          </a:prstGeom>
        </p:spPr>
        <p:txBody>
          <a:bodyPr anchor="t" rtlCol="false" tIns="0" lIns="0" bIns="0" rIns="0">
            <a:spAutoFit/>
          </a:bodyPr>
          <a:lstStyle/>
          <a:p>
            <a:pPr algn="l">
              <a:lnSpc>
                <a:spcPts val="3780"/>
              </a:lnSpc>
            </a:pPr>
            <a:r>
              <a:rPr lang="en-US" sz="2100" spc="126" b="true">
                <a:solidFill>
                  <a:srgbClr val="31220C"/>
                </a:solidFill>
                <a:latin typeface="Open Sauce Bold"/>
                <a:ea typeface="Open Sauce Bold"/>
                <a:cs typeface="Open Sauce Bold"/>
                <a:sym typeface="Open Sauce Bold"/>
              </a:rPr>
              <a:t>Intake:</a:t>
            </a:r>
            <a:r>
              <a:rPr lang="en-US" sz="2100" spc="126">
                <a:solidFill>
                  <a:srgbClr val="31220C"/>
                </a:solidFill>
                <a:latin typeface="Open Sauce"/>
                <a:ea typeface="Open Sauce"/>
                <a:cs typeface="Open Sauce"/>
                <a:sym typeface="Open Sauce"/>
              </a:rPr>
              <a:t> Capture requests via web, mobile, or system events.</a:t>
            </a:r>
          </a:p>
        </p:txBody>
      </p:sp>
      <p:grpSp>
        <p:nvGrpSpPr>
          <p:cNvPr name="Group 12" id="12"/>
          <p:cNvGrpSpPr/>
          <p:nvPr/>
        </p:nvGrpSpPr>
        <p:grpSpPr>
          <a:xfrm rot="0">
            <a:off x="942975" y="5343525"/>
            <a:ext cx="947761" cy="947761"/>
            <a:chOff x="0" y="0"/>
            <a:chExt cx="1263681" cy="1263681"/>
          </a:xfrm>
        </p:grpSpPr>
        <p:grpSp>
          <p:nvGrpSpPr>
            <p:cNvPr name="Group 13" id="13"/>
            <p:cNvGrpSpPr/>
            <p:nvPr/>
          </p:nvGrpSpPr>
          <p:grpSpPr>
            <a:xfrm rot="0">
              <a:off x="0" y="0"/>
              <a:ext cx="1263681" cy="126368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15" id="15"/>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16" id="16"/>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2</a:t>
              </a:r>
            </a:p>
          </p:txBody>
        </p:sp>
      </p:grpSp>
      <p:sp>
        <p:nvSpPr>
          <p:cNvPr name="TextBox 17" id="17"/>
          <p:cNvSpPr txBox="true"/>
          <p:nvPr/>
        </p:nvSpPr>
        <p:spPr>
          <a:xfrm rot="0">
            <a:off x="2439191" y="5194935"/>
            <a:ext cx="4655926" cy="1392555"/>
          </a:xfrm>
          <a:prstGeom prst="rect">
            <a:avLst/>
          </a:prstGeom>
        </p:spPr>
        <p:txBody>
          <a:bodyPr anchor="t" rtlCol="false" tIns="0" lIns="0" bIns="0" rIns="0">
            <a:spAutoFit/>
          </a:bodyPr>
          <a:lstStyle/>
          <a:p>
            <a:pPr algn="l">
              <a:lnSpc>
                <a:spcPts val="3780"/>
              </a:lnSpc>
            </a:pPr>
            <a:r>
              <a:rPr lang="en-US" sz="2100" spc="126" b="true">
                <a:solidFill>
                  <a:srgbClr val="31220C"/>
                </a:solidFill>
                <a:latin typeface="Open Sauce Bold"/>
                <a:ea typeface="Open Sauce Bold"/>
                <a:cs typeface="Open Sauce Bold"/>
                <a:sym typeface="Open Sauce Bold"/>
              </a:rPr>
              <a:t>Enrichment:</a:t>
            </a:r>
            <a:r>
              <a:rPr lang="en-US" sz="2100" spc="126">
                <a:solidFill>
                  <a:srgbClr val="31220C"/>
                </a:solidFill>
                <a:latin typeface="Open Sauce"/>
                <a:ea typeface="Open Sauce"/>
                <a:cs typeface="Open Sauce"/>
                <a:sym typeface="Open Sauce"/>
              </a:rPr>
              <a:t> Extract key fields, validate entries, and detect duplicates.</a:t>
            </a:r>
          </a:p>
        </p:txBody>
      </p:sp>
      <p:grpSp>
        <p:nvGrpSpPr>
          <p:cNvPr name="Group 18" id="18"/>
          <p:cNvGrpSpPr/>
          <p:nvPr/>
        </p:nvGrpSpPr>
        <p:grpSpPr>
          <a:xfrm rot="0">
            <a:off x="942975" y="7481922"/>
            <a:ext cx="947761" cy="947761"/>
            <a:chOff x="0" y="0"/>
            <a:chExt cx="1263681" cy="1263681"/>
          </a:xfrm>
        </p:grpSpPr>
        <p:grpSp>
          <p:nvGrpSpPr>
            <p:cNvPr name="Group 19" id="19"/>
            <p:cNvGrpSpPr/>
            <p:nvPr/>
          </p:nvGrpSpPr>
          <p:grpSpPr>
            <a:xfrm rot="0">
              <a:off x="0" y="0"/>
              <a:ext cx="1263681" cy="1263681"/>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21" id="21"/>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22" id="22"/>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3</a:t>
              </a:r>
            </a:p>
          </p:txBody>
        </p:sp>
      </p:grpSp>
      <p:sp>
        <p:nvSpPr>
          <p:cNvPr name="TextBox 23" id="23"/>
          <p:cNvSpPr txBox="true"/>
          <p:nvPr/>
        </p:nvSpPr>
        <p:spPr>
          <a:xfrm rot="0">
            <a:off x="2439191" y="7342857"/>
            <a:ext cx="4655926" cy="916305"/>
          </a:xfrm>
          <a:prstGeom prst="rect">
            <a:avLst/>
          </a:prstGeom>
        </p:spPr>
        <p:txBody>
          <a:bodyPr anchor="t" rtlCol="false" tIns="0" lIns="0" bIns="0" rIns="0">
            <a:spAutoFit/>
          </a:bodyPr>
          <a:lstStyle/>
          <a:p>
            <a:pPr algn="l">
              <a:lnSpc>
                <a:spcPts val="3780"/>
              </a:lnSpc>
            </a:pPr>
            <a:r>
              <a:rPr lang="en-US" sz="2100" spc="126" b="true">
                <a:solidFill>
                  <a:srgbClr val="31220C"/>
                </a:solidFill>
                <a:latin typeface="Open Sauce Bold"/>
                <a:ea typeface="Open Sauce Bold"/>
                <a:cs typeface="Open Sauce Bold"/>
                <a:sym typeface="Open Sauce Bold"/>
              </a:rPr>
              <a:t>Routing:</a:t>
            </a:r>
            <a:r>
              <a:rPr lang="en-US" sz="2100" spc="126">
                <a:solidFill>
                  <a:srgbClr val="31220C"/>
                </a:solidFill>
                <a:latin typeface="Open Sauce"/>
                <a:ea typeface="Open Sauce"/>
                <a:cs typeface="Open Sauce"/>
                <a:sym typeface="Open Sauce"/>
              </a:rPr>
              <a:t> Assign tasks to people or services based on policies.</a:t>
            </a:r>
          </a:p>
        </p:txBody>
      </p:sp>
      <p:grpSp>
        <p:nvGrpSpPr>
          <p:cNvPr name="Group 24" id="24"/>
          <p:cNvGrpSpPr/>
          <p:nvPr/>
        </p:nvGrpSpPr>
        <p:grpSpPr>
          <a:xfrm rot="0">
            <a:off x="8072438" y="3205128"/>
            <a:ext cx="947761" cy="947761"/>
            <a:chOff x="0" y="0"/>
            <a:chExt cx="1263681" cy="1263681"/>
          </a:xfrm>
        </p:grpSpPr>
        <p:grpSp>
          <p:nvGrpSpPr>
            <p:cNvPr name="Group 25" id="25"/>
            <p:cNvGrpSpPr/>
            <p:nvPr/>
          </p:nvGrpSpPr>
          <p:grpSpPr>
            <a:xfrm rot="0">
              <a:off x="0" y="0"/>
              <a:ext cx="1263681" cy="126368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27" id="27"/>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28" id="28"/>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4</a:t>
              </a:r>
            </a:p>
          </p:txBody>
        </p:sp>
      </p:grpSp>
      <p:sp>
        <p:nvSpPr>
          <p:cNvPr name="TextBox 29" id="29"/>
          <p:cNvSpPr txBox="true"/>
          <p:nvPr/>
        </p:nvSpPr>
        <p:spPr>
          <a:xfrm rot="0">
            <a:off x="9568653" y="3056538"/>
            <a:ext cx="4655926" cy="1392555"/>
          </a:xfrm>
          <a:prstGeom prst="rect">
            <a:avLst/>
          </a:prstGeom>
        </p:spPr>
        <p:txBody>
          <a:bodyPr anchor="t" rtlCol="false" tIns="0" lIns="0" bIns="0" rIns="0">
            <a:spAutoFit/>
          </a:bodyPr>
          <a:lstStyle/>
          <a:p>
            <a:pPr algn="l">
              <a:lnSpc>
                <a:spcPts val="3780"/>
              </a:lnSpc>
            </a:pPr>
            <a:r>
              <a:rPr lang="en-US" sz="2100" spc="126" b="true">
                <a:solidFill>
                  <a:srgbClr val="31220C"/>
                </a:solidFill>
                <a:latin typeface="Open Sauce Bold"/>
                <a:ea typeface="Open Sauce Bold"/>
                <a:cs typeface="Open Sauce Bold"/>
                <a:sym typeface="Open Sauce Bold"/>
              </a:rPr>
              <a:t>Action:</a:t>
            </a:r>
            <a:r>
              <a:rPr lang="en-US" sz="2100" spc="126">
                <a:solidFill>
                  <a:srgbClr val="31220C"/>
                </a:solidFill>
                <a:latin typeface="Open Sauce"/>
                <a:ea typeface="Open Sauce"/>
                <a:cs typeface="Open Sauce"/>
                <a:sym typeface="Open Sauce"/>
              </a:rPr>
              <a:t> Trigger updates, generate documents, and notify stakeholders.</a:t>
            </a:r>
          </a:p>
        </p:txBody>
      </p:sp>
      <p:grpSp>
        <p:nvGrpSpPr>
          <p:cNvPr name="Group 30" id="30"/>
          <p:cNvGrpSpPr/>
          <p:nvPr/>
        </p:nvGrpSpPr>
        <p:grpSpPr>
          <a:xfrm rot="0">
            <a:off x="8072438" y="5343525"/>
            <a:ext cx="947761" cy="947761"/>
            <a:chOff x="0" y="0"/>
            <a:chExt cx="1263681" cy="1263681"/>
          </a:xfrm>
        </p:grpSpPr>
        <p:grpSp>
          <p:nvGrpSpPr>
            <p:cNvPr name="Group 31" id="31"/>
            <p:cNvGrpSpPr/>
            <p:nvPr/>
          </p:nvGrpSpPr>
          <p:grpSpPr>
            <a:xfrm rot="0">
              <a:off x="0" y="0"/>
              <a:ext cx="1263681" cy="1263681"/>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33" id="33"/>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34" id="34"/>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5</a:t>
              </a:r>
            </a:p>
          </p:txBody>
        </p:sp>
      </p:grpSp>
      <p:sp>
        <p:nvSpPr>
          <p:cNvPr name="TextBox 35" id="35"/>
          <p:cNvSpPr txBox="true"/>
          <p:nvPr/>
        </p:nvSpPr>
        <p:spPr>
          <a:xfrm rot="0">
            <a:off x="9568653" y="5194935"/>
            <a:ext cx="4655926" cy="1392555"/>
          </a:xfrm>
          <a:prstGeom prst="rect">
            <a:avLst/>
          </a:prstGeom>
        </p:spPr>
        <p:txBody>
          <a:bodyPr anchor="t" rtlCol="false" tIns="0" lIns="0" bIns="0" rIns="0">
            <a:spAutoFit/>
          </a:bodyPr>
          <a:lstStyle/>
          <a:p>
            <a:pPr algn="l">
              <a:lnSpc>
                <a:spcPts val="3780"/>
              </a:lnSpc>
            </a:pPr>
            <a:r>
              <a:rPr lang="en-US" sz="2100" spc="126" b="true">
                <a:solidFill>
                  <a:srgbClr val="31220C"/>
                </a:solidFill>
                <a:latin typeface="Open Sauce Bold"/>
                <a:ea typeface="Open Sauce Bold"/>
                <a:cs typeface="Open Sauce Bold"/>
                <a:sym typeface="Open Sauce Bold"/>
              </a:rPr>
              <a:t>Review:</a:t>
            </a:r>
            <a:r>
              <a:rPr lang="en-US" sz="2100" spc="126">
                <a:solidFill>
                  <a:srgbClr val="31220C"/>
                </a:solidFill>
                <a:latin typeface="Open Sauce"/>
                <a:ea typeface="Open Sauce"/>
                <a:cs typeface="Open Sauce"/>
                <a:sym typeface="Open Sauce"/>
              </a:rPr>
              <a:t> Collect approvals with traceable comments and versions.</a:t>
            </a:r>
          </a:p>
        </p:txBody>
      </p:sp>
      <p:grpSp>
        <p:nvGrpSpPr>
          <p:cNvPr name="Group 36" id="36"/>
          <p:cNvGrpSpPr/>
          <p:nvPr/>
        </p:nvGrpSpPr>
        <p:grpSpPr>
          <a:xfrm rot="0">
            <a:off x="8072438" y="7481922"/>
            <a:ext cx="947761" cy="947761"/>
            <a:chOff x="0" y="0"/>
            <a:chExt cx="1263681" cy="1263681"/>
          </a:xfrm>
        </p:grpSpPr>
        <p:grpSp>
          <p:nvGrpSpPr>
            <p:cNvPr name="Group 37" id="37"/>
            <p:cNvGrpSpPr/>
            <p:nvPr/>
          </p:nvGrpSpPr>
          <p:grpSpPr>
            <a:xfrm rot="0">
              <a:off x="0" y="0"/>
              <a:ext cx="1263681" cy="1263681"/>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39" id="39"/>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40" id="40"/>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6</a:t>
              </a:r>
            </a:p>
          </p:txBody>
        </p:sp>
      </p:grpSp>
      <p:sp>
        <p:nvSpPr>
          <p:cNvPr name="TextBox 41" id="41"/>
          <p:cNvSpPr txBox="true"/>
          <p:nvPr/>
        </p:nvSpPr>
        <p:spPr>
          <a:xfrm rot="0">
            <a:off x="9568653" y="7333332"/>
            <a:ext cx="4655926" cy="1392555"/>
          </a:xfrm>
          <a:prstGeom prst="rect">
            <a:avLst/>
          </a:prstGeom>
        </p:spPr>
        <p:txBody>
          <a:bodyPr anchor="t" rtlCol="false" tIns="0" lIns="0" bIns="0" rIns="0">
            <a:spAutoFit/>
          </a:bodyPr>
          <a:lstStyle/>
          <a:p>
            <a:pPr algn="l">
              <a:lnSpc>
                <a:spcPts val="3780"/>
              </a:lnSpc>
            </a:pPr>
            <a:r>
              <a:rPr lang="en-US" sz="2100" spc="126" b="true">
                <a:solidFill>
                  <a:srgbClr val="31220C"/>
                </a:solidFill>
                <a:latin typeface="Open Sauce Bold"/>
                <a:ea typeface="Open Sauce Bold"/>
                <a:cs typeface="Open Sauce Bold"/>
                <a:sym typeface="Open Sauce Bold"/>
              </a:rPr>
              <a:t>Insight:</a:t>
            </a:r>
            <a:r>
              <a:rPr lang="en-US" sz="2100" spc="126">
                <a:solidFill>
                  <a:srgbClr val="31220C"/>
                </a:solidFill>
                <a:latin typeface="Open Sauce"/>
                <a:ea typeface="Open Sauce"/>
                <a:cs typeface="Open Sauce"/>
                <a:sym typeface="Open Sauce"/>
              </a:rPr>
              <a:t> Monitor cycle times, queues, and outcomes in real time.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6F3EA"/>
        </a:solidFill>
      </p:bgPr>
    </p:bg>
    <p:spTree>
      <p:nvGrpSpPr>
        <p:cNvPr id="1" name=""/>
        <p:cNvGrpSpPr/>
        <p:nvPr/>
      </p:nvGrpSpPr>
      <p:grpSpPr>
        <a:xfrm>
          <a:off x="0" y="0"/>
          <a:ext cx="0" cy="0"/>
          <a:chOff x="0" y="0"/>
          <a:chExt cx="0" cy="0"/>
        </a:xfrm>
      </p:grpSpPr>
      <p:sp>
        <p:nvSpPr>
          <p:cNvPr name="AutoShape 2" id="2"/>
          <p:cNvSpPr/>
          <p:nvPr/>
        </p:nvSpPr>
        <p:spPr>
          <a:xfrm flipH="true">
            <a:off x="15206662" y="0"/>
            <a:ext cx="0" cy="10287000"/>
          </a:xfrm>
          <a:prstGeom prst="line">
            <a:avLst/>
          </a:prstGeom>
          <a:ln cap="flat" w="9525">
            <a:solidFill>
              <a:srgbClr val="31220C"/>
            </a:solidFill>
            <a:prstDash val="solid"/>
            <a:headEnd type="none" len="sm" w="sm"/>
            <a:tailEnd type="none" len="sm" w="sm"/>
          </a:ln>
        </p:spPr>
      </p:sp>
      <p:sp>
        <p:nvSpPr>
          <p:cNvPr name="Freeform 3" id="3"/>
          <p:cNvSpPr/>
          <p:nvPr/>
        </p:nvSpPr>
        <p:spPr>
          <a:xfrm flipH="false" flipV="false" rot="0">
            <a:off x="7796297" y="2560596"/>
            <a:ext cx="6181123" cy="7726404"/>
          </a:xfrm>
          <a:custGeom>
            <a:avLst/>
            <a:gdLst/>
            <a:ahLst/>
            <a:cxnLst/>
            <a:rect r="r" b="b" t="t" l="l"/>
            <a:pathLst>
              <a:path h="7726404" w="6181123">
                <a:moveTo>
                  <a:pt x="0" y="0"/>
                </a:moveTo>
                <a:lnTo>
                  <a:pt x="6181123" y="0"/>
                </a:lnTo>
                <a:lnTo>
                  <a:pt x="6181123" y="7726404"/>
                </a:lnTo>
                <a:lnTo>
                  <a:pt x="0" y="7726404"/>
                </a:lnTo>
                <a:lnTo>
                  <a:pt x="0" y="0"/>
                </a:lnTo>
                <a:close/>
              </a:path>
            </a:pathLst>
          </a:custGeom>
          <a:blipFill>
            <a:blip r:embed="rId2"/>
            <a:stretch>
              <a:fillRect l="0" t="-9999" r="0" b="-10000"/>
            </a:stretch>
          </a:blipFill>
        </p:spPr>
      </p:sp>
      <p:sp>
        <p:nvSpPr>
          <p:cNvPr name="TextBox 4" id="4"/>
          <p:cNvSpPr txBox="true"/>
          <p:nvPr/>
        </p:nvSpPr>
        <p:spPr>
          <a:xfrm rot="0">
            <a:off x="942975" y="1079499"/>
            <a:ext cx="8919160" cy="915989"/>
          </a:xfrm>
          <a:prstGeom prst="rect">
            <a:avLst/>
          </a:prstGeom>
        </p:spPr>
        <p:txBody>
          <a:bodyPr anchor="t" rtlCol="false" tIns="0" lIns="0" bIns="0" rIns="0">
            <a:spAutoFit/>
          </a:bodyPr>
          <a:lstStyle/>
          <a:p>
            <a:pPr algn="l">
              <a:lnSpc>
                <a:spcPts val="6400"/>
              </a:lnSpc>
            </a:pPr>
            <a:r>
              <a:rPr lang="en-US" b="true" sz="8000" spc="-320">
                <a:solidFill>
                  <a:srgbClr val="31220C"/>
                </a:solidFill>
                <a:latin typeface="Tex Gyre Termes Bold"/>
                <a:ea typeface="Tex Gyre Termes Bold"/>
                <a:cs typeface="Tex Gyre Termes Bold"/>
                <a:sym typeface="Tex Gyre Termes Bold"/>
              </a:rPr>
              <a:t>Why Now</a:t>
            </a:r>
          </a:p>
        </p:txBody>
      </p:sp>
      <p:sp>
        <p:nvSpPr>
          <p:cNvPr name="TextBox 5" id="5"/>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6</a:t>
            </a:r>
          </a:p>
        </p:txBody>
      </p:sp>
      <p:sp>
        <p:nvSpPr>
          <p:cNvPr name="TextBox 6" id="6"/>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TextBox 7" id="7"/>
          <p:cNvSpPr txBox="true"/>
          <p:nvPr/>
        </p:nvSpPr>
        <p:spPr>
          <a:xfrm rot="0">
            <a:off x="1028700" y="2608004"/>
            <a:ext cx="5543117" cy="5202555"/>
          </a:xfrm>
          <a:prstGeom prst="rect">
            <a:avLst/>
          </a:prstGeom>
        </p:spPr>
        <p:txBody>
          <a:bodyPr anchor="t" rtlCol="false" tIns="0" lIns="0" bIns="0" rIns="0">
            <a:spAutoFit/>
          </a:bodyPr>
          <a:lstStyle/>
          <a:p>
            <a:pPr algn="l" marL="0" indent="0" lvl="0">
              <a:lnSpc>
                <a:spcPts val="3780"/>
              </a:lnSpc>
              <a:spcBef>
                <a:spcPct val="0"/>
              </a:spcBef>
            </a:pPr>
            <a:r>
              <a:rPr lang="en-US" sz="2100" spc="126" strike="noStrike" u="none">
                <a:solidFill>
                  <a:srgbClr val="31220C"/>
                </a:solidFill>
                <a:latin typeface="Open Sauce"/>
                <a:ea typeface="Open Sauce"/>
                <a:cs typeface="Open Sauce"/>
                <a:sym typeface="Open Sauce"/>
              </a:rPr>
              <a:t>Work is increasingly digital, yet many teams still rely on spreadsheets and email to coordinate critical processes. Recent advances in automation and language models make it practical to codify policies, reduce handoffs, and present clear next steps. A platform that is safe, configurable, and easy for non‑technical users meets this moment.</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6F3EA"/>
        </a:solidFill>
      </p:bgPr>
    </p:bg>
    <p:spTree>
      <p:nvGrpSpPr>
        <p:cNvPr id="1" name=""/>
        <p:cNvGrpSpPr/>
        <p:nvPr/>
      </p:nvGrpSpPr>
      <p:grpSpPr>
        <a:xfrm>
          <a:off x="0" y="0"/>
          <a:ext cx="0" cy="0"/>
          <a:chOff x="0" y="0"/>
          <a:chExt cx="0" cy="0"/>
        </a:xfrm>
      </p:grpSpPr>
      <p:sp>
        <p:nvSpPr>
          <p:cNvPr name="AutoShape 2" id="2"/>
          <p:cNvSpPr/>
          <p:nvPr/>
        </p:nvSpPr>
        <p:spPr>
          <a:xfrm flipH="true">
            <a:off x="15206662" y="0"/>
            <a:ext cx="0" cy="10287000"/>
          </a:xfrm>
          <a:prstGeom prst="line">
            <a:avLst/>
          </a:prstGeom>
          <a:ln cap="flat" w="9525">
            <a:solidFill>
              <a:srgbClr val="31220C"/>
            </a:solidFill>
            <a:prstDash val="solid"/>
            <a:headEnd type="none" len="sm" w="sm"/>
            <a:tailEnd type="none" len="sm" w="sm"/>
          </a:ln>
        </p:spPr>
      </p:sp>
      <p:grpSp>
        <p:nvGrpSpPr>
          <p:cNvPr name="Group 3" id="3"/>
          <p:cNvGrpSpPr/>
          <p:nvPr/>
        </p:nvGrpSpPr>
        <p:grpSpPr>
          <a:xfrm rot="0">
            <a:off x="1028700" y="3429821"/>
            <a:ext cx="5811520" cy="4843462"/>
            <a:chOff x="0" y="0"/>
            <a:chExt cx="1530606" cy="1275644"/>
          </a:xfrm>
        </p:grpSpPr>
        <p:sp>
          <p:nvSpPr>
            <p:cNvPr name="Freeform 4" id="4"/>
            <p:cNvSpPr/>
            <p:nvPr/>
          </p:nvSpPr>
          <p:spPr>
            <a:xfrm flipH="false" flipV="false" rot="0">
              <a:off x="0" y="0"/>
              <a:ext cx="1530606" cy="1275644"/>
            </a:xfrm>
            <a:custGeom>
              <a:avLst/>
              <a:gdLst/>
              <a:ahLst/>
              <a:cxnLst/>
              <a:rect r="r" b="b" t="t" l="l"/>
              <a:pathLst>
                <a:path h="1275644" w="1530606">
                  <a:moveTo>
                    <a:pt x="0" y="0"/>
                  </a:moveTo>
                  <a:lnTo>
                    <a:pt x="1530606" y="0"/>
                  </a:lnTo>
                  <a:lnTo>
                    <a:pt x="1530606" y="1275644"/>
                  </a:lnTo>
                  <a:lnTo>
                    <a:pt x="0" y="1275644"/>
                  </a:lnTo>
                  <a:close/>
                </a:path>
              </a:pathLst>
            </a:custGeom>
            <a:solidFill>
              <a:srgbClr val="C29553"/>
            </a:solidFill>
          </p:spPr>
        </p:sp>
        <p:sp>
          <p:nvSpPr>
            <p:cNvPr name="TextBox 5" id="5"/>
            <p:cNvSpPr txBox="true"/>
            <p:nvPr/>
          </p:nvSpPr>
          <p:spPr>
            <a:xfrm>
              <a:off x="0" y="-123825"/>
              <a:ext cx="1530606" cy="1399469"/>
            </a:xfrm>
            <a:prstGeom prst="rect">
              <a:avLst/>
            </a:prstGeom>
          </p:spPr>
          <p:txBody>
            <a:bodyPr anchor="ctr" rtlCol="false" tIns="50800" lIns="50800" bIns="50800" rIns="50800"/>
            <a:lstStyle/>
            <a:p>
              <a:pPr algn="ctr">
                <a:lnSpc>
                  <a:spcPts val="3780"/>
                </a:lnSpc>
              </a:pPr>
            </a:p>
          </p:txBody>
        </p:sp>
      </p:grpSp>
      <p:sp>
        <p:nvSpPr>
          <p:cNvPr name="TextBox 6" id="6"/>
          <p:cNvSpPr txBox="true"/>
          <p:nvPr/>
        </p:nvSpPr>
        <p:spPr>
          <a:xfrm rot="0">
            <a:off x="942975" y="1079499"/>
            <a:ext cx="8919160" cy="915989"/>
          </a:xfrm>
          <a:prstGeom prst="rect">
            <a:avLst/>
          </a:prstGeom>
        </p:spPr>
        <p:txBody>
          <a:bodyPr anchor="t" rtlCol="false" tIns="0" lIns="0" bIns="0" rIns="0">
            <a:spAutoFit/>
          </a:bodyPr>
          <a:lstStyle/>
          <a:p>
            <a:pPr algn="l">
              <a:lnSpc>
                <a:spcPts val="6400"/>
              </a:lnSpc>
            </a:pPr>
            <a:r>
              <a:rPr lang="en-US" sz="8000" spc="-320" b="true">
                <a:solidFill>
                  <a:srgbClr val="31220C"/>
                </a:solidFill>
                <a:latin typeface="Tex Gyre Termes Bold"/>
                <a:ea typeface="Tex Gyre Termes Bold"/>
                <a:cs typeface="Tex Gyre Termes Bold"/>
                <a:sym typeface="Tex Gyre Termes Bold"/>
              </a:rPr>
              <a:t>Value</a:t>
            </a:r>
            <a:r>
              <a:rPr lang="en-US" b="true" sz="8000" spc="-320">
                <a:solidFill>
                  <a:srgbClr val="31220C"/>
                </a:solidFill>
                <a:latin typeface="Tex Gyre Termes Bold"/>
                <a:ea typeface="Tex Gyre Termes Bold"/>
                <a:cs typeface="Tex Gyre Termes Bold"/>
                <a:sym typeface="Tex Gyre Termes Bold"/>
              </a:rPr>
              <a:t> Proposition</a:t>
            </a:r>
          </a:p>
        </p:txBody>
      </p:sp>
      <p:sp>
        <p:nvSpPr>
          <p:cNvPr name="TextBox 7" id="7"/>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7</a:t>
            </a:r>
          </a:p>
        </p:txBody>
      </p:sp>
      <p:sp>
        <p:nvSpPr>
          <p:cNvPr name="TextBox 8" id="8"/>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TextBox 9" id="9"/>
          <p:cNvSpPr txBox="true"/>
          <p:nvPr/>
        </p:nvSpPr>
        <p:spPr>
          <a:xfrm rot="0">
            <a:off x="1609725" y="3797332"/>
            <a:ext cx="4459580"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F6F3EA"/>
                </a:solidFill>
                <a:latin typeface="Open Sauce Bold"/>
                <a:ea typeface="Open Sauce Bold"/>
                <a:cs typeface="Open Sauce Bold"/>
                <a:sym typeface="Open Sauce Bold"/>
              </a:rPr>
              <a:t>For Operators</a:t>
            </a:r>
          </a:p>
        </p:txBody>
      </p:sp>
      <p:sp>
        <p:nvSpPr>
          <p:cNvPr name="TextBox 10" id="10"/>
          <p:cNvSpPr txBox="true"/>
          <p:nvPr/>
        </p:nvSpPr>
        <p:spPr>
          <a:xfrm rot="0">
            <a:off x="1400175" y="4897787"/>
            <a:ext cx="4730352" cy="2586990"/>
          </a:xfrm>
          <a:prstGeom prst="rect">
            <a:avLst/>
          </a:prstGeom>
        </p:spPr>
        <p:txBody>
          <a:bodyPr anchor="t" rtlCol="false" tIns="0" lIns="0" bIns="0" rIns="0">
            <a:spAutoFit/>
          </a:bodyPr>
          <a:lstStyle/>
          <a:p>
            <a:pPr algn="l" marL="453390" indent="-226695" lvl="1">
              <a:lnSpc>
                <a:spcPts val="5250"/>
              </a:lnSpc>
              <a:buFont typeface="Arial"/>
              <a:buChar char="•"/>
            </a:pPr>
            <a:r>
              <a:rPr lang="en-US" sz="2100" spc="126">
                <a:solidFill>
                  <a:srgbClr val="F6F3EA"/>
                </a:solidFill>
                <a:latin typeface="Open Sauce"/>
                <a:ea typeface="Open Sauce"/>
                <a:cs typeface="Open Sauce"/>
                <a:sym typeface="Open Sauce"/>
              </a:rPr>
              <a:t>Fewer handoffs</a:t>
            </a:r>
          </a:p>
          <a:p>
            <a:pPr algn="l" marL="453390" indent="-226695" lvl="1">
              <a:lnSpc>
                <a:spcPts val="5250"/>
              </a:lnSpc>
              <a:buFont typeface="Arial"/>
              <a:buChar char="•"/>
            </a:pPr>
            <a:r>
              <a:rPr lang="en-US" sz="2100" spc="126">
                <a:solidFill>
                  <a:srgbClr val="F6F3EA"/>
                </a:solidFill>
                <a:latin typeface="Open Sauce"/>
                <a:ea typeface="Open Sauce"/>
                <a:cs typeface="Open Sauce"/>
                <a:sym typeface="Open Sauce"/>
              </a:rPr>
              <a:t>Clear ownership</a:t>
            </a:r>
          </a:p>
          <a:p>
            <a:pPr algn="l" marL="453390" indent="-226695" lvl="1">
              <a:lnSpc>
                <a:spcPts val="5250"/>
              </a:lnSpc>
              <a:buFont typeface="Arial"/>
              <a:buChar char="•"/>
            </a:pPr>
            <a:r>
              <a:rPr lang="en-US" sz="2100" spc="126">
                <a:solidFill>
                  <a:srgbClr val="F6F3EA"/>
                </a:solidFill>
                <a:latin typeface="Open Sauce"/>
                <a:ea typeface="Open Sauce"/>
                <a:cs typeface="Open Sauce"/>
                <a:sym typeface="Open Sauce"/>
              </a:rPr>
              <a:t>Consistent templates</a:t>
            </a:r>
          </a:p>
          <a:p>
            <a:pPr algn="l" marL="453390" indent="-226695" lvl="1">
              <a:lnSpc>
                <a:spcPts val="5250"/>
              </a:lnSpc>
              <a:buFont typeface="Arial"/>
              <a:buChar char="•"/>
            </a:pPr>
            <a:r>
              <a:rPr lang="en-US" sz="2100" spc="126">
                <a:solidFill>
                  <a:srgbClr val="F6F3EA"/>
                </a:solidFill>
                <a:latin typeface="Open Sauce"/>
                <a:ea typeface="Open Sauce"/>
                <a:cs typeface="Open Sauce"/>
                <a:sym typeface="Open Sauce"/>
              </a:rPr>
              <a:t>Faster cycle times</a:t>
            </a:r>
          </a:p>
        </p:txBody>
      </p:sp>
      <p:grpSp>
        <p:nvGrpSpPr>
          <p:cNvPr name="Group 11" id="11"/>
          <p:cNvGrpSpPr/>
          <p:nvPr/>
        </p:nvGrpSpPr>
        <p:grpSpPr>
          <a:xfrm rot="0">
            <a:off x="7679030" y="3429821"/>
            <a:ext cx="5811520" cy="4843462"/>
            <a:chOff x="0" y="0"/>
            <a:chExt cx="1530606" cy="1275644"/>
          </a:xfrm>
        </p:grpSpPr>
        <p:sp>
          <p:nvSpPr>
            <p:cNvPr name="Freeform 12" id="12"/>
            <p:cNvSpPr/>
            <p:nvPr/>
          </p:nvSpPr>
          <p:spPr>
            <a:xfrm flipH="false" flipV="false" rot="0">
              <a:off x="0" y="0"/>
              <a:ext cx="1530606" cy="1275644"/>
            </a:xfrm>
            <a:custGeom>
              <a:avLst/>
              <a:gdLst/>
              <a:ahLst/>
              <a:cxnLst/>
              <a:rect r="r" b="b" t="t" l="l"/>
              <a:pathLst>
                <a:path h="1275644" w="1530606">
                  <a:moveTo>
                    <a:pt x="0" y="0"/>
                  </a:moveTo>
                  <a:lnTo>
                    <a:pt x="1530606" y="0"/>
                  </a:lnTo>
                  <a:lnTo>
                    <a:pt x="1530606" y="1275644"/>
                  </a:lnTo>
                  <a:lnTo>
                    <a:pt x="0" y="1275644"/>
                  </a:lnTo>
                  <a:close/>
                </a:path>
              </a:pathLst>
            </a:custGeom>
            <a:solidFill>
              <a:srgbClr val="C29553"/>
            </a:solidFill>
          </p:spPr>
        </p:sp>
        <p:sp>
          <p:nvSpPr>
            <p:cNvPr name="TextBox 13" id="13"/>
            <p:cNvSpPr txBox="true"/>
            <p:nvPr/>
          </p:nvSpPr>
          <p:spPr>
            <a:xfrm>
              <a:off x="0" y="-123825"/>
              <a:ext cx="1530606" cy="1399469"/>
            </a:xfrm>
            <a:prstGeom prst="rect">
              <a:avLst/>
            </a:prstGeom>
          </p:spPr>
          <p:txBody>
            <a:bodyPr anchor="ctr" rtlCol="false" tIns="50800" lIns="50800" bIns="50800" rIns="50800"/>
            <a:lstStyle/>
            <a:p>
              <a:pPr algn="ctr">
                <a:lnSpc>
                  <a:spcPts val="3780"/>
                </a:lnSpc>
              </a:pPr>
            </a:p>
          </p:txBody>
        </p:sp>
      </p:grpSp>
      <p:sp>
        <p:nvSpPr>
          <p:cNvPr name="TextBox 14" id="14"/>
          <p:cNvSpPr txBox="true"/>
          <p:nvPr/>
        </p:nvSpPr>
        <p:spPr>
          <a:xfrm rot="0">
            <a:off x="8262937" y="3797332"/>
            <a:ext cx="4459580"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F6F3EA"/>
                </a:solidFill>
                <a:latin typeface="Open Sauce Bold"/>
                <a:ea typeface="Open Sauce Bold"/>
                <a:cs typeface="Open Sauce Bold"/>
                <a:sym typeface="Open Sauce Bold"/>
              </a:rPr>
              <a:t>For Leaders</a:t>
            </a:r>
          </a:p>
        </p:txBody>
      </p:sp>
      <p:sp>
        <p:nvSpPr>
          <p:cNvPr name="TextBox 15" id="15"/>
          <p:cNvSpPr txBox="true"/>
          <p:nvPr/>
        </p:nvSpPr>
        <p:spPr>
          <a:xfrm rot="0">
            <a:off x="8053388" y="4897787"/>
            <a:ext cx="4730352" cy="2586990"/>
          </a:xfrm>
          <a:prstGeom prst="rect">
            <a:avLst/>
          </a:prstGeom>
        </p:spPr>
        <p:txBody>
          <a:bodyPr anchor="t" rtlCol="false" tIns="0" lIns="0" bIns="0" rIns="0">
            <a:spAutoFit/>
          </a:bodyPr>
          <a:lstStyle/>
          <a:p>
            <a:pPr algn="l" marL="453390" indent="-226695" lvl="1">
              <a:lnSpc>
                <a:spcPts val="5250"/>
              </a:lnSpc>
              <a:buFont typeface="Arial"/>
              <a:buChar char="•"/>
            </a:pPr>
            <a:r>
              <a:rPr lang="en-US" sz="2100" spc="126">
                <a:solidFill>
                  <a:srgbClr val="F6F3EA"/>
                </a:solidFill>
                <a:latin typeface="Open Sauce"/>
                <a:ea typeface="Open Sauce"/>
                <a:cs typeface="Open Sauce"/>
                <a:sym typeface="Open Sauce"/>
              </a:rPr>
              <a:t>Visibility into work in flight</a:t>
            </a:r>
          </a:p>
          <a:p>
            <a:pPr algn="l" marL="453390" indent="-226695" lvl="1">
              <a:lnSpc>
                <a:spcPts val="5250"/>
              </a:lnSpc>
              <a:buFont typeface="Arial"/>
              <a:buChar char="•"/>
            </a:pPr>
            <a:r>
              <a:rPr lang="en-US" sz="2100" spc="126">
                <a:solidFill>
                  <a:srgbClr val="F6F3EA"/>
                </a:solidFill>
                <a:latin typeface="Open Sauce"/>
                <a:ea typeface="Open Sauce"/>
                <a:cs typeface="Open Sauce"/>
                <a:sym typeface="Open Sauce"/>
              </a:rPr>
              <a:t>Policy enforcement by design</a:t>
            </a:r>
          </a:p>
          <a:p>
            <a:pPr algn="l" marL="453390" indent="-226695" lvl="1">
              <a:lnSpc>
                <a:spcPts val="5250"/>
              </a:lnSpc>
              <a:buFont typeface="Arial"/>
              <a:buChar char="•"/>
            </a:pPr>
            <a:r>
              <a:rPr lang="en-US" sz="2100" spc="126">
                <a:solidFill>
                  <a:srgbClr val="F6F3EA"/>
                </a:solidFill>
                <a:latin typeface="Open Sauce"/>
                <a:ea typeface="Open Sauce"/>
                <a:cs typeface="Open Sauce"/>
                <a:sym typeface="Open Sauce"/>
              </a:rPr>
              <a:t>Predictable outcomes</a:t>
            </a:r>
          </a:p>
          <a:p>
            <a:pPr algn="l" marL="453390" indent="-226695" lvl="1">
              <a:lnSpc>
                <a:spcPts val="5250"/>
              </a:lnSpc>
              <a:buFont typeface="Arial"/>
              <a:buChar char="•"/>
            </a:pPr>
            <a:r>
              <a:rPr lang="en-US" sz="2100" spc="126">
                <a:solidFill>
                  <a:srgbClr val="F6F3EA"/>
                </a:solidFill>
                <a:latin typeface="Open Sauce"/>
                <a:ea typeface="Open Sauce"/>
                <a:cs typeface="Open Sauce"/>
                <a:sym typeface="Open Sauce"/>
              </a:rPr>
              <a:t>Lower operational risk</a:t>
            </a:r>
          </a:p>
        </p:txBody>
      </p:sp>
      <p:sp>
        <p:nvSpPr>
          <p:cNvPr name="AutoShape 16" id="16"/>
          <p:cNvSpPr/>
          <p:nvPr/>
        </p:nvSpPr>
        <p:spPr>
          <a:xfrm>
            <a:off x="1028700" y="4716812"/>
            <a:ext cx="5811520" cy="0"/>
          </a:xfrm>
          <a:prstGeom prst="line">
            <a:avLst/>
          </a:prstGeom>
          <a:ln cap="flat" w="38100">
            <a:solidFill>
              <a:srgbClr val="F6F3EA"/>
            </a:solidFill>
            <a:prstDash val="solid"/>
            <a:headEnd type="none" len="sm" w="sm"/>
            <a:tailEnd type="none" len="sm" w="sm"/>
          </a:ln>
        </p:spPr>
      </p:sp>
      <p:sp>
        <p:nvSpPr>
          <p:cNvPr name="AutoShape 17" id="17"/>
          <p:cNvSpPr/>
          <p:nvPr/>
        </p:nvSpPr>
        <p:spPr>
          <a:xfrm>
            <a:off x="7679030" y="4716812"/>
            <a:ext cx="5811520" cy="0"/>
          </a:xfrm>
          <a:prstGeom prst="line">
            <a:avLst/>
          </a:prstGeom>
          <a:ln cap="flat" w="38100">
            <a:solidFill>
              <a:srgbClr val="F6F3EA"/>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p:cSld>
    <p:bg>
      <p:bgPr>
        <a:solidFill>
          <a:srgbClr val="F6F3EA"/>
        </a:solidFill>
      </p:bgPr>
    </p:bg>
    <p:spTree>
      <p:nvGrpSpPr>
        <p:cNvPr id="1" name=""/>
        <p:cNvGrpSpPr/>
        <p:nvPr/>
      </p:nvGrpSpPr>
      <p:grpSpPr>
        <a:xfrm>
          <a:off x="0" y="0"/>
          <a:ext cx="0" cy="0"/>
          <a:chOff x="0" y="0"/>
          <a:chExt cx="0" cy="0"/>
        </a:xfrm>
      </p:grpSpPr>
      <p:sp>
        <p:nvSpPr>
          <p:cNvPr name="AutoShape 2" id="2"/>
          <p:cNvSpPr/>
          <p:nvPr/>
        </p:nvSpPr>
        <p:spPr>
          <a:xfrm flipH="true">
            <a:off x="15206662" y="0"/>
            <a:ext cx="0" cy="10287000"/>
          </a:xfrm>
          <a:prstGeom prst="line">
            <a:avLst/>
          </a:prstGeom>
          <a:ln cap="flat" w="9525">
            <a:solidFill>
              <a:srgbClr val="31220C"/>
            </a:solidFill>
            <a:prstDash val="solid"/>
            <a:headEnd type="none" len="sm" w="sm"/>
            <a:tailEnd type="none" len="sm" w="sm"/>
          </a:ln>
        </p:spPr>
      </p:sp>
      <p:sp>
        <p:nvSpPr>
          <p:cNvPr name="TextBox 3" id="3"/>
          <p:cNvSpPr txBox="true"/>
          <p:nvPr/>
        </p:nvSpPr>
        <p:spPr>
          <a:xfrm rot="0">
            <a:off x="942975" y="1079499"/>
            <a:ext cx="8919160" cy="915989"/>
          </a:xfrm>
          <a:prstGeom prst="rect">
            <a:avLst/>
          </a:prstGeom>
        </p:spPr>
        <p:txBody>
          <a:bodyPr anchor="t" rtlCol="false" tIns="0" lIns="0" bIns="0" rIns="0">
            <a:spAutoFit/>
          </a:bodyPr>
          <a:lstStyle/>
          <a:p>
            <a:pPr algn="l">
              <a:lnSpc>
                <a:spcPts val="6400"/>
              </a:lnSpc>
            </a:pPr>
            <a:r>
              <a:rPr lang="en-US" sz="8000" spc="-320" b="true">
                <a:solidFill>
                  <a:srgbClr val="31220C"/>
                </a:solidFill>
                <a:latin typeface="Tex Gyre Termes Bold"/>
                <a:ea typeface="Tex Gyre Termes Bold"/>
                <a:cs typeface="Tex Gyre Termes Bold"/>
                <a:sym typeface="Tex Gyre Termes Bold"/>
              </a:rPr>
              <a:t>Diffe</a:t>
            </a:r>
            <a:r>
              <a:rPr lang="en-US" b="true" sz="8000" spc="-320">
                <a:solidFill>
                  <a:srgbClr val="31220C"/>
                </a:solidFill>
                <a:latin typeface="Tex Gyre Termes Bold"/>
                <a:ea typeface="Tex Gyre Termes Bold"/>
                <a:cs typeface="Tex Gyre Termes Bold"/>
                <a:sym typeface="Tex Gyre Termes Bold"/>
              </a:rPr>
              <a:t>rentiation</a:t>
            </a:r>
          </a:p>
        </p:txBody>
      </p:sp>
      <p:sp>
        <p:nvSpPr>
          <p:cNvPr name="TextBox 4" id="4"/>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8</a:t>
            </a:r>
          </a:p>
        </p:txBody>
      </p:sp>
      <p:sp>
        <p:nvSpPr>
          <p:cNvPr name="TextBox 5" id="5"/>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TextBox 6" id="6"/>
          <p:cNvSpPr txBox="true"/>
          <p:nvPr/>
        </p:nvSpPr>
        <p:spPr>
          <a:xfrm rot="0">
            <a:off x="2353849" y="3363146"/>
            <a:ext cx="3660793"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Conf</a:t>
            </a:r>
            <a:r>
              <a:rPr lang="en-US" b="true" sz="2799" spc="167">
                <a:solidFill>
                  <a:srgbClr val="31220C"/>
                </a:solidFill>
                <a:latin typeface="Open Sauce Bold"/>
                <a:ea typeface="Open Sauce Bold"/>
                <a:cs typeface="Open Sauce Bold"/>
                <a:sym typeface="Open Sauce Bold"/>
              </a:rPr>
              <a:t>igurable</a:t>
            </a:r>
          </a:p>
        </p:txBody>
      </p:sp>
      <p:sp>
        <p:nvSpPr>
          <p:cNvPr name="TextBox 7" id="7"/>
          <p:cNvSpPr txBox="true"/>
          <p:nvPr/>
        </p:nvSpPr>
        <p:spPr>
          <a:xfrm rot="0">
            <a:off x="2353849" y="4244526"/>
            <a:ext cx="3660793" cy="139255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Teams assemble workflows without long projects.</a:t>
            </a:r>
          </a:p>
        </p:txBody>
      </p:sp>
      <p:sp>
        <p:nvSpPr>
          <p:cNvPr name="TextBox 8" id="8"/>
          <p:cNvSpPr txBox="true"/>
          <p:nvPr/>
        </p:nvSpPr>
        <p:spPr>
          <a:xfrm rot="0">
            <a:off x="8408420" y="3363146"/>
            <a:ext cx="4608781"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AI with guardrails</a:t>
            </a:r>
          </a:p>
        </p:txBody>
      </p:sp>
      <p:sp>
        <p:nvSpPr>
          <p:cNvPr name="TextBox 9" id="9"/>
          <p:cNvSpPr txBox="true"/>
          <p:nvPr/>
        </p:nvSpPr>
        <p:spPr>
          <a:xfrm rot="0">
            <a:off x="8408420" y="4244526"/>
            <a:ext cx="4608781" cy="91630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Human‑in‑the‑loop and explainable suggestions.</a:t>
            </a:r>
          </a:p>
        </p:txBody>
      </p:sp>
      <p:sp>
        <p:nvSpPr>
          <p:cNvPr name="TextBox 10" id="10"/>
          <p:cNvSpPr txBox="true"/>
          <p:nvPr/>
        </p:nvSpPr>
        <p:spPr>
          <a:xfrm rot="0">
            <a:off x="2353849" y="6742005"/>
            <a:ext cx="3660793"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Clear v</a:t>
            </a:r>
            <a:r>
              <a:rPr lang="en-US" b="true" sz="2799" spc="167">
                <a:solidFill>
                  <a:srgbClr val="31220C"/>
                </a:solidFill>
                <a:latin typeface="Open Sauce Bold"/>
                <a:ea typeface="Open Sauce Bold"/>
                <a:cs typeface="Open Sauce Bold"/>
                <a:sym typeface="Open Sauce Bold"/>
              </a:rPr>
              <a:t>isibility</a:t>
            </a:r>
          </a:p>
        </p:txBody>
      </p:sp>
      <p:sp>
        <p:nvSpPr>
          <p:cNvPr name="TextBox 11" id="11"/>
          <p:cNvSpPr txBox="true"/>
          <p:nvPr/>
        </p:nvSpPr>
        <p:spPr>
          <a:xfrm rot="0">
            <a:off x="2353849" y="7623385"/>
            <a:ext cx="3660793" cy="91630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From request to result with full auditability.</a:t>
            </a:r>
          </a:p>
        </p:txBody>
      </p:sp>
      <p:sp>
        <p:nvSpPr>
          <p:cNvPr name="TextBox 12" id="12"/>
          <p:cNvSpPr txBox="true"/>
          <p:nvPr/>
        </p:nvSpPr>
        <p:spPr>
          <a:xfrm rot="0">
            <a:off x="8408420" y="6742005"/>
            <a:ext cx="4608781"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Open by default</a:t>
            </a:r>
          </a:p>
        </p:txBody>
      </p:sp>
      <p:sp>
        <p:nvSpPr>
          <p:cNvPr name="TextBox 13" id="13"/>
          <p:cNvSpPr txBox="true"/>
          <p:nvPr/>
        </p:nvSpPr>
        <p:spPr>
          <a:xfrm rot="0">
            <a:off x="8408420" y="7623385"/>
            <a:ext cx="4608781" cy="91630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Connects to data and services through standard APIs.</a:t>
            </a:r>
          </a:p>
        </p:txBody>
      </p:sp>
      <p:grpSp>
        <p:nvGrpSpPr>
          <p:cNvPr name="Group 14" id="14"/>
          <p:cNvGrpSpPr/>
          <p:nvPr/>
        </p:nvGrpSpPr>
        <p:grpSpPr>
          <a:xfrm rot="0">
            <a:off x="942975" y="3168030"/>
            <a:ext cx="947761" cy="947761"/>
            <a:chOff x="0" y="0"/>
            <a:chExt cx="1263681" cy="1263681"/>
          </a:xfrm>
        </p:grpSpPr>
        <p:grpSp>
          <p:nvGrpSpPr>
            <p:cNvPr name="Group 15" id="15"/>
            <p:cNvGrpSpPr/>
            <p:nvPr/>
          </p:nvGrpSpPr>
          <p:grpSpPr>
            <a:xfrm rot="0">
              <a:off x="0" y="0"/>
              <a:ext cx="1263681" cy="1263681"/>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17" id="17"/>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18" id="18"/>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1</a:t>
              </a:r>
            </a:p>
          </p:txBody>
        </p:sp>
      </p:grpSp>
      <p:grpSp>
        <p:nvGrpSpPr>
          <p:cNvPr name="Group 19" id="19"/>
          <p:cNvGrpSpPr/>
          <p:nvPr/>
        </p:nvGrpSpPr>
        <p:grpSpPr>
          <a:xfrm rot="0">
            <a:off x="7083498" y="3168030"/>
            <a:ext cx="947761" cy="947761"/>
            <a:chOff x="0" y="0"/>
            <a:chExt cx="1263681" cy="1263681"/>
          </a:xfrm>
        </p:grpSpPr>
        <p:grpSp>
          <p:nvGrpSpPr>
            <p:cNvPr name="Group 20" id="20"/>
            <p:cNvGrpSpPr/>
            <p:nvPr/>
          </p:nvGrpSpPr>
          <p:grpSpPr>
            <a:xfrm rot="0">
              <a:off x="0" y="0"/>
              <a:ext cx="1263681" cy="126368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22" id="22"/>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23" id="23"/>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3</a:t>
              </a:r>
            </a:p>
          </p:txBody>
        </p:sp>
      </p:grpSp>
      <p:grpSp>
        <p:nvGrpSpPr>
          <p:cNvPr name="Group 24" id="24"/>
          <p:cNvGrpSpPr/>
          <p:nvPr/>
        </p:nvGrpSpPr>
        <p:grpSpPr>
          <a:xfrm rot="0">
            <a:off x="942975" y="6546890"/>
            <a:ext cx="947761" cy="947761"/>
            <a:chOff x="0" y="0"/>
            <a:chExt cx="1263681" cy="1263681"/>
          </a:xfrm>
        </p:grpSpPr>
        <p:grpSp>
          <p:nvGrpSpPr>
            <p:cNvPr name="Group 25" id="25"/>
            <p:cNvGrpSpPr/>
            <p:nvPr/>
          </p:nvGrpSpPr>
          <p:grpSpPr>
            <a:xfrm rot="0">
              <a:off x="0" y="0"/>
              <a:ext cx="1263681" cy="1263681"/>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27" id="27"/>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28" id="28"/>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2</a:t>
              </a:r>
            </a:p>
          </p:txBody>
        </p:sp>
      </p:grpSp>
      <p:grpSp>
        <p:nvGrpSpPr>
          <p:cNvPr name="Group 29" id="29"/>
          <p:cNvGrpSpPr/>
          <p:nvPr/>
        </p:nvGrpSpPr>
        <p:grpSpPr>
          <a:xfrm rot="0">
            <a:off x="7083498" y="6546890"/>
            <a:ext cx="947761" cy="947761"/>
            <a:chOff x="0" y="0"/>
            <a:chExt cx="1263681" cy="1263681"/>
          </a:xfrm>
        </p:grpSpPr>
        <p:grpSp>
          <p:nvGrpSpPr>
            <p:cNvPr name="Group 30" id="30"/>
            <p:cNvGrpSpPr/>
            <p:nvPr/>
          </p:nvGrpSpPr>
          <p:grpSpPr>
            <a:xfrm rot="0">
              <a:off x="0" y="0"/>
              <a:ext cx="1263681" cy="1263681"/>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C29553"/>
              </a:solidFill>
            </p:spPr>
          </p:sp>
          <p:sp>
            <p:nvSpPr>
              <p:cNvPr name="TextBox 32" id="32"/>
              <p:cNvSpPr txBox="true"/>
              <p:nvPr/>
            </p:nvSpPr>
            <p:spPr>
              <a:xfrm>
                <a:off x="76200" y="-47625"/>
                <a:ext cx="660400" cy="784225"/>
              </a:xfrm>
              <a:prstGeom prst="rect">
                <a:avLst/>
              </a:prstGeom>
            </p:spPr>
            <p:txBody>
              <a:bodyPr anchor="ctr" rtlCol="false" tIns="50800" lIns="50800" bIns="50800" rIns="50800"/>
              <a:lstStyle/>
              <a:p>
                <a:pPr algn="ctr">
                  <a:lnSpc>
                    <a:spcPts val="3780"/>
                  </a:lnSpc>
                </a:pPr>
              </a:p>
            </p:txBody>
          </p:sp>
        </p:grpSp>
        <p:sp>
          <p:nvSpPr>
            <p:cNvPr name="TextBox 33" id="33"/>
            <p:cNvSpPr txBox="true"/>
            <p:nvPr/>
          </p:nvSpPr>
          <p:spPr>
            <a:xfrm rot="0">
              <a:off x="354373" y="282379"/>
              <a:ext cx="554936" cy="632248"/>
            </a:xfrm>
            <a:prstGeom prst="rect">
              <a:avLst/>
            </a:prstGeom>
          </p:spPr>
          <p:txBody>
            <a:bodyPr anchor="t" rtlCol="false" tIns="0" lIns="0" bIns="0" rIns="0">
              <a:spAutoFit/>
            </a:bodyPr>
            <a:lstStyle/>
            <a:p>
              <a:pPr algn="ctr">
                <a:lnSpc>
                  <a:spcPts val="3919"/>
                </a:lnSpc>
                <a:spcBef>
                  <a:spcPct val="0"/>
                </a:spcBef>
              </a:pPr>
              <a:r>
                <a:rPr lang="en-US" b="true" sz="2799" spc="167">
                  <a:solidFill>
                    <a:srgbClr val="F6F3EA"/>
                  </a:solidFill>
                  <a:latin typeface="Open Sauce Bold"/>
                  <a:ea typeface="Open Sauce Bold"/>
                  <a:cs typeface="Open Sauce Bold"/>
                  <a:sym typeface="Open Sauce Bold"/>
                </a:rPr>
                <a:t>4</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6F3EA"/>
        </a:solidFill>
      </p:bgPr>
    </p:bg>
    <p:spTree>
      <p:nvGrpSpPr>
        <p:cNvPr id="1" name=""/>
        <p:cNvGrpSpPr/>
        <p:nvPr/>
      </p:nvGrpSpPr>
      <p:grpSpPr>
        <a:xfrm>
          <a:off x="0" y="0"/>
          <a:ext cx="0" cy="0"/>
          <a:chOff x="0" y="0"/>
          <a:chExt cx="0" cy="0"/>
        </a:xfrm>
      </p:grpSpPr>
      <p:sp>
        <p:nvSpPr>
          <p:cNvPr name="AutoShape 2" id="2"/>
          <p:cNvSpPr/>
          <p:nvPr/>
        </p:nvSpPr>
        <p:spPr>
          <a:xfrm flipH="true">
            <a:off x="15206662" y="0"/>
            <a:ext cx="0" cy="10287000"/>
          </a:xfrm>
          <a:prstGeom prst="line">
            <a:avLst/>
          </a:prstGeom>
          <a:ln cap="flat" w="9525">
            <a:solidFill>
              <a:srgbClr val="31220C"/>
            </a:solidFill>
            <a:prstDash val="solid"/>
            <a:headEnd type="none" len="sm" w="sm"/>
            <a:tailEnd type="none" len="sm" w="sm"/>
          </a:ln>
        </p:spPr>
      </p:sp>
      <p:sp>
        <p:nvSpPr>
          <p:cNvPr name="Freeform 3" id="3"/>
          <p:cNvSpPr/>
          <p:nvPr/>
        </p:nvSpPr>
        <p:spPr>
          <a:xfrm flipH="false" flipV="false" rot="0">
            <a:off x="942975" y="2785307"/>
            <a:ext cx="3042578" cy="3042578"/>
          </a:xfrm>
          <a:custGeom>
            <a:avLst/>
            <a:gdLst/>
            <a:ahLst/>
            <a:cxnLst/>
            <a:rect r="r" b="b" t="t" l="l"/>
            <a:pathLst>
              <a:path h="3042578" w="3042578">
                <a:moveTo>
                  <a:pt x="0" y="0"/>
                </a:moveTo>
                <a:lnTo>
                  <a:pt x="3042578" y="0"/>
                </a:lnTo>
                <a:lnTo>
                  <a:pt x="3042578" y="3042578"/>
                </a:lnTo>
                <a:lnTo>
                  <a:pt x="0" y="3042578"/>
                </a:lnTo>
                <a:lnTo>
                  <a:pt x="0" y="0"/>
                </a:lnTo>
                <a:close/>
              </a:path>
            </a:pathLst>
          </a:custGeom>
          <a:blipFill>
            <a:blip r:embed="rId2"/>
            <a:stretch>
              <a:fillRect l="-24999" t="0" r="-25000" b="0"/>
            </a:stretch>
          </a:blipFill>
        </p:spPr>
      </p:sp>
      <p:sp>
        <p:nvSpPr>
          <p:cNvPr name="TextBox 4" id="4"/>
          <p:cNvSpPr txBox="true"/>
          <p:nvPr/>
        </p:nvSpPr>
        <p:spPr>
          <a:xfrm rot="0">
            <a:off x="942975" y="1079499"/>
            <a:ext cx="8919160" cy="915989"/>
          </a:xfrm>
          <a:prstGeom prst="rect">
            <a:avLst/>
          </a:prstGeom>
        </p:spPr>
        <p:txBody>
          <a:bodyPr anchor="t" rtlCol="false" tIns="0" lIns="0" bIns="0" rIns="0">
            <a:spAutoFit/>
          </a:bodyPr>
          <a:lstStyle/>
          <a:p>
            <a:pPr algn="l">
              <a:lnSpc>
                <a:spcPts val="6400"/>
              </a:lnSpc>
            </a:pPr>
            <a:r>
              <a:rPr lang="en-US" sz="8000" spc="-320" b="true">
                <a:solidFill>
                  <a:srgbClr val="31220C"/>
                </a:solidFill>
                <a:latin typeface="Tex Gyre Termes Bold"/>
                <a:ea typeface="Tex Gyre Termes Bold"/>
                <a:cs typeface="Tex Gyre Termes Bold"/>
                <a:sym typeface="Tex Gyre Termes Bold"/>
              </a:rPr>
              <a:t>P</a:t>
            </a:r>
            <a:r>
              <a:rPr lang="en-US" b="true" sz="8000" spc="-320">
                <a:solidFill>
                  <a:srgbClr val="31220C"/>
                </a:solidFill>
                <a:latin typeface="Tex Gyre Termes Bold"/>
                <a:ea typeface="Tex Gyre Termes Bold"/>
                <a:cs typeface="Tex Gyre Termes Bold"/>
                <a:sym typeface="Tex Gyre Termes Bold"/>
              </a:rPr>
              <a:t>roduct Roadmap</a:t>
            </a:r>
          </a:p>
        </p:txBody>
      </p:sp>
      <p:sp>
        <p:nvSpPr>
          <p:cNvPr name="TextBox 5" id="5"/>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9</a:t>
            </a:r>
          </a:p>
        </p:txBody>
      </p:sp>
      <p:sp>
        <p:nvSpPr>
          <p:cNvPr name="TextBox 6" id="6"/>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TextBox 7" id="7"/>
          <p:cNvSpPr txBox="true"/>
          <p:nvPr/>
        </p:nvSpPr>
        <p:spPr>
          <a:xfrm rot="0">
            <a:off x="942975" y="6275560"/>
            <a:ext cx="3343860"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Near T</a:t>
            </a:r>
            <a:r>
              <a:rPr lang="en-US" b="true" sz="2799" spc="167">
                <a:solidFill>
                  <a:srgbClr val="31220C"/>
                </a:solidFill>
                <a:latin typeface="Open Sauce Bold"/>
                <a:ea typeface="Open Sauce Bold"/>
                <a:cs typeface="Open Sauce Bold"/>
                <a:sym typeface="Open Sauce Bold"/>
              </a:rPr>
              <a:t>erm</a:t>
            </a:r>
          </a:p>
        </p:txBody>
      </p:sp>
      <p:sp>
        <p:nvSpPr>
          <p:cNvPr name="TextBox 8" id="8"/>
          <p:cNvSpPr txBox="true"/>
          <p:nvPr/>
        </p:nvSpPr>
        <p:spPr>
          <a:xfrm rot="0">
            <a:off x="942975" y="7156940"/>
            <a:ext cx="3343860" cy="186880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Improved builder ergonomics, template marketplace, and policy testing.</a:t>
            </a:r>
          </a:p>
        </p:txBody>
      </p:sp>
      <p:sp>
        <p:nvSpPr>
          <p:cNvPr name="TextBox 9" id="9"/>
          <p:cNvSpPr txBox="true"/>
          <p:nvPr/>
        </p:nvSpPr>
        <p:spPr>
          <a:xfrm rot="0">
            <a:off x="5639295" y="6275560"/>
            <a:ext cx="3343860"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Mid Term</a:t>
            </a:r>
          </a:p>
        </p:txBody>
      </p:sp>
      <p:sp>
        <p:nvSpPr>
          <p:cNvPr name="TextBox 10" id="10"/>
          <p:cNvSpPr txBox="true"/>
          <p:nvPr/>
        </p:nvSpPr>
        <p:spPr>
          <a:xfrm rot="0">
            <a:off x="5639295" y="7156940"/>
            <a:ext cx="3343860" cy="186880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Domain‑specific AI skills, deeper role permissions, offline mobile tasks.</a:t>
            </a:r>
          </a:p>
        </p:txBody>
      </p:sp>
      <p:sp>
        <p:nvSpPr>
          <p:cNvPr name="TextBox 11" id="11"/>
          <p:cNvSpPr txBox="true"/>
          <p:nvPr/>
        </p:nvSpPr>
        <p:spPr>
          <a:xfrm rot="0">
            <a:off x="10335615" y="6275560"/>
            <a:ext cx="3343860" cy="490855"/>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Later</a:t>
            </a:r>
          </a:p>
        </p:txBody>
      </p:sp>
      <p:sp>
        <p:nvSpPr>
          <p:cNvPr name="TextBox 12" id="12"/>
          <p:cNvSpPr txBox="true"/>
          <p:nvPr/>
        </p:nvSpPr>
        <p:spPr>
          <a:xfrm rot="0">
            <a:off x="10335615" y="7156940"/>
            <a:ext cx="3343860" cy="186880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Autonomous workflow suggestions with human control and full explainability.</a:t>
            </a:r>
          </a:p>
        </p:txBody>
      </p:sp>
      <p:sp>
        <p:nvSpPr>
          <p:cNvPr name="Freeform 13" id="13"/>
          <p:cNvSpPr/>
          <p:nvPr/>
        </p:nvSpPr>
        <p:spPr>
          <a:xfrm flipH="false" flipV="false" rot="0">
            <a:off x="5639295" y="2785307"/>
            <a:ext cx="3042578" cy="3042578"/>
          </a:xfrm>
          <a:custGeom>
            <a:avLst/>
            <a:gdLst/>
            <a:ahLst/>
            <a:cxnLst/>
            <a:rect r="r" b="b" t="t" l="l"/>
            <a:pathLst>
              <a:path h="3042578" w="3042578">
                <a:moveTo>
                  <a:pt x="0" y="0"/>
                </a:moveTo>
                <a:lnTo>
                  <a:pt x="3042578" y="0"/>
                </a:lnTo>
                <a:lnTo>
                  <a:pt x="3042578" y="3042578"/>
                </a:lnTo>
                <a:lnTo>
                  <a:pt x="0" y="3042578"/>
                </a:lnTo>
                <a:lnTo>
                  <a:pt x="0" y="0"/>
                </a:lnTo>
                <a:close/>
              </a:path>
            </a:pathLst>
          </a:custGeom>
          <a:blipFill>
            <a:blip r:embed="rId3"/>
            <a:stretch>
              <a:fillRect l="0" t="-25000" r="0" b="-25000"/>
            </a:stretch>
          </a:blipFill>
        </p:spPr>
      </p:sp>
      <p:sp>
        <p:nvSpPr>
          <p:cNvPr name="Freeform 14" id="14"/>
          <p:cNvSpPr/>
          <p:nvPr/>
        </p:nvSpPr>
        <p:spPr>
          <a:xfrm flipH="false" flipV="false" rot="0">
            <a:off x="10335615" y="2785307"/>
            <a:ext cx="3042578" cy="3042578"/>
          </a:xfrm>
          <a:custGeom>
            <a:avLst/>
            <a:gdLst/>
            <a:ahLst/>
            <a:cxnLst/>
            <a:rect r="r" b="b" t="t" l="l"/>
            <a:pathLst>
              <a:path h="3042578" w="3042578">
                <a:moveTo>
                  <a:pt x="0" y="0"/>
                </a:moveTo>
                <a:lnTo>
                  <a:pt x="3042578" y="0"/>
                </a:lnTo>
                <a:lnTo>
                  <a:pt x="3042578" y="3042578"/>
                </a:lnTo>
                <a:lnTo>
                  <a:pt x="0" y="3042578"/>
                </a:lnTo>
                <a:lnTo>
                  <a:pt x="0" y="0"/>
                </a:lnTo>
                <a:close/>
              </a:path>
            </a:pathLst>
          </a:custGeom>
          <a:blipFill>
            <a:blip r:embed="rId4"/>
            <a:stretch>
              <a:fillRect l="0" t="-25000" r="0" b="-2500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6F3EA"/>
        </a:solidFill>
      </p:bgPr>
    </p:bg>
    <p:spTree>
      <p:nvGrpSpPr>
        <p:cNvPr id="1" name=""/>
        <p:cNvGrpSpPr/>
        <p:nvPr/>
      </p:nvGrpSpPr>
      <p:grpSpPr>
        <a:xfrm>
          <a:off x="0" y="0"/>
          <a:ext cx="0" cy="0"/>
          <a:chOff x="0" y="0"/>
          <a:chExt cx="0" cy="0"/>
        </a:xfrm>
      </p:grpSpPr>
      <p:sp>
        <p:nvSpPr>
          <p:cNvPr name="AutoShape 2" id="2"/>
          <p:cNvSpPr/>
          <p:nvPr/>
        </p:nvSpPr>
        <p:spPr>
          <a:xfrm flipH="true">
            <a:off x="15206662" y="0"/>
            <a:ext cx="0" cy="10287000"/>
          </a:xfrm>
          <a:prstGeom prst="line">
            <a:avLst/>
          </a:prstGeom>
          <a:ln cap="flat" w="9525">
            <a:solidFill>
              <a:srgbClr val="31220C"/>
            </a:solidFill>
            <a:prstDash val="solid"/>
            <a:headEnd type="none" len="sm" w="sm"/>
            <a:tailEnd type="none" len="sm" w="sm"/>
          </a:ln>
        </p:spPr>
      </p:sp>
      <p:sp>
        <p:nvSpPr>
          <p:cNvPr name="Freeform 3" id="3"/>
          <p:cNvSpPr/>
          <p:nvPr/>
        </p:nvSpPr>
        <p:spPr>
          <a:xfrm flipH="false" flipV="false" rot="0">
            <a:off x="4305795" y="3515875"/>
            <a:ext cx="2916606" cy="3645757"/>
          </a:xfrm>
          <a:custGeom>
            <a:avLst/>
            <a:gdLst/>
            <a:ahLst/>
            <a:cxnLst/>
            <a:rect r="r" b="b" t="t" l="l"/>
            <a:pathLst>
              <a:path h="3645757" w="2916606">
                <a:moveTo>
                  <a:pt x="0" y="0"/>
                </a:moveTo>
                <a:lnTo>
                  <a:pt x="2916606" y="0"/>
                </a:lnTo>
                <a:lnTo>
                  <a:pt x="2916606" y="3645757"/>
                </a:lnTo>
                <a:lnTo>
                  <a:pt x="0" y="3645757"/>
                </a:lnTo>
                <a:lnTo>
                  <a:pt x="0" y="0"/>
                </a:lnTo>
                <a:close/>
              </a:path>
            </a:pathLst>
          </a:custGeom>
          <a:blipFill>
            <a:blip r:embed="rId2"/>
            <a:stretch>
              <a:fillRect l="-33333" t="0" r="-33333" b="0"/>
            </a:stretch>
          </a:blipFill>
        </p:spPr>
      </p:sp>
      <p:sp>
        <p:nvSpPr>
          <p:cNvPr name="TextBox 4" id="4"/>
          <p:cNvSpPr txBox="true"/>
          <p:nvPr/>
        </p:nvSpPr>
        <p:spPr>
          <a:xfrm rot="0">
            <a:off x="942975" y="1079499"/>
            <a:ext cx="8919160" cy="915989"/>
          </a:xfrm>
          <a:prstGeom prst="rect">
            <a:avLst/>
          </a:prstGeom>
        </p:spPr>
        <p:txBody>
          <a:bodyPr anchor="t" rtlCol="false" tIns="0" lIns="0" bIns="0" rIns="0">
            <a:spAutoFit/>
          </a:bodyPr>
          <a:lstStyle/>
          <a:p>
            <a:pPr algn="l">
              <a:lnSpc>
                <a:spcPts val="6400"/>
              </a:lnSpc>
            </a:pPr>
            <a:r>
              <a:rPr lang="en-US" sz="8000" spc="-320" b="true">
                <a:solidFill>
                  <a:srgbClr val="31220C"/>
                </a:solidFill>
                <a:latin typeface="Tex Gyre Termes Bold"/>
                <a:ea typeface="Tex Gyre Termes Bold"/>
                <a:cs typeface="Tex Gyre Termes Bold"/>
                <a:sym typeface="Tex Gyre Termes Bold"/>
              </a:rPr>
              <a:t>Te</a:t>
            </a:r>
            <a:r>
              <a:rPr lang="en-US" b="true" sz="8000" spc="-320">
                <a:solidFill>
                  <a:srgbClr val="31220C"/>
                </a:solidFill>
                <a:latin typeface="Tex Gyre Termes Bold"/>
                <a:ea typeface="Tex Gyre Termes Bold"/>
                <a:cs typeface="Tex Gyre Termes Bold"/>
                <a:sym typeface="Tex Gyre Termes Bold"/>
              </a:rPr>
              <a:t>am</a:t>
            </a:r>
          </a:p>
        </p:txBody>
      </p:sp>
      <p:sp>
        <p:nvSpPr>
          <p:cNvPr name="TextBox 5" id="5"/>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10</a:t>
            </a:r>
          </a:p>
        </p:txBody>
      </p:sp>
      <p:sp>
        <p:nvSpPr>
          <p:cNvPr name="TextBox 6" id="6"/>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Freeform 7" id="7"/>
          <p:cNvSpPr/>
          <p:nvPr/>
        </p:nvSpPr>
        <p:spPr>
          <a:xfrm flipH="false" flipV="false" rot="0">
            <a:off x="7664220" y="3515875"/>
            <a:ext cx="2916606" cy="3645757"/>
          </a:xfrm>
          <a:custGeom>
            <a:avLst/>
            <a:gdLst/>
            <a:ahLst/>
            <a:cxnLst/>
            <a:rect r="r" b="b" t="t" l="l"/>
            <a:pathLst>
              <a:path h="3645757" w="2916606">
                <a:moveTo>
                  <a:pt x="0" y="0"/>
                </a:moveTo>
                <a:lnTo>
                  <a:pt x="2916605" y="0"/>
                </a:lnTo>
                <a:lnTo>
                  <a:pt x="2916605" y="3645757"/>
                </a:lnTo>
                <a:lnTo>
                  <a:pt x="0" y="3645757"/>
                </a:lnTo>
                <a:lnTo>
                  <a:pt x="0" y="0"/>
                </a:lnTo>
                <a:close/>
              </a:path>
            </a:pathLst>
          </a:custGeom>
          <a:blipFill>
            <a:blip r:embed="rId3"/>
            <a:stretch>
              <a:fillRect l="-33333" t="0" r="-33333" b="0"/>
            </a:stretch>
          </a:blipFill>
        </p:spPr>
      </p:sp>
      <p:sp>
        <p:nvSpPr>
          <p:cNvPr name="Freeform 8" id="8"/>
          <p:cNvSpPr/>
          <p:nvPr/>
        </p:nvSpPr>
        <p:spPr>
          <a:xfrm flipH="false" flipV="false" rot="0">
            <a:off x="947370" y="3515875"/>
            <a:ext cx="2916606" cy="3645757"/>
          </a:xfrm>
          <a:custGeom>
            <a:avLst/>
            <a:gdLst/>
            <a:ahLst/>
            <a:cxnLst/>
            <a:rect r="r" b="b" t="t" l="l"/>
            <a:pathLst>
              <a:path h="3645757" w="2916606">
                <a:moveTo>
                  <a:pt x="0" y="0"/>
                </a:moveTo>
                <a:lnTo>
                  <a:pt x="2916606" y="0"/>
                </a:lnTo>
                <a:lnTo>
                  <a:pt x="2916606" y="3645757"/>
                </a:lnTo>
                <a:lnTo>
                  <a:pt x="0" y="3645757"/>
                </a:lnTo>
                <a:lnTo>
                  <a:pt x="0" y="0"/>
                </a:lnTo>
                <a:close/>
              </a:path>
            </a:pathLst>
          </a:custGeom>
          <a:blipFill>
            <a:blip r:embed="rId4"/>
            <a:stretch>
              <a:fillRect l="0" t="-3333" r="0" b="-3333"/>
            </a:stretch>
          </a:blipFill>
        </p:spPr>
      </p:sp>
      <p:grpSp>
        <p:nvGrpSpPr>
          <p:cNvPr name="Group 9" id="9"/>
          <p:cNvGrpSpPr/>
          <p:nvPr/>
        </p:nvGrpSpPr>
        <p:grpSpPr>
          <a:xfrm rot="0">
            <a:off x="942975" y="7675982"/>
            <a:ext cx="13199969" cy="1635760"/>
            <a:chOff x="0" y="0"/>
            <a:chExt cx="17599958" cy="2181013"/>
          </a:xfrm>
        </p:grpSpPr>
        <p:sp>
          <p:nvSpPr>
            <p:cNvPr name="TextBox 10" id="10"/>
            <p:cNvSpPr txBox="true"/>
            <p:nvPr/>
          </p:nvSpPr>
          <p:spPr>
            <a:xfrm rot="0">
              <a:off x="4483760" y="-66675"/>
              <a:ext cx="4160399" cy="1292648"/>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Rachelle</a:t>
              </a:r>
              <a:r>
                <a:rPr lang="en-US" b="true" sz="2799" spc="167">
                  <a:solidFill>
                    <a:srgbClr val="31220C"/>
                  </a:solidFill>
                  <a:latin typeface="Open Sauce Bold"/>
                  <a:ea typeface="Open Sauce Bold"/>
                  <a:cs typeface="Open Sauce Bold"/>
                  <a:sym typeface="Open Sauce Bold"/>
                </a:rPr>
                <a:t> Beaudry</a:t>
              </a:r>
            </a:p>
          </p:txBody>
        </p:sp>
        <p:sp>
          <p:nvSpPr>
            <p:cNvPr name="TextBox 11" id="11"/>
            <p:cNvSpPr txBox="true"/>
            <p:nvPr/>
          </p:nvSpPr>
          <p:spPr>
            <a:xfrm rot="0">
              <a:off x="4483760" y="1635548"/>
              <a:ext cx="4160399" cy="54546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Project Coordinator</a:t>
              </a:r>
            </a:p>
          </p:txBody>
        </p:sp>
        <p:sp>
          <p:nvSpPr>
            <p:cNvPr name="TextBox 12" id="12"/>
            <p:cNvSpPr txBox="true"/>
            <p:nvPr/>
          </p:nvSpPr>
          <p:spPr>
            <a:xfrm rot="0">
              <a:off x="0" y="-66675"/>
              <a:ext cx="4166260" cy="1292648"/>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Morgan Maxwell</a:t>
              </a:r>
            </a:p>
          </p:txBody>
        </p:sp>
        <p:sp>
          <p:nvSpPr>
            <p:cNvPr name="TextBox 13" id="13"/>
            <p:cNvSpPr txBox="true"/>
            <p:nvPr/>
          </p:nvSpPr>
          <p:spPr>
            <a:xfrm rot="0">
              <a:off x="0" y="1635548"/>
              <a:ext cx="4166260" cy="54546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Project Manager</a:t>
              </a:r>
            </a:p>
          </p:txBody>
        </p:sp>
        <p:sp>
          <p:nvSpPr>
            <p:cNvPr name="TextBox 14" id="14"/>
            <p:cNvSpPr txBox="true"/>
            <p:nvPr/>
          </p:nvSpPr>
          <p:spPr>
            <a:xfrm rot="0">
              <a:off x="8961659" y="593725"/>
              <a:ext cx="4160399" cy="632248"/>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Shawn</a:t>
              </a:r>
              <a:r>
                <a:rPr lang="en-US" b="true" sz="2799" spc="167">
                  <a:solidFill>
                    <a:srgbClr val="31220C"/>
                  </a:solidFill>
                  <a:latin typeface="Open Sauce Bold"/>
                  <a:ea typeface="Open Sauce Bold"/>
                  <a:cs typeface="Open Sauce Bold"/>
                  <a:sym typeface="Open Sauce Bold"/>
                </a:rPr>
                <a:t> Garcia</a:t>
              </a:r>
            </a:p>
          </p:txBody>
        </p:sp>
        <p:sp>
          <p:nvSpPr>
            <p:cNvPr name="TextBox 15" id="15"/>
            <p:cNvSpPr txBox="true"/>
            <p:nvPr/>
          </p:nvSpPr>
          <p:spPr>
            <a:xfrm rot="0">
              <a:off x="8961659" y="1635548"/>
              <a:ext cx="4160399" cy="54546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Project Coordinator</a:t>
              </a:r>
            </a:p>
          </p:txBody>
        </p:sp>
        <p:sp>
          <p:nvSpPr>
            <p:cNvPr name="TextBox 16" id="16"/>
            <p:cNvSpPr txBox="true"/>
            <p:nvPr/>
          </p:nvSpPr>
          <p:spPr>
            <a:xfrm rot="0">
              <a:off x="13439559" y="593725"/>
              <a:ext cx="4160399" cy="632248"/>
            </a:xfrm>
            <a:prstGeom prst="rect">
              <a:avLst/>
            </a:prstGeom>
          </p:spPr>
          <p:txBody>
            <a:bodyPr anchor="t" rtlCol="false" tIns="0" lIns="0" bIns="0" rIns="0">
              <a:spAutoFit/>
            </a:bodyPr>
            <a:lstStyle/>
            <a:p>
              <a:pPr algn="l">
                <a:lnSpc>
                  <a:spcPts val="3919"/>
                </a:lnSpc>
                <a:spcBef>
                  <a:spcPct val="0"/>
                </a:spcBef>
              </a:pPr>
              <a:r>
                <a:rPr lang="en-US" b="true" sz="2799" spc="167">
                  <a:solidFill>
                    <a:srgbClr val="31220C"/>
                  </a:solidFill>
                  <a:latin typeface="Open Sauce Bold"/>
                  <a:ea typeface="Open Sauce Bold"/>
                  <a:cs typeface="Open Sauce Bold"/>
                  <a:sym typeface="Open Sauce Bold"/>
                </a:rPr>
                <a:t>Takehiro</a:t>
              </a:r>
              <a:r>
                <a:rPr lang="en-US" b="true" sz="2799" spc="167">
                  <a:solidFill>
                    <a:srgbClr val="31220C"/>
                  </a:solidFill>
                  <a:latin typeface="Open Sauce Bold"/>
                  <a:ea typeface="Open Sauce Bold"/>
                  <a:cs typeface="Open Sauce Bold"/>
                  <a:sym typeface="Open Sauce Bold"/>
                </a:rPr>
                <a:t> Kanegi</a:t>
              </a:r>
            </a:p>
          </p:txBody>
        </p:sp>
        <p:sp>
          <p:nvSpPr>
            <p:cNvPr name="TextBox 17" id="17"/>
            <p:cNvSpPr txBox="true"/>
            <p:nvPr/>
          </p:nvSpPr>
          <p:spPr>
            <a:xfrm rot="0">
              <a:off x="13439559" y="1635548"/>
              <a:ext cx="4160399" cy="545465"/>
            </a:xfrm>
            <a:prstGeom prst="rect">
              <a:avLst/>
            </a:prstGeom>
          </p:spPr>
          <p:txBody>
            <a:bodyPr anchor="t" rtlCol="false" tIns="0" lIns="0" bIns="0" rIns="0">
              <a:spAutoFit/>
            </a:bodyPr>
            <a:lstStyle/>
            <a:p>
              <a:pPr algn="l">
                <a:lnSpc>
                  <a:spcPts val="3780"/>
                </a:lnSpc>
              </a:pPr>
              <a:r>
                <a:rPr lang="en-US" sz="2100" spc="126">
                  <a:solidFill>
                    <a:srgbClr val="31220C"/>
                  </a:solidFill>
                  <a:latin typeface="Open Sauce"/>
                  <a:ea typeface="Open Sauce"/>
                  <a:cs typeface="Open Sauce"/>
                  <a:sym typeface="Open Sauce"/>
                </a:rPr>
                <a:t>Project Coordinator</a:t>
              </a:r>
            </a:p>
          </p:txBody>
        </p:sp>
      </p:grpSp>
      <p:sp>
        <p:nvSpPr>
          <p:cNvPr name="Freeform 18" id="18"/>
          <p:cNvSpPr/>
          <p:nvPr/>
        </p:nvSpPr>
        <p:spPr>
          <a:xfrm flipH="false" flipV="false" rot="0">
            <a:off x="11022644" y="3515875"/>
            <a:ext cx="2916606" cy="3645757"/>
          </a:xfrm>
          <a:custGeom>
            <a:avLst/>
            <a:gdLst/>
            <a:ahLst/>
            <a:cxnLst/>
            <a:rect r="r" b="b" t="t" l="l"/>
            <a:pathLst>
              <a:path h="3645757" w="2916606">
                <a:moveTo>
                  <a:pt x="0" y="0"/>
                </a:moveTo>
                <a:lnTo>
                  <a:pt x="2916606" y="0"/>
                </a:lnTo>
                <a:lnTo>
                  <a:pt x="2916606" y="3645757"/>
                </a:lnTo>
                <a:lnTo>
                  <a:pt x="0" y="3645757"/>
                </a:lnTo>
                <a:lnTo>
                  <a:pt x="0" y="0"/>
                </a:lnTo>
                <a:close/>
              </a:path>
            </a:pathLst>
          </a:custGeom>
          <a:blipFill>
            <a:blip r:embed="rId5"/>
            <a:stretch>
              <a:fillRect l="0" t="-3333" r="0" b="-3333"/>
            </a:stretch>
          </a:blipFill>
        </p:spPr>
      </p:sp>
    </p:spTree>
  </p:cSld>
  <p:clrMapOvr>
    <a:masterClrMapping/>
  </p:clrMapOvr>
</p:sld>
</file>

<file path=ppt/slides/slide11.xml><?xml version="1.0" encoding="utf-8"?>
<p:sld xmlns:p="http://schemas.openxmlformats.org/presentationml/2006/main" xmlns:a="http://schemas.openxmlformats.org/drawingml/2006/main">
  <p:cSld>
    <p:bg>
      <p:bgPr>
        <a:solidFill>
          <a:srgbClr val="F6F3EA"/>
        </a:solidFill>
      </p:bgPr>
    </p:bg>
    <p:spTree>
      <p:nvGrpSpPr>
        <p:cNvPr id="1" name=""/>
        <p:cNvGrpSpPr/>
        <p:nvPr/>
      </p:nvGrpSpPr>
      <p:grpSpPr>
        <a:xfrm>
          <a:off x="0" y="0"/>
          <a:ext cx="0" cy="0"/>
          <a:chOff x="0" y="0"/>
          <a:chExt cx="0" cy="0"/>
        </a:xfrm>
      </p:grpSpPr>
      <p:sp>
        <p:nvSpPr>
          <p:cNvPr name="TextBox 2" id="2"/>
          <p:cNvSpPr txBox="true"/>
          <p:nvPr/>
        </p:nvSpPr>
        <p:spPr>
          <a:xfrm rot="0">
            <a:off x="942975" y="5417809"/>
            <a:ext cx="9421290" cy="1827211"/>
          </a:xfrm>
          <a:prstGeom prst="rect">
            <a:avLst/>
          </a:prstGeom>
        </p:spPr>
        <p:txBody>
          <a:bodyPr anchor="t" rtlCol="false" tIns="0" lIns="0" bIns="0" rIns="0">
            <a:spAutoFit/>
          </a:bodyPr>
          <a:lstStyle/>
          <a:p>
            <a:pPr algn="l">
              <a:lnSpc>
                <a:spcPts val="12799"/>
              </a:lnSpc>
            </a:pPr>
            <a:r>
              <a:rPr lang="en-US" sz="15999" spc="-639" b="true">
                <a:solidFill>
                  <a:srgbClr val="31220C"/>
                </a:solidFill>
                <a:latin typeface="Tex Gyre Termes Bold"/>
                <a:ea typeface="Tex Gyre Termes Bold"/>
                <a:cs typeface="Tex Gyre Termes Bold"/>
                <a:sym typeface="Tex Gyre Termes Bold"/>
              </a:rPr>
              <a:t>The End</a:t>
            </a:r>
          </a:p>
        </p:txBody>
      </p:sp>
      <p:sp>
        <p:nvSpPr>
          <p:cNvPr name="TextBox 3" id="3"/>
          <p:cNvSpPr txBox="true"/>
          <p:nvPr/>
        </p:nvSpPr>
        <p:spPr>
          <a:xfrm rot="0">
            <a:off x="942975" y="7456190"/>
            <a:ext cx="10041539" cy="490855"/>
          </a:xfrm>
          <a:prstGeom prst="rect">
            <a:avLst/>
          </a:prstGeom>
        </p:spPr>
        <p:txBody>
          <a:bodyPr anchor="t" rtlCol="false" tIns="0" lIns="0" bIns="0" rIns="0">
            <a:spAutoFit/>
          </a:bodyPr>
          <a:lstStyle/>
          <a:p>
            <a:pPr algn="l">
              <a:lnSpc>
                <a:spcPts val="3919"/>
              </a:lnSpc>
              <a:spcBef>
                <a:spcPct val="0"/>
              </a:spcBef>
            </a:pPr>
            <a:r>
              <a:rPr lang="en-US" sz="2799" spc="167">
                <a:solidFill>
                  <a:srgbClr val="31220C"/>
                </a:solidFill>
                <a:latin typeface="Open Sauce"/>
                <a:ea typeface="Open Sauce"/>
                <a:cs typeface="Open Sauce"/>
                <a:sym typeface="Open Sauce"/>
              </a:rPr>
              <a:t>Thank You For Listening</a:t>
            </a:r>
          </a:p>
        </p:txBody>
      </p:sp>
      <p:sp>
        <p:nvSpPr>
          <p:cNvPr name="TextBox 4" id="4"/>
          <p:cNvSpPr txBox="true"/>
          <p:nvPr/>
        </p:nvSpPr>
        <p:spPr>
          <a:xfrm rot="0">
            <a:off x="15861068" y="8970010"/>
            <a:ext cx="1767765" cy="365760"/>
          </a:xfrm>
          <a:prstGeom prst="rect">
            <a:avLst/>
          </a:prstGeom>
        </p:spPr>
        <p:txBody>
          <a:bodyPr anchor="t" rtlCol="false" tIns="0" lIns="0" bIns="0" rIns="0">
            <a:spAutoFit/>
          </a:bodyPr>
          <a:lstStyle/>
          <a:p>
            <a:pPr algn="ctr">
              <a:lnSpc>
                <a:spcPts val="2940"/>
              </a:lnSpc>
              <a:spcBef>
                <a:spcPct val="0"/>
              </a:spcBef>
            </a:pPr>
            <a:r>
              <a:rPr lang="en-US" b="true" sz="2100" spc="420">
                <a:solidFill>
                  <a:srgbClr val="31220C"/>
                </a:solidFill>
                <a:latin typeface="Open Sauce Bold"/>
                <a:ea typeface="Open Sauce Bold"/>
                <a:cs typeface="Open Sauce Bold"/>
                <a:sym typeface="Open Sauce Bold"/>
              </a:rPr>
              <a:t>2026</a:t>
            </a:r>
          </a:p>
        </p:txBody>
      </p:sp>
      <p:sp>
        <p:nvSpPr>
          <p:cNvPr name="TextBox 5" id="5"/>
          <p:cNvSpPr txBox="true"/>
          <p:nvPr/>
        </p:nvSpPr>
        <p:spPr>
          <a:xfrm rot="0">
            <a:off x="15861068" y="907856"/>
            <a:ext cx="1767765" cy="737235"/>
          </a:xfrm>
          <a:prstGeom prst="rect">
            <a:avLst/>
          </a:prstGeom>
        </p:spPr>
        <p:txBody>
          <a:bodyPr anchor="t" rtlCol="false" tIns="0" lIns="0" bIns="0" rIns="0">
            <a:spAutoFit/>
          </a:bodyPr>
          <a:lstStyle/>
          <a:p>
            <a:pPr algn="ctr">
              <a:lnSpc>
                <a:spcPts val="2940"/>
              </a:lnSpc>
              <a:spcBef>
                <a:spcPct val="0"/>
              </a:spcBef>
            </a:pPr>
            <a:r>
              <a:rPr lang="en-US" b="true" sz="2100">
                <a:solidFill>
                  <a:srgbClr val="31220C"/>
                </a:solidFill>
                <a:latin typeface="Open Sauce Bold"/>
                <a:ea typeface="Open Sauce Bold"/>
                <a:cs typeface="Open Sauce Bold"/>
                <a:sym typeface="Open Sauce Bold"/>
              </a:rPr>
              <a:t>Ingoude Company</a:t>
            </a:r>
          </a:p>
        </p:txBody>
      </p:sp>
      <p:sp>
        <p:nvSpPr>
          <p:cNvPr name="TextBox 6" id="6"/>
          <p:cNvSpPr txBox="true"/>
          <p:nvPr/>
        </p:nvSpPr>
        <p:spPr>
          <a:xfrm rot="0">
            <a:off x="942975" y="8916987"/>
            <a:ext cx="10041539" cy="365760"/>
          </a:xfrm>
          <a:prstGeom prst="rect">
            <a:avLst/>
          </a:prstGeom>
        </p:spPr>
        <p:txBody>
          <a:bodyPr anchor="t" rtlCol="false" tIns="0" lIns="0" bIns="0" rIns="0">
            <a:spAutoFit/>
          </a:bodyPr>
          <a:lstStyle/>
          <a:p>
            <a:pPr algn="just" marL="0" indent="0" lvl="0">
              <a:lnSpc>
                <a:spcPts val="2940"/>
              </a:lnSpc>
              <a:spcBef>
                <a:spcPct val="0"/>
              </a:spcBef>
            </a:pPr>
            <a:r>
              <a:rPr lang="en-US" b="true" sz="2100" spc="420">
                <a:solidFill>
                  <a:srgbClr val="31220C"/>
                </a:solidFill>
                <a:latin typeface="Open Sauce Bold"/>
                <a:ea typeface="Open Sauce Bold"/>
                <a:cs typeface="Open Sauce Bold"/>
                <a:sym typeface="Open Sauce Bold"/>
              </a:rPr>
              <a:t>Morga</a:t>
            </a:r>
            <a:r>
              <a:rPr lang="en-US" b="true" sz="2100" spc="420">
                <a:solidFill>
                  <a:srgbClr val="31220C"/>
                </a:solidFill>
                <a:latin typeface="Open Sauce Bold"/>
                <a:ea typeface="Open Sauce Bold"/>
                <a:cs typeface="Open Sauce Bold"/>
                <a:sym typeface="Open Sauce Bold"/>
              </a:rPr>
              <a:t>N</a:t>
            </a:r>
            <a:r>
              <a:rPr lang="en-US" b="true" sz="2100" spc="420" strike="noStrike" u="none">
                <a:solidFill>
                  <a:srgbClr val="31220C"/>
                </a:solidFill>
                <a:latin typeface="Open Sauce Bold"/>
                <a:ea typeface="Open Sauce Bold"/>
                <a:cs typeface="Open Sauce Bold"/>
                <a:sym typeface="Open Sauce Bold"/>
              </a:rPr>
              <a:t> </a:t>
            </a:r>
            <a:r>
              <a:rPr lang="en-US" b="true" sz="2100" spc="420" strike="noStrike" u="none">
                <a:solidFill>
                  <a:srgbClr val="31220C"/>
                </a:solidFill>
                <a:latin typeface="Open Sauce Bold"/>
                <a:ea typeface="Open Sauce Bold"/>
                <a:cs typeface="Open Sauce Bold"/>
                <a:sym typeface="Open Sauce Bold"/>
              </a:rPr>
              <a:t>M</a:t>
            </a:r>
            <a:r>
              <a:rPr lang="en-US" b="true" sz="2100" spc="420" strike="noStrike" u="none">
                <a:solidFill>
                  <a:srgbClr val="31220C"/>
                </a:solidFill>
                <a:latin typeface="Open Sauce Bold"/>
                <a:ea typeface="Open Sauce Bold"/>
                <a:cs typeface="Open Sauce Bold"/>
                <a:sym typeface="Open Sauce Bold"/>
              </a:rPr>
              <a:t>AXWELL</a:t>
            </a:r>
          </a:p>
        </p:txBody>
      </p:sp>
      <p:sp>
        <p:nvSpPr>
          <p:cNvPr name="AutoShape 7" id="7"/>
          <p:cNvSpPr/>
          <p:nvPr/>
        </p:nvSpPr>
        <p:spPr>
          <a:xfrm flipH="true">
            <a:off x="15206662" y="0"/>
            <a:ext cx="0" cy="10287000"/>
          </a:xfrm>
          <a:prstGeom prst="line">
            <a:avLst/>
          </a:prstGeom>
          <a:ln cap="flat" w="9525">
            <a:solidFill>
              <a:srgbClr val="31220C"/>
            </a:solidFill>
            <a:prstDash val="solid"/>
            <a:headEnd type="none" len="sm" w="sm"/>
            <a:tailEnd type="none" len="sm" w="sm"/>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DAHHksBbcXE</dc:identifier>
  <dcterms:modified xsi:type="dcterms:W3CDTF">2011-08-01T06:04:30Z</dcterms:modified>
  <cp:revision>1</cp:revision>
  <dc:title>Beige and Brown Plain Minimalist Modern Company Pitch Deck Presentation</dc:title>
</cp:coreProperties>
</file>