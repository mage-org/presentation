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00100" y="1066800"/>
            <a:ext cx="0" cy="209550"/>
          </a:xfrm>
          <a:prstGeom prst="line">
            <a:avLst/>
          </a:prstGeom>
          <a:noFill/>
          <a:ln w="76200">
            <a:solidFill>
              <a:srgbClr val="00A99D"/>
            </a:solidFill>
            <a:prstDash val="solid"/>
          </a:ln>
        </p:spPr>
      </p:sp>
      <p:sp>
        <p:nvSpPr>
          <p:cNvPr id="3" name="Text 1"/>
          <p:cNvSpPr/>
          <p:nvPr/>
        </p:nvSpPr>
        <p:spPr>
          <a:xfrm>
            <a:off x="1015901" y="1066800"/>
            <a:ext cx="7513421" cy="209550"/>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AI CAREER AGENT</a:t>
            </a:r>
            <a:endParaRPr lang="en-US" sz="1400" dirty="0"/>
          </a:p>
        </p:txBody>
      </p:sp>
      <p:sp>
        <p:nvSpPr>
          <p:cNvPr id="4" name="Text 2"/>
          <p:cNvSpPr/>
          <p:nvPr/>
        </p:nvSpPr>
        <p:spPr>
          <a:xfrm>
            <a:off x="762000" y="1479500"/>
            <a:ext cx="7772400" cy="523875"/>
          </a:xfrm>
          <a:prstGeom prst="rect">
            <a:avLst/>
          </a:prstGeom>
          <a:noFill/>
          <a:ln/>
        </p:spPr>
        <p:txBody>
          <a:bodyPr wrap="square" lIns="0" tIns="0" rIns="0" bIns="0" rtlCol="0" anchor="t"/>
          <a:lstStyle/>
          <a:p>
            <a:pPr algn="l" indent="0" marL="0">
              <a:spcAft>
                <a:spcPts val="400"/>
              </a:spcAft>
              <a:buNone/>
            </a:pPr>
            <a:r>
              <a:rPr lang="en-US" sz="3600" b="1" dirty="0">
                <a:solidFill>
                  <a:srgbClr val="FFFFFF"/>
                </a:solidFill>
                <a:latin typeface="Arial" pitchFamily="34" charset="0"/>
                <a:ea typeface="Arial" pitchFamily="34" charset="-122"/>
                <a:cs typeface="Arial" pitchFamily="34" charset="-120"/>
              </a:rPr>
              <a:t>YourCompany</a:t>
            </a:r>
            <a:endParaRPr lang="en-US" sz="3600" dirty="0"/>
          </a:p>
        </p:txBody>
      </p:sp>
      <p:sp>
        <p:nvSpPr>
          <p:cNvPr id="5" name="Text 3"/>
          <p:cNvSpPr/>
          <p:nvPr/>
        </p:nvSpPr>
        <p:spPr>
          <a:xfrm>
            <a:off x="762000" y="2054126"/>
            <a:ext cx="7772400" cy="523875"/>
          </a:xfrm>
          <a:prstGeom prst="rect">
            <a:avLst/>
          </a:prstGeom>
          <a:noFill/>
          <a:ln/>
        </p:spPr>
        <p:txBody>
          <a:bodyPr wrap="square" lIns="0" tIns="0" rIns="0" bIns="0" rtlCol="0" anchor="t"/>
          <a:lstStyle/>
          <a:p>
            <a:pPr algn="l" indent="0" marL="0">
              <a:spcAft>
                <a:spcPts val="1200"/>
              </a:spcAft>
              <a:buNone/>
            </a:pPr>
            <a:r>
              <a:rPr lang="en-US" sz="3600" b="1" dirty="0">
                <a:solidFill>
                  <a:srgbClr val="FFFFFF"/>
                </a:solidFill>
                <a:latin typeface="Arial" pitchFamily="34" charset="0"/>
                <a:ea typeface="Arial" pitchFamily="34" charset="-122"/>
                <a:cs typeface="Arial" pitchFamily="34" charset="-120"/>
              </a:rPr>
              <a:t>Career Nexus</a:t>
            </a:r>
            <a:endParaRPr lang="en-US" sz="3600" dirty="0"/>
          </a:p>
        </p:txBody>
      </p:sp>
      <p:sp>
        <p:nvSpPr>
          <p:cNvPr id="6" name="Text 4"/>
          <p:cNvSpPr/>
          <p:nvPr/>
        </p:nvSpPr>
        <p:spPr>
          <a:xfrm>
            <a:off x="762000" y="2730401"/>
            <a:ext cx="7772400" cy="342900"/>
          </a:xfrm>
          <a:prstGeom prst="rect">
            <a:avLst/>
          </a:prstGeom>
          <a:noFill/>
          <a:ln/>
        </p:spPr>
        <p:txBody>
          <a:bodyPr wrap="square" lIns="0" tIns="0" rIns="0" bIns="0" rtlCol="0" anchor="t"/>
          <a:lstStyle/>
          <a:p>
            <a:pPr algn="l" indent="0" marL="0">
              <a:spcAft>
                <a:spcPts val="400"/>
              </a:spcAft>
              <a:buNone/>
            </a:pPr>
            <a:r>
              <a:rPr lang="en-US" sz="1800" b="1" dirty="0">
                <a:solidFill>
                  <a:srgbClr val="00A99D"/>
                </a:solidFill>
                <a:latin typeface="Arial" pitchFamily="34" charset="0"/>
                <a:ea typeface="Arial" pitchFamily="34" charset="-122"/>
                <a:cs typeface="Arial" pitchFamily="34" charset="-120"/>
              </a:rPr>
              <a:t>あなたのキャリアの選択肢、</a:t>
            </a:r>
            <a:endParaRPr lang="en-US" sz="1800" dirty="0"/>
          </a:p>
        </p:txBody>
      </p:sp>
      <p:sp>
        <p:nvSpPr>
          <p:cNvPr id="7" name="Text 5"/>
          <p:cNvSpPr/>
          <p:nvPr/>
        </p:nvSpPr>
        <p:spPr>
          <a:xfrm>
            <a:off x="762000" y="3124051"/>
            <a:ext cx="7772400" cy="342900"/>
          </a:xfrm>
          <a:prstGeom prst="rect">
            <a:avLst/>
          </a:prstGeom>
          <a:noFill/>
          <a:ln/>
        </p:spPr>
        <p:txBody>
          <a:bodyPr wrap="square" lIns="0" tIns="0" rIns="0" bIns="0" rtlCol="0" anchor="t"/>
          <a:lstStyle/>
          <a:p>
            <a:pPr algn="l" indent="0" marL="0">
              <a:spcAft>
                <a:spcPts val="3000"/>
              </a:spcAft>
              <a:buNone/>
            </a:pPr>
            <a:r>
              <a:rPr lang="en-US" sz="1800" b="1" dirty="0">
                <a:solidFill>
                  <a:srgbClr val="00A99D"/>
                </a:solidFill>
                <a:latin typeface="Arial" pitchFamily="34" charset="0"/>
                <a:ea typeface="Arial" pitchFamily="34" charset="-122"/>
                <a:cs typeface="Arial" pitchFamily="34" charset="-120"/>
              </a:rPr>
              <a:t>"半径5m"で決めていませんか？</a:t>
            </a:r>
            <a:endParaRPr lang="en-US" sz="1800" dirty="0"/>
          </a:p>
        </p:txBody>
      </p:sp>
      <p:sp>
        <p:nvSpPr>
          <p:cNvPr id="8" name="Text 6"/>
          <p:cNvSpPr/>
          <p:nvPr/>
        </p:nvSpPr>
        <p:spPr>
          <a:xfrm>
            <a:off x="762000" y="3847951"/>
            <a:ext cx="7772400" cy="228600"/>
          </a:xfrm>
          <a:prstGeom prst="rect">
            <a:avLst/>
          </a:prstGeom>
          <a:noFill/>
          <a:ln/>
        </p:spPr>
        <p:txBody>
          <a:bodyPr wrap="square" lIns="0" tIns="0" rIns="0" bIns="0" rtlCol="0" anchor="t"/>
          <a:lstStyle/>
          <a:p>
            <a:pPr algn="l" indent="0" marL="0">
              <a:buNone/>
            </a:pPr>
            <a:r>
              <a:rPr lang="en-US" sz="1200" dirty="0">
                <a:solidFill>
                  <a:srgbClr val="FFFFFF">
                    <a:alpha val="80000"/>
                  </a:srgbClr>
                </a:solidFill>
                <a:latin typeface="Arial" pitchFamily="34" charset="0"/>
                <a:ea typeface="Arial" pitchFamily="34" charset="-122"/>
                <a:cs typeface="Arial" pitchFamily="34" charset="-120"/>
              </a:rPr>
              <a:t>その会社ならではのキャリアの実現により、個人と会社がいきいきと働く世界を</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885825"/>
          </a:xfrm>
          <a:prstGeom prst="rect">
            <a:avLst/>
          </a:prstGeom>
          <a:solidFill>
            <a:srgbClr val="1B2A4A"/>
          </a:solidFill>
          <a:ln/>
        </p:spPr>
        <p:txBody>
          <a:bodyPr wrap="square" rtlCol="0" anchor="ctr"/>
          <a:lstStyle/>
          <a:p>
            <a:pPr indent="0" marL="0">
              <a:buNone/>
            </a:pPr>
            <a:endParaRPr lang="en-US" dirty="0"/>
          </a:p>
        </p:txBody>
      </p:sp>
      <p:sp>
        <p:nvSpPr>
          <p:cNvPr id="3" name="Text 1"/>
          <p:cNvSpPr/>
          <p:nvPr/>
        </p:nvSpPr>
        <p:spPr>
          <a:xfrm>
            <a:off x="507950" y="228600"/>
            <a:ext cx="8290661" cy="428625"/>
          </a:xfrm>
          <a:prstGeom prst="rect">
            <a:avLst/>
          </a:prstGeom>
          <a:noFill/>
          <a:ln/>
        </p:spPr>
        <p:txBody>
          <a:bodyPr wrap="square" lIns="0" tIns="0" rIns="0" bIns="0" rtlCol="0" anchor="t"/>
          <a:lstStyle/>
          <a:p>
            <a:pPr algn="l" indent="0" marL="0">
              <a:buNone/>
            </a:pPr>
            <a:r>
              <a:rPr lang="en-US" sz="2200" b="1" dirty="0">
                <a:solidFill>
                  <a:srgbClr val="FFFFFF"/>
                </a:solidFill>
                <a:latin typeface="Arial" pitchFamily="34" charset="0"/>
                <a:ea typeface="Arial" pitchFamily="34" charset="-122"/>
                <a:cs typeface="Arial" pitchFamily="34" charset="-120"/>
              </a:rPr>
              <a:t>課題提起 ― 大企業なのに"自分の周りしか見えない"問題</a:t>
            </a:r>
            <a:endParaRPr lang="en-US" sz="2200" dirty="0"/>
          </a:p>
        </p:txBody>
      </p:sp>
      <p:sp>
        <p:nvSpPr>
          <p:cNvPr id="4" name="Text 2"/>
          <p:cNvSpPr/>
          <p:nvPr/>
        </p:nvSpPr>
        <p:spPr>
          <a:xfrm>
            <a:off x="507950" y="1139726"/>
            <a:ext cx="8290661" cy="257175"/>
          </a:xfrm>
          <a:prstGeom prst="rect">
            <a:avLst/>
          </a:prstGeom>
          <a:noFill/>
          <a:ln/>
        </p:spPr>
        <p:txBody>
          <a:bodyPr wrap="square" lIns="0" tIns="0" rIns="0" bIns="0" rtlCol="0" anchor="t"/>
          <a:lstStyle/>
          <a:p>
            <a:pPr algn="l" indent="0" marL="0">
              <a:spcAft>
                <a:spcPts val="1400"/>
              </a:spcAft>
              <a:buNone/>
            </a:pPr>
            <a:r>
              <a:rPr lang="en-US" sz="1400" b="1" dirty="0">
                <a:solidFill>
                  <a:srgbClr val="1B2A4A"/>
                </a:solidFill>
                <a:latin typeface="Arial" pitchFamily="34" charset="0"/>
                <a:ea typeface="Arial" pitchFamily="34" charset="-122"/>
                <a:cs typeface="Arial" pitchFamily="34" charset="-120"/>
              </a:rPr>
              <a:t>同僚が転職していく、そのリアルな理由</a:t>
            </a:r>
            <a:endParaRPr lang="en-US" sz="1400" dirty="0"/>
          </a:p>
        </p:txBody>
      </p:sp>
      <p:sp>
        <p:nvSpPr>
          <p:cNvPr id="5" name="Text 3"/>
          <p:cNvSpPr/>
          <p:nvPr/>
        </p:nvSpPr>
        <p:spPr>
          <a:xfrm>
            <a:off x="507950" y="1574602"/>
            <a:ext cx="3987850" cy="685651"/>
          </a:xfrm>
          <a:prstGeom prst="roundRect">
            <a:avLst>
              <a:gd name="adj" fmla="val 11114"/>
            </a:avLst>
          </a:prstGeom>
          <a:solidFill>
            <a:srgbClr val="EDF2F7"/>
          </a:solidFill>
          <a:ln/>
        </p:spPr>
        <p:txBody>
          <a:bodyPr wrap="square" rtlCol="0" anchor="ctr"/>
          <a:lstStyle/>
          <a:p>
            <a:pPr indent="0" marL="0">
              <a:buNone/>
            </a:pPr>
            <a:endParaRPr lang="en-US" dirty="0"/>
          </a:p>
        </p:txBody>
      </p:sp>
      <p:sp>
        <p:nvSpPr>
          <p:cNvPr id="6" name="Shape 4"/>
          <p:cNvSpPr/>
          <p:nvPr/>
        </p:nvSpPr>
        <p:spPr>
          <a:xfrm>
            <a:off x="531763" y="1574602"/>
            <a:ext cx="0" cy="685651"/>
          </a:xfrm>
          <a:prstGeom prst="line">
            <a:avLst/>
          </a:prstGeom>
          <a:noFill/>
          <a:ln w="47625">
            <a:solidFill>
              <a:srgbClr val="00A99D"/>
            </a:solidFill>
            <a:prstDash val="solid"/>
          </a:ln>
        </p:spPr>
      </p:sp>
      <p:sp>
        <p:nvSpPr>
          <p:cNvPr id="7" name="Text 5"/>
          <p:cNvSpPr/>
          <p:nvPr/>
        </p:nvSpPr>
        <p:spPr>
          <a:xfrm>
            <a:off x="707975" y="1701552"/>
            <a:ext cx="3708133" cy="209550"/>
          </a:xfrm>
          <a:prstGeom prst="rect">
            <a:avLst/>
          </a:prstGeom>
          <a:noFill/>
          <a:ln/>
        </p:spPr>
        <p:txBody>
          <a:bodyPr wrap="square" lIns="0" tIns="0" rIns="0" bIns="0" rtlCol="0" anchor="t"/>
          <a:lstStyle/>
          <a:p>
            <a:pPr algn="l" indent="0" marL="0">
              <a:spcAft>
                <a:spcPts val="400"/>
              </a:spcAft>
              <a:buNone/>
            </a:pPr>
            <a:r>
              <a:rPr lang="en-US" sz="1100" b="1" dirty="0">
                <a:solidFill>
                  <a:srgbClr val="1B2A4A"/>
                </a:solidFill>
                <a:latin typeface="Arial" pitchFamily="34" charset="0"/>
                <a:ea typeface="Arial" pitchFamily="34" charset="-122"/>
                <a:cs typeface="Arial" pitchFamily="34" charset="-120"/>
              </a:rPr>
              <a:t>ロールモデルがいない</a:t>
            </a:r>
            <a:endParaRPr lang="en-US" sz="1100" dirty="0"/>
          </a:p>
        </p:txBody>
      </p:sp>
      <p:sp>
        <p:nvSpPr>
          <p:cNvPr id="8" name="Text 6"/>
          <p:cNvSpPr/>
          <p:nvPr/>
        </p:nvSpPr>
        <p:spPr>
          <a:xfrm>
            <a:off x="707975" y="1961852"/>
            <a:ext cx="3708133" cy="171450"/>
          </a:xfrm>
          <a:prstGeom prst="rect">
            <a:avLst/>
          </a:prstGeom>
          <a:noFill/>
          <a:ln/>
        </p:spPr>
        <p:txBody>
          <a:bodyPr wrap="square" lIns="0" tIns="0" rIns="0" bIns="0" rtlCol="0" anchor="t"/>
          <a:lstStyle/>
          <a:p>
            <a:pPr algn="l" indent="0" marL="0">
              <a:buNone/>
            </a:pPr>
            <a:r>
              <a:rPr lang="en-US" sz="900" dirty="0">
                <a:solidFill>
                  <a:srgbClr val="4A5568"/>
                </a:solidFill>
                <a:latin typeface="Arial" pitchFamily="34" charset="0"/>
                <a:ea typeface="Arial" pitchFamily="34" charset="-122"/>
                <a:cs typeface="Arial" pitchFamily="34" charset="-120"/>
              </a:rPr>
              <a:t>直属の上司・先輩の将来が自分の将来に見えてしまう</a:t>
            </a:r>
            <a:endParaRPr lang="en-US" sz="900" dirty="0"/>
          </a:p>
        </p:txBody>
      </p:sp>
      <p:sp>
        <p:nvSpPr>
          <p:cNvPr id="9" name="Text 7"/>
          <p:cNvSpPr/>
          <p:nvPr/>
        </p:nvSpPr>
        <p:spPr>
          <a:xfrm>
            <a:off x="4648200" y="1574602"/>
            <a:ext cx="3987850" cy="685651"/>
          </a:xfrm>
          <a:prstGeom prst="roundRect">
            <a:avLst>
              <a:gd name="adj" fmla="val 11114"/>
            </a:avLst>
          </a:prstGeom>
          <a:solidFill>
            <a:srgbClr val="EDF2F7"/>
          </a:solidFill>
          <a:ln/>
        </p:spPr>
        <p:txBody>
          <a:bodyPr wrap="square" rtlCol="0" anchor="ctr"/>
          <a:lstStyle/>
          <a:p>
            <a:pPr indent="0" marL="0">
              <a:buNone/>
            </a:pPr>
            <a:endParaRPr lang="en-US" dirty="0"/>
          </a:p>
        </p:txBody>
      </p:sp>
      <p:sp>
        <p:nvSpPr>
          <p:cNvPr id="10" name="Shape 8"/>
          <p:cNvSpPr/>
          <p:nvPr/>
        </p:nvSpPr>
        <p:spPr>
          <a:xfrm>
            <a:off x="4672013" y="1574602"/>
            <a:ext cx="0" cy="685651"/>
          </a:xfrm>
          <a:prstGeom prst="line">
            <a:avLst/>
          </a:prstGeom>
          <a:noFill/>
          <a:ln w="47625">
            <a:solidFill>
              <a:srgbClr val="2B6CB0"/>
            </a:solidFill>
            <a:prstDash val="solid"/>
          </a:ln>
        </p:spPr>
      </p:sp>
      <p:sp>
        <p:nvSpPr>
          <p:cNvPr id="11" name="Text 9"/>
          <p:cNvSpPr/>
          <p:nvPr/>
        </p:nvSpPr>
        <p:spPr>
          <a:xfrm>
            <a:off x="4848225" y="1701552"/>
            <a:ext cx="3708133" cy="209550"/>
          </a:xfrm>
          <a:prstGeom prst="rect">
            <a:avLst/>
          </a:prstGeom>
          <a:noFill/>
          <a:ln/>
        </p:spPr>
        <p:txBody>
          <a:bodyPr wrap="square" lIns="0" tIns="0" rIns="0" bIns="0" rtlCol="0" anchor="t"/>
          <a:lstStyle/>
          <a:p>
            <a:pPr algn="l" indent="0" marL="0">
              <a:spcAft>
                <a:spcPts val="400"/>
              </a:spcAft>
              <a:buNone/>
            </a:pPr>
            <a:r>
              <a:rPr lang="en-US" sz="1100" b="1" dirty="0">
                <a:solidFill>
                  <a:srgbClr val="1B2A4A"/>
                </a:solidFill>
                <a:latin typeface="Arial" pitchFamily="34" charset="0"/>
                <a:ea typeface="Arial" pitchFamily="34" charset="-122"/>
                <a:cs typeface="Arial" pitchFamily="34" charset="-120"/>
              </a:rPr>
              <a:t>やりたいことと違う</a:t>
            </a:r>
            <a:endParaRPr lang="en-US" sz="1100" dirty="0"/>
          </a:p>
        </p:txBody>
      </p:sp>
      <p:sp>
        <p:nvSpPr>
          <p:cNvPr id="12" name="Text 10"/>
          <p:cNvSpPr/>
          <p:nvPr/>
        </p:nvSpPr>
        <p:spPr>
          <a:xfrm>
            <a:off x="4848225" y="1961852"/>
            <a:ext cx="3708133" cy="171450"/>
          </a:xfrm>
          <a:prstGeom prst="rect">
            <a:avLst/>
          </a:prstGeom>
          <a:noFill/>
          <a:ln/>
        </p:spPr>
        <p:txBody>
          <a:bodyPr wrap="square" lIns="0" tIns="0" rIns="0" bIns="0" rtlCol="0" anchor="t"/>
          <a:lstStyle/>
          <a:p>
            <a:pPr algn="l" indent="0" marL="0">
              <a:buNone/>
            </a:pPr>
            <a:r>
              <a:rPr lang="en-US" sz="900" dirty="0">
                <a:solidFill>
                  <a:srgbClr val="4A5568"/>
                </a:solidFill>
                <a:latin typeface="Arial" pitchFamily="34" charset="0"/>
                <a:ea typeface="Arial" pitchFamily="34" charset="-122"/>
                <a:cs typeface="Arial" pitchFamily="34" charset="-120"/>
              </a:rPr>
              <a:t>でも社内に他の選択肢があることを知らない</a:t>
            </a:r>
            <a:endParaRPr lang="en-US" sz="900" dirty="0"/>
          </a:p>
        </p:txBody>
      </p:sp>
      <p:sp>
        <p:nvSpPr>
          <p:cNvPr id="13" name="Text 11"/>
          <p:cNvSpPr/>
          <p:nvPr/>
        </p:nvSpPr>
        <p:spPr>
          <a:xfrm>
            <a:off x="507950" y="2463403"/>
            <a:ext cx="3987850" cy="685651"/>
          </a:xfrm>
          <a:prstGeom prst="roundRect">
            <a:avLst>
              <a:gd name="adj" fmla="val 11114"/>
            </a:avLst>
          </a:prstGeom>
          <a:solidFill>
            <a:srgbClr val="EDF2F7"/>
          </a:solidFill>
          <a:ln/>
        </p:spPr>
        <p:txBody>
          <a:bodyPr wrap="square" rtlCol="0" anchor="ctr"/>
          <a:lstStyle/>
          <a:p>
            <a:pPr indent="0" marL="0">
              <a:buNone/>
            </a:pPr>
            <a:endParaRPr lang="en-US" dirty="0"/>
          </a:p>
        </p:txBody>
      </p:sp>
      <p:sp>
        <p:nvSpPr>
          <p:cNvPr id="14" name="Shape 12"/>
          <p:cNvSpPr/>
          <p:nvPr/>
        </p:nvSpPr>
        <p:spPr>
          <a:xfrm>
            <a:off x="531763" y="2463403"/>
            <a:ext cx="0" cy="685651"/>
          </a:xfrm>
          <a:prstGeom prst="line">
            <a:avLst/>
          </a:prstGeom>
          <a:noFill/>
          <a:ln w="47625">
            <a:solidFill>
              <a:srgbClr val="E8734A"/>
            </a:solidFill>
            <a:prstDash val="solid"/>
          </a:ln>
        </p:spPr>
      </p:sp>
      <p:sp>
        <p:nvSpPr>
          <p:cNvPr id="15" name="Text 13"/>
          <p:cNvSpPr/>
          <p:nvPr/>
        </p:nvSpPr>
        <p:spPr>
          <a:xfrm>
            <a:off x="707975" y="2590354"/>
            <a:ext cx="3708133" cy="209550"/>
          </a:xfrm>
          <a:prstGeom prst="rect">
            <a:avLst/>
          </a:prstGeom>
          <a:noFill/>
          <a:ln/>
        </p:spPr>
        <p:txBody>
          <a:bodyPr wrap="square" lIns="0" tIns="0" rIns="0" bIns="0" rtlCol="0" anchor="t"/>
          <a:lstStyle/>
          <a:p>
            <a:pPr algn="l" indent="0" marL="0">
              <a:spcAft>
                <a:spcPts val="400"/>
              </a:spcAft>
              <a:buNone/>
            </a:pPr>
            <a:r>
              <a:rPr lang="en-US" sz="1100" b="1" dirty="0">
                <a:solidFill>
                  <a:srgbClr val="1B2A4A"/>
                </a:solidFill>
                <a:latin typeface="Arial" pitchFamily="34" charset="0"/>
                <a:ea typeface="Arial" pitchFamily="34" charset="-122"/>
                <a:cs typeface="Arial" pitchFamily="34" charset="-120"/>
              </a:rPr>
              <a:t>部署の外が見えない</a:t>
            </a:r>
            <a:endParaRPr lang="en-US" sz="1100" dirty="0"/>
          </a:p>
        </p:txBody>
      </p:sp>
      <p:sp>
        <p:nvSpPr>
          <p:cNvPr id="16" name="Text 14"/>
          <p:cNvSpPr/>
          <p:nvPr/>
        </p:nvSpPr>
        <p:spPr>
          <a:xfrm>
            <a:off x="707975" y="2850654"/>
            <a:ext cx="3708133" cy="171450"/>
          </a:xfrm>
          <a:prstGeom prst="rect">
            <a:avLst/>
          </a:prstGeom>
          <a:noFill/>
          <a:ln/>
        </p:spPr>
        <p:txBody>
          <a:bodyPr wrap="square" lIns="0" tIns="0" rIns="0" bIns="0" rtlCol="0" anchor="t"/>
          <a:lstStyle/>
          <a:p>
            <a:pPr algn="l" indent="0" marL="0">
              <a:buNone/>
            </a:pPr>
            <a:r>
              <a:rPr lang="en-US" sz="900" dirty="0">
                <a:solidFill>
                  <a:srgbClr val="4A5568"/>
                </a:solidFill>
                <a:latin typeface="Arial" pitchFamily="34" charset="0"/>
                <a:ea typeface="Arial" pitchFamily="34" charset="-122"/>
                <a:cs typeface="Arial" pitchFamily="34" charset="-120"/>
              </a:rPr>
              <a:t>大企業なのに、知っている社員はほんの一握り</a:t>
            </a:r>
            <a:endParaRPr lang="en-US" sz="900" dirty="0"/>
          </a:p>
        </p:txBody>
      </p:sp>
      <p:sp>
        <p:nvSpPr>
          <p:cNvPr id="17" name="Text 15"/>
          <p:cNvSpPr/>
          <p:nvPr/>
        </p:nvSpPr>
        <p:spPr>
          <a:xfrm>
            <a:off x="4648200" y="2463403"/>
            <a:ext cx="3987850" cy="685651"/>
          </a:xfrm>
          <a:prstGeom prst="roundRect">
            <a:avLst>
              <a:gd name="adj" fmla="val 11114"/>
            </a:avLst>
          </a:prstGeom>
          <a:solidFill>
            <a:srgbClr val="EDF2F7"/>
          </a:solidFill>
          <a:ln/>
        </p:spPr>
        <p:txBody>
          <a:bodyPr wrap="square" rtlCol="0" anchor="ctr"/>
          <a:lstStyle/>
          <a:p>
            <a:pPr indent="0" marL="0">
              <a:buNone/>
            </a:pPr>
            <a:endParaRPr lang="en-US" dirty="0"/>
          </a:p>
        </p:txBody>
      </p:sp>
      <p:sp>
        <p:nvSpPr>
          <p:cNvPr id="18" name="Shape 16"/>
          <p:cNvSpPr/>
          <p:nvPr/>
        </p:nvSpPr>
        <p:spPr>
          <a:xfrm>
            <a:off x="4672013" y="2463403"/>
            <a:ext cx="0" cy="685651"/>
          </a:xfrm>
          <a:prstGeom prst="line">
            <a:avLst/>
          </a:prstGeom>
          <a:noFill/>
          <a:ln w="47625">
            <a:solidFill>
              <a:srgbClr val="9F7AEA"/>
            </a:solidFill>
            <a:prstDash val="solid"/>
          </a:ln>
        </p:spPr>
      </p:sp>
      <p:sp>
        <p:nvSpPr>
          <p:cNvPr id="19" name="Text 17"/>
          <p:cNvSpPr/>
          <p:nvPr/>
        </p:nvSpPr>
        <p:spPr>
          <a:xfrm>
            <a:off x="4848225" y="2590354"/>
            <a:ext cx="3708133" cy="209550"/>
          </a:xfrm>
          <a:prstGeom prst="rect">
            <a:avLst/>
          </a:prstGeom>
          <a:noFill/>
          <a:ln/>
        </p:spPr>
        <p:txBody>
          <a:bodyPr wrap="square" lIns="0" tIns="0" rIns="0" bIns="0" rtlCol="0" anchor="t"/>
          <a:lstStyle/>
          <a:p>
            <a:pPr algn="l" indent="0" marL="0">
              <a:spcAft>
                <a:spcPts val="400"/>
              </a:spcAft>
              <a:buNone/>
            </a:pPr>
            <a:r>
              <a:rPr lang="en-US" sz="1100" b="1" dirty="0">
                <a:solidFill>
                  <a:srgbClr val="1B2A4A"/>
                </a:solidFill>
                <a:latin typeface="Arial" pitchFamily="34" charset="0"/>
                <a:ea typeface="Arial" pitchFamily="34" charset="-122"/>
                <a:cs typeface="Arial" pitchFamily="34" charset="-120"/>
              </a:rPr>
              <a:t>異動が期待と違った</a:t>
            </a:r>
            <a:endParaRPr lang="en-US" sz="1100" dirty="0"/>
          </a:p>
        </p:txBody>
      </p:sp>
      <p:sp>
        <p:nvSpPr>
          <p:cNvPr id="20" name="Text 18"/>
          <p:cNvSpPr/>
          <p:nvPr/>
        </p:nvSpPr>
        <p:spPr>
          <a:xfrm>
            <a:off x="4848225" y="2850654"/>
            <a:ext cx="3708133" cy="171450"/>
          </a:xfrm>
          <a:prstGeom prst="rect">
            <a:avLst/>
          </a:prstGeom>
          <a:noFill/>
          <a:ln/>
        </p:spPr>
        <p:txBody>
          <a:bodyPr wrap="square" lIns="0" tIns="0" rIns="0" bIns="0" rtlCol="0" anchor="t"/>
          <a:lstStyle/>
          <a:p>
            <a:pPr algn="l" indent="0" marL="0">
              <a:buNone/>
            </a:pPr>
            <a:r>
              <a:rPr lang="en-US" sz="900" dirty="0">
                <a:solidFill>
                  <a:srgbClr val="4A5568"/>
                </a:solidFill>
                <a:latin typeface="Arial" pitchFamily="34" charset="0"/>
                <a:ea typeface="Arial" pitchFamily="34" charset="-122"/>
                <a:cs typeface="Arial" pitchFamily="34" charset="-120"/>
              </a:rPr>
              <a:t>異動先の風土・同僚・業務を事前に知る手段がない</a:t>
            </a:r>
            <a:endParaRPr lang="en-US" sz="900" dirty="0"/>
          </a:p>
        </p:txBody>
      </p:sp>
      <p:sp>
        <p:nvSpPr>
          <p:cNvPr id="21" name="Text 19"/>
          <p:cNvSpPr/>
          <p:nvPr/>
        </p:nvSpPr>
        <p:spPr>
          <a:xfrm>
            <a:off x="507950" y="3352205"/>
            <a:ext cx="8128099" cy="603052"/>
          </a:xfrm>
          <a:prstGeom prst="roundRect">
            <a:avLst>
              <a:gd name="adj" fmla="val 12636"/>
            </a:avLst>
          </a:prstGeom>
          <a:solidFill>
            <a:srgbClr val="1B2A4A"/>
          </a:solidFill>
          <a:ln/>
        </p:spPr>
        <p:txBody>
          <a:bodyPr wrap="square" rtlCol="0" anchor="ctr"/>
          <a:lstStyle/>
          <a:p>
            <a:pPr indent="0" marL="0">
              <a:buNone/>
            </a:pPr>
            <a:endParaRPr lang="en-US" dirty="0"/>
          </a:p>
        </p:txBody>
      </p:sp>
      <p:sp>
        <p:nvSpPr>
          <p:cNvPr id="22" name="Text 20"/>
          <p:cNvSpPr/>
          <p:nvPr/>
        </p:nvSpPr>
        <p:spPr>
          <a:xfrm>
            <a:off x="736550" y="3529905"/>
            <a:ext cx="7824317" cy="247650"/>
          </a:xfrm>
          <a:prstGeom prst="rect">
            <a:avLst/>
          </a:prstGeom>
          <a:noFill/>
          <a:ln/>
        </p:spPr>
        <p:txBody>
          <a:bodyPr wrap="square" lIns="0" tIns="0" rIns="0" bIns="0" rtlCol="0" anchor="t"/>
          <a:lstStyle/>
          <a:p>
            <a:pPr algn="l" indent="0" marL="0">
              <a:buNone/>
            </a:pPr>
            <a:r>
              <a:rPr lang="en-US" sz="1300" b="1" dirty="0">
                <a:solidFill>
                  <a:srgbClr val="00A99D"/>
                </a:solidFill>
                <a:latin typeface="Arial" pitchFamily="34" charset="0"/>
                <a:ea typeface="Arial" pitchFamily="34" charset="-122"/>
                <a:cs typeface="Arial" pitchFamily="34" charset="-120"/>
              </a:rPr>
              <a:t>辞める人の多くは「会社が嫌い」なのではなく、「この会社での可能性が見えない」から辞めている</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885825"/>
          </a:xfrm>
          <a:prstGeom prst="rect">
            <a:avLst/>
          </a:prstGeom>
          <a:solidFill>
            <a:srgbClr val="1B2A4A"/>
          </a:solidFill>
          <a:ln/>
        </p:spPr>
        <p:txBody>
          <a:bodyPr wrap="square" rtlCol="0" anchor="ctr"/>
          <a:lstStyle/>
          <a:p>
            <a:pPr indent="0" marL="0">
              <a:buNone/>
            </a:pPr>
            <a:endParaRPr lang="en-US" dirty="0"/>
          </a:p>
        </p:txBody>
      </p:sp>
      <p:sp>
        <p:nvSpPr>
          <p:cNvPr id="3" name="Text 1"/>
          <p:cNvSpPr/>
          <p:nvPr/>
        </p:nvSpPr>
        <p:spPr>
          <a:xfrm>
            <a:off x="507950" y="228600"/>
            <a:ext cx="8290661" cy="428625"/>
          </a:xfrm>
          <a:prstGeom prst="rect">
            <a:avLst/>
          </a:prstGeom>
          <a:noFill/>
          <a:ln/>
        </p:spPr>
        <p:txBody>
          <a:bodyPr wrap="square" lIns="0" tIns="0" rIns="0" bIns="0" rtlCol="0" anchor="t"/>
          <a:lstStyle/>
          <a:p>
            <a:pPr algn="l" indent="0" marL="0">
              <a:buNone/>
            </a:pPr>
            <a:r>
              <a:rPr lang="en-US" sz="2200" b="1" dirty="0">
                <a:solidFill>
                  <a:srgbClr val="FFFFFF"/>
                </a:solidFill>
                <a:latin typeface="Arial" pitchFamily="34" charset="0"/>
                <a:ea typeface="Arial" pitchFamily="34" charset="-122"/>
                <a:cs typeface="Arial" pitchFamily="34" charset="-120"/>
              </a:rPr>
              <a:t>数字で見る課題の深刻さ</a:t>
            </a:r>
            <a:endParaRPr lang="en-US" sz="2200" dirty="0"/>
          </a:p>
        </p:txBody>
      </p:sp>
      <p:sp>
        <p:nvSpPr>
          <p:cNvPr id="4" name="Text 2"/>
          <p:cNvSpPr/>
          <p:nvPr/>
        </p:nvSpPr>
        <p:spPr>
          <a:xfrm>
            <a:off x="507950" y="1139726"/>
            <a:ext cx="3962400" cy="1336328"/>
          </a:xfrm>
          <a:prstGeom prst="roundRect">
            <a:avLst>
              <a:gd name="adj" fmla="val 7603"/>
            </a:avLst>
          </a:prstGeom>
          <a:solidFill>
            <a:srgbClr val="EDF2F7"/>
          </a:solidFill>
          <a:ln/>
        </p:spPr>
        <p:txBody>
          <a:bodyPr wrap="square" rtlCol="0" anchor="ctr"/>
          <a:lstStyle/>
          <a:p>
            <a:pPr indent="0" marL="0">
              <a:buNone/>
            </a:pPr>
            <a:endParaRPr lang="en-US" dirty="0"/>
          </a:p>
        </p:txBody>
      </p:sp>
      <p:sp>
        <p:nvSpPr>
          <p:cNvPr id="5" name="Text 3"/>
          <p:cNvSpPr/>
          <p:nvPr/>
        </p:nvSpPr>
        <p:spPr>
          <a:xfrm>
            <a:off x="649581" y="1317427"/>
            <a:ext cx="3679138" cy="523875"/>
          </a:xfrm>
          <a:prstGeom prst="rect">
            <a:avLst/>
          </a:prstGeom>
          <a:noFill/>
          <a:ln/>
        </p:spPr>
        <p:txBody>
          <a:bodyPr wrap="square" lIns="0" tIns="0" rIns="0" bIns="0" rtlCol="0" anchor="t"/>
          <a:lstStyle/>
          <a:p>
            <a:pPr algn="ctr" indent="0" marL="0">
              <a:buNone/>
            </a:pPr>
            <a:r>
              <a:rPr lang="en-US" sz="3600" b="1" dirty="0">
                <a:solidFill>
                  <a:srgbClr val="00A99D"/>
                </a:solidFill>
                <a:latin typeface="Arial" pitchFamily="34" charset="0"/>
                <a:ea typeface="Arial" pitchFamily="34" charset="-122"/>
                <a:cs typeface="Arial" pitchFamily="34" charset="-120"/>
              </a:rPr>
              <a:t>32-34%</a:t>
            </a:r>
            <a:endParaRPr lang="en-US" sz="3600" dirty="0"/>
          </a:p>
        </p:txBody>
      </p:sp>
      <p:sp>
        <p:nvSpPr>
          <p:cNvPr id="6" name="Text 4"/>
          <p:cNvSpPr/>
          <p:nvPr/>
        </p:nvSpPr>
        <p:spPr>
          <a:xfrm>
            <a:off x="649581" y="1892052"/>
            <a:ext cx="3679138" cy="209550"/>
          </a:xfrm>
          <a:prstGeom prst="rect">
            <a:avLst/>
          </a:prstGeom>
          <a:noFill/>
          <a:ln/>
        </p:spPr>
        <p:txBody>
          <a:bodyPr wrap="square" lIns="0" tIns="0" rIns="0" bIns="0" rtlCol="0" anchor="t"/>
          <a:lstStyle/>
          <a:p>
            <a:pPr algn="ctr" indent="0" marL="0">
              <a:spcBef>
                <a:spcPts val="400"/>
              </a:spcBef>
              <a:buNone/>
            </a:pPr>
            <a:r>
              <a:rPr lang="en-US" sz="1100" b="1" dirty="0">
                <a:solidFill>
                  <a:srgbClr val="1B2A4A"/>
                </a:solidFill>
                <a:latin typeface="Arial" pitchFamily="34" charset="0"/>
                <a:ea typeface="Arial" pitchFamily="34" charset="-122"/>
                <a:cs typeface="Arial" pitchFamily="34" charset="-120"/>
              </a:rPr>
              <a:t>大卒 入社3年以内の離職率</a:t>
            </a:r>
            <a:endParaRPr lang="en-US" sz="1100" dirty="0"/>
          </a:p>
        </p:txBody>
      </p:sp>
      <p:sp>
        <p:nvSpPr>
          <p:cNvPr id="7" name="Text 5"/>
          <p:cNvSpPr/>
          <p:nvPr/>
        </p:nvSpPr>
        <p:spPr>
          <a:xfrm>
            <a:off x="649581" y="2126903"/>
            <a:ext cx="3679138" cy="171450"/>
          </a:xfrm>
          <a:prstGeom prst="rect">
            <a:avLst/>
          </a:prstGeom>
          <a:noFill/>
          <a:ln/>
        </p:spPr>
        <p:txBody>
          <a:bodyPr wrap="square" lIns="0" tIns="0" rIns="0" bIns="0" rtlCol="0" anchor="t"/>
          <a:lstStyle/>
          <a:p>
            <a:pPr algn="ctr" indent="0" marL="0">
              <a:spcBef>
                <a:spcPts val="200"/>
              </a:spcBef>
              <a:buNone/>
            </a:pPr>
            <a:r>
              <a:rPr lang="en-US" sz="900" dirty="0">
                <a:solidFill>
                  <a:srgbClr val="4A5568"/>
                </a:solidFill>
                <a:latin typeface="Arial" pitchFamily="34" charset="0"/>
                <a:ea typeface="Arial" pitchFamily="34" charset="-122"/>
                <a:cs typeface="Arial" pitchFamily="34" charset="-120"/>
              </a:rPr>
              <a:t>3人に1人が3年で辞める</a:t>
            </a:r>
            <a:endParaRPr lang="en-US" sz="900" dirty="0"/>
          </a:p>
        </p:txBody>
      </p:sp>
      <p:sp>
        <p:nvSpPr>
          <p:cNvPr id="8" name="Text 6"/>
          <p:cNvSpPr/>
          <p:nvPr/>
        </p:nvSpPr>
        <p:spPr>
          <a:xfrm>
            <a:off x="507950" y="2628454"/>
            <a:ext cx="3962400" cy="1336328"/>
          </a:xfrm>
          <a:prstGeom prst="roundRect">
            <a:avLst>
              <a:gd name="adj" fmla="val 7603"/>
            </a:avLst>
          </a:prstGeom>
          <a:solidFill>
            <a:srgbClr val="EDF2F7"/>
          </a:solidFill>
          <a:ln/>
        </p:spPr>
        <p:txBody>
          <a:bodyPr wrap="square" rtlCol="0" anchor="ctr"/>
          <a:lstStyle/>
          <a:p>
            <a:pPr indent="0" marL="0">
              <a:buNone/>
            </a:pPr>
            <a:endParaRPr lang="en-US" dirty="0"/>
          </a:p>
        </p:txBody>
      </p:sp>
      <p:sp>
        <p:nvSpPr>
          <p:cNvPr id="9" name="Text 7"/>
          <p:cNvSpPr/>
          <p:nvPr/>
        </p:nvSpPr>
        <p:spPr>
          <a:xfrm>
            <a:off x="649581" y="2806154"/>
            <a:ext cx="3679138" cy="523875"/>
          </a:xfrm>
          <a:prstGeom prst="rect">
            <a:avLst/>
          </a:prstGeom>
          <a:noFill/>
          <a:ln/>
        </p:spPr>
        <p:txBody>
          <a:bodyPr wrap="square" lIns="0" tIns="0" rIns="0" bIns="0" rtlCol="0" anchor="t"/>
          <a:lstStyle/>
          <a:p>
            <a:pPr algn="ctr" indent="0" marL="0">
              <a:buNone/>
            </a:pPr>
            <a:r>
              <a:rPr lang="en-US" sz="3600" b="1" dirty="0">
                <a:solidFill>
                  <a:srgbClr val="E8734A"/>
                </a:solidFill>
                <a:latin typeface="Arial" pitchFamily="34" charset="0"/>
                <a:ea typeface="Arial" pitchFamily="34" charset="-122"/>
                <a:cs typeface="Arial" pitchFamily="34" charset="-120"/>
              </a:rPr>
              <a:t>5-6%</a:t>
            </a:r>
            <a:endParaRPr lang="en-US" sz="3600" dirty="0"/>
          </a:p>
        </p:txBody>
      </p:sp>
      <p:sp>
        <p:nvSpPr>
          <p:cNvPr id="10" name="Text 8"/>
          <p:cNvSpPr/>
          <p:nvPr/>
        </p:nvSpPr>
        <p:spPr>
          <a:xfrm>
            <a:off x="649581" y="3380780"/>
            <a:ext cx="3679138" cy="209550"/>
          </a:xfrm>
          <a:prstGeom prst="rect">
            <a:avLst/>
          </a:prstGeom>
          <a:noFill/>
          <a:ln/>
        </p:spPr>
        <p:txBody>
          <a:bodyPr wrap="square" lIns="0" tIns="0" rIns="0" bIns="0" rtlCol="0" anchor="t"/>
          <a:lstStyle/>
          <a:p>
            <a:pPr algn="ctr" indent="0" marL="0">
              <a:spcBef>
                <a:spcPts val="400"/>
              </a:spcBef>
              <a:buNone/>
            </a:pPr>
            <a:r>
              <a:rPr lang="en-US" sz="1100" b="1" dirty="0">
                <a:solidFill>
                  <a:srgbClr val="1B2A4A"/>
                </a:solidFill>
                <a:latin typeface="Arial" pitchFamily="34" charset="0"/>
                <a:ea typeface="Arial" pitchFamily="34" charset="-122"/>
                <a:cs typeface="Arial" pitchFamily="34" charset="-120"/>
              </a:rPr>
              <a:t>日本の「熱意ある社員」割合</a:t>
            </a:r>
            <a:endParaRPr lang="en-US" sz="1100" dirty="0"/>
          </a:p>
        </p:txBody>
      </p:sp>
      <p:sp>
        <p:nvSpPr>
          <p:cNvPr id="11" name="Text 9"/>
          <p:cNvSpPr/>
          <p:nvPr/>
        </p:nvSpPr>
        <p:spPr>
          <a:xfrm>
            <a:off x="649581" y="3615630"/>
            <a:ext cx="3679138" cy="171450"/>
          </a:xfrm>
          <a:prstGeom prst="rect">
            <a:avLst/>
          </a:prstGeom>
          <a:noFill/>
          <a:ln/>
        </p:spPr>
        <p:txBody>
          <a:bodyPr wrap="square" lIns="0" tIns="0" rIns="0" bIns="0" rtlCol="0" anchor="t"/>
          <a:lstStyle/>
          <a:p>
            <a:pPr algn="ctr" indent="0" marL="0">
              <a:spcBef>
                <a:spcPts val="200"/>
              </a:spcBef>
              <a:buNone/>
            </a:pPr>
            <a:r>
              <a:rPr lang="en-US" sz="900" dirty="0">
                <a:solidFill>
                  <a:srgbClr val="4A5568"/>
                </a:solidFill>
                <a:latin typeface="Arial" pitchFamily="34" charset="0"/>
                <a:ea typeface="Arial" pitchFamily="34" charset="-122"/>
                <a:cs typeface="Arial" pitchFamily="34" charset="-120"/>
              </a:rPr>
              <a:t>世界約140カ国中で最低水準（Gallup 2023）</a:t>
            </a:r>
            <a:endParaRPr lang="en-US" sz="900" dirty="0"/>
          </a:p>
        </p:txBody>
      </p:sp>
      <p:sp>
        <p:nvSpPr>
          <p:cNvPr id="12" name="Text 10"/>
          <p:cNvSpPr/>
          <p:nvPr/>
        </p:nvSpPr>
        <p:spPr>
          <a:xfrm>
            <a:off x="4673501" y="1139726"/>
            <a:ext cx="3962549" cy="1612404"/>
          </a:xfrm>
          <a:prstGeom prst="roundRect">
            <a:avLst>
              <a:gd name="adj" fmla="val 6301"/>
            </a:avLst>
          </a:prstGeom>
          <a:solidFill>
            <a:srgbClr val="1B2A4A"/>
          </a:solidFill>
          <a:ln/>
        </p:spPr>
        <p:txBody>
          <a:bodyPr wrap="square" rtlCol="0" anchor="ctr"/>
          <a:lstStyle/>
          <a:p>
            <a:pPr indent="0" marL="0">
              <a:buNone/>
            </a:pPr>
            <a:endParaRPr lang="en-US" dirty="0"/>
          </a:p>
        </p:txBody>
      </p:sp>
      <p:sp>
        <p:nvSpPr>
          <p:cNvPr id="13" name="Text 11"/>
          <p:cNvSpPr/>
          <p:nvPr/>
        </p:nvSpPr>
        <p:spPr>
          <a:xfrm>
            <a:off x="4851202" y="1317427"/>
            <a:ext cx="3679290" cy="209550"/>
          </a:xfrm>
          <a:prstGeom prst="rect">
            <a:avLst/>
          </a:prstGeom>
          <a:noFill/>
          <a:ln/>
        </p:spPr>
        <p:txBody>
          <a:bodyPr wrap="square" lIns="0" tIns="0" rIns="0" bIns="0" rtlCol="0" anchor="t"/>
          <a:lstStyle/>
          <a:p>
            <a:pPr algn="l" indent="0" marL="0">
              <a:spcAft>
                <a:spcPts val="800"/>
              </a:spcAft>
              <a:buNone/>
            </a:pPr>
            <a:r>
              <a:rPr lang="en-US" sz="1100" b="1" dirty="0">
                <a:solidFill>
                  <a:srgbClr val="FFFFFF"/>
                </a:solidFill>
                <a:latin typeface="Arial" pitchFamily="34" charset="0"/>
                <a:ea typeface="Arial" pitchFamily="34" charset="-122"/>
                <a:cs typeface="Arial" pitchFamily="34" charset="-120"/>
              </a:rPr>
              <a:t>若手の離職理由TOP</a:t>
            </a:r>
            <a:endParaRPr lang="en-US" sz="1100" dirty="0"/>
          </a:p>
        </p:txBody>
      </p:sp>
      <p:sp>
        <p:nvSpPr>
          <p:cNvPr id="14" name="Text 12"/>
          <p:cNvSpPr/>
          <p:nvPr/>
        </p:nvSpPr>
        <p:spPr>
          <a:xfrm>
            <a:off x="4851202" y="1628477"/>
            <a:ext cx="3679290" cy="200025"/>
          </a:xfrm>
          <a:prstGeom prst="rect">
            <a:avLst/>
          </a:prstGeom>
          <a:noFill/>
          <a:ln/>
        </p:spPr>
        <p:txBody>
          <a:bodyPr wrap="square" lIns="0" tIns="0" rIns="0" bIns="0" rtlCol="0" anchor="t"/>
          <a:lstStyle/>
          <a:p>
            <a:pPr algn="l" indent="0" marL="0">
              <a:spcAft>
                <a:spcPts val="400"/>
              </a:spcAft>
              <a:buNone/>
            </a:pPr>
            <a:r>
              <a:rPr lang="en-US" sz="1000" dirty="0">
                <a:solidFill>
                  <a:srgbClr val="00A99D"/>
                </a:solidFill>
                <a:latin typeface="Arial" pitchFamily="34" charset="0"/>
                <a:ea typeface="Arial" pitchFamily="34" charset="-122"/>
                <a:cs typeface="Arial" pitchFamily="34" charset="-120"/>
              </a:rPr>
              <a:t>1. やりたい仕事と違った ― 約25-30%</a:t>
            </a:r>
            <a:endParaRPr lang="en-US" sz="1000" dirty="0"/>
          </a:p>
        </p:txBody>
      </p:sp>
      <p:sp>
        <p:nvSpPr>
          <p:cNvPr id="15" name="Text 13"/>
          <p:cNvSpPr/>
          <p:nvPr/>
        </p:nvSpPr>
        <p:spPr>
          <a:xfrm>
            <a:off x="4851202" y="1879253"/>
            <a:ext cx="3679290" cy="200025"/>
          </a:xfrm>
          <a:prstGeom prst="rect">
            <a:avLst/>
          </a:prstGeom>
          <a:noFill/>
          <a:ln/>
        </p:spPr>
        <p:txBody>
          <a:bodyPr wrap="square" lIns="0" tIns="0" rIns="0" bIns="0" rtlCol="0" anchor="t"/>
          <a:lstStyle/>
          <a:p>
            <a:pPr algn="l" indent="0" marL="0">
              <a:spcAft>
                <a:spcPts val="400"/>
              </a:spcAft>
              <a:buNone/>
            </a:pPr>
            <a:r>
              <a:rPr lang="en-US" sz="1000" dirty="0">
                <a:solidFill>
                  <a:srgbClr val="00A99D"/>
                </a:solidFill>
                <a:latin typeface="Arial" pitchFamily="34" charset="0"/>
                <a:ea typeface="Arial" pitchFamily="34" charset="-122"/>
                <a:cs typeface="Arial" pitchFamily="34" charset="-120"/>
              </a:rPr>
              <a:t>2. キャリアの見通しが立たない ― 約25-28%</a:t>
            </a:r>
            <a:endParaRPr lang="en-US" sz="1000" dirty="0"/>
          </a:p>
        </p:txBody>
      </p:sp>
      <p:sp>
        <p:nvSpPr>
          <p:cNvPr id="16" name="Text 14"/>
          <p:cNvSpPr/>
          <p:nvPr/>
        </p:nvSpPr>
        <p:spPr>
          <a:xfrm>
            <a:off x="4851202" y="2130028"/>
            <a:ext cx="3679290" cy="200025"/>
          </a:xfrm>
          <a:prstGeom prst="rect">
            <a:avLst/>
          </a:prstGeom>
          <a:noFill/>
          <a:ln/>
        </p:spPr>
        <p:txBody>
          <a:bodyPr wrap="square" lIns="0" tIns="0" rIns="0" bIns="0" rtlCol="0" anchor="t"/>
          <a:lstStyle/>
          <a:p>
            <a:pPr algn="l" indent="0" marL="0">
              <a:buNone/>
            </a:pPr>
            <a:r>
              <a:rPr lang="en-US" sz="1000" dirty="0">
                <a:solidFill>
                  <a:srgbClr val="00A99D"/>
                </a:solidFill>
                <a:latin typeface="Arial" pitchFamily="34" charset="0"/>
                <a:ea typeface="Arial" pitchFamily="34" charset="-122"/>
                <a:cs typeface="Arial" pitchFamily="34" charset="-120"/>
              </a:rPr>
              <a:t>3. 人間関係 ― 約20-25%</a:t>
            </a:r>
            <a:endParaRPr lang="en-US" sz="1000" dirty="0"/>
          </a:p>
        </p:txBody>
      </p:sp>
      <p:sp>
        <p:nvSpPr>
          <p:cNvPr id="17" name="Text 15"/>
          <p:cNvSpPr/>
          <p:nvPr/>
        </p:nvSpPr>
        <p:spPr>
          <a:xfrm>
            <a:off x="4851202" y="2431554"/>
            <a:ext cx="3679290" cy="142875"/>
          </a:xfrm>
          <a:prstGeom prst="rect">
            <a:avLst/>
          </a:prstGeom>
          <a:noFill/>
          <a:ln/>
        </p:spPr>
        <p:txBody>
          <a:bodyPr wrap="square" lIns="0" tIns="0" rIns="0" bIns="0" rtlCol="0" anchor="t"/>
          <a:lstStyle/>
          <a:p>
            <a:pPr algn="l" indent="0" marL="0">
              <a:spcBef>
                <a:spcPts val="800"/>
              </a:spcBef>
              <a:buNone/>
            </a:pPr>
            <a:r>
              <a:rPr lang="en-US" sz="800" dirty="0">
                <a:solidFill>
                  <a:srgbClr val="FFFFFF">
                    <a:alpha val="60000"/>
                  </a:srgbClr>
                </a:solidFill>
                <a:latin typeface="Arial" pitchFamily="34" charset="0"/>
                <a:ea typeface="Arial" pitchFamily="34" charset="-122"/>
                <a:cs typeface="Arial" pitchFamily="34" charset="-120"/>
              </a:rPr>
              <a:t>出典: 内閣府「子供・若者白書」、エン・ジャパン調査</a:t>
            </a:r>
            <a:endParaRPr lang="en-US" sz="800" dirty="0"/>
          </a:p>
        </p:txBody>
      </p:sp>
      <p:sp>
        <p:nvSpPr>
          <p:cNvPr id="18" name="Text 16"/>
          <p:cNvSpPr/>
          <p:nvPr/>
        </p:nvSpPr>
        <p:spPr>
          <a:xfrm>
            <a:off x="4673501" y="2904530"/>
            <a:ext cx="3962549" cy="1345853"/>
          </a:xfrm>
          <a:prstGeom prst="roundRect">
            <a:avLst>
              <a:gd name="adj" fmla="val 7549"/>
            </a:avLst>
          </a:prstGeom>
          <a:solidFill>
            <a:srgbClr val="EDF2F7"/>
          </a:solidFill>
          <a:ln/>
        </p:spPr>
        <p:txBody>
          <a:bodyPr wrap="square" rtlCol="0" anchor="ctr"/>
          <a:lstStyle/>
          <a:p>
            <a:pPr indent="0" marL="0">
              <a:buNone/>
            </a:pPr>
            <a:endParaRPr lang="en-US" dirty="0"/>
          </a:p>
        </p:txBody>
      </p:sp>
      <p:sp>
        <p:nvSpPr>
          <p:cNvPr id="19" name="Text 17"/>
          <p:cNvSpPr/>
          <p:nvPr/>
        </p:nvSpPr>
        <p:spPr>
          <a:xfrm>
            <a:off x="4815130" y="3082230"/>
            <a:ext cx="3679290" cy="533400"/>
          </a:xfrm>
          <a:prstGeom prst="rect">
            <a:avLst/>
          </a:prstGeom>
          <a:noFill/>
          <a:ln/>
        </p:spPr>
        <p:txBody>
          <a:bodyPr wrap="square" lIns="0" tIns="0" rIns="0" bIns="0" rtlCol="0" anchor="t"/>
          <a:lstStyle/>
          <a:p>
            <a:pPr algn="ctr" indent="0" marL="0">
              <a:buNone/>
            </a:pPr>
            <a:r>
              <a:rPr lang="en-US" sz="2800" b="1" dirty="0">
                <a:solidFill>
                  <a:srgbClr val="2B6CB0"/>
                </a:solidFill>
                <a:latin typeface="Arial" pitchFamily="34" charset="0"/>
                <a:ea typeface="Arial" pitchFamily="34" charset="-122"/>
                <a:cs typeface="Arial" pitchFamily="34" charset="-120"/>
              </a:rPr>
              <a:t>150-200万円</a:t>
            </a:r>
            <a:endParaRPr lang="en-US" sz="2800" dirty="0"/>
          </a:p>
        </p:txBody>
      </p:sp>
      <p:sp>
        <p:nvSpPr>
          <p:cNvPr id="20" name="Text 18"/>
          <p:cNvSpPr/>
          <p:nvPr/>
        </p:nvSpPr>
        <p:spPr>
          <a:xfrm>
            <a:off x="4815130" y="3666381"/>
            <a:ext cx="3679290" cy="209550"/>
          </a:xfrm>
          <a:prstGeom prst="rect">
            <a:avLst/>
          </a:prstGeom>
          <a:noFill/>
          <a:ln/>
        </p:spPr>
        <p:txBody>
          <a:bodyPr wrap="square" lIns="0" tIns="0" rIns="0" bIns="0" rtlCol="0" anchor="t"/>
          <a:lstStyle/>
          <a:p>
            <a:pPr algn="ctr" indent="0" marL="0">
              <a:spcBef>
                <a:spcPts val="400"/>
              </a:spcBef>
              <a:buNone/>
            </a:pPr>
            <a:r>
              <a:rPr lang="en-US" sz="1100" b="1" dirty="0">
                <a:solidFill>
                  <a:srgbClr val="1B2A4A"/>
                </a:solidFill>
                <a:latin typeface="Arial" pitchFamily="34" charset="0"/>
                <a:ea typeface="Arial" pitchFamily="34" charset="-122"/>
                <a:cs typeface="Arial" pitchFamily="34" charset="-120"/>
              </a:rPr>
              <a:t>新卒1人あたりの離職コスト</a:t>
            </a:r>
            <a:endParaRPr lang="en-US" sz="1100" dirty="0"/>
          </a:p>
        </p:txBody>
      </p:sp>
      <p:sp>
        <p:nvSpPr>
          <p:cNvPr id="21" name="Text 19"/>
          <p:cNvSpPr/>
          <p:nvPr/>
        </p:nvSpPr>
        <p:spPr>
          <a:xfrm>
            <a:off x="4815130" y="3901232"/>
            <a:ext cx="3679290" cy="171450"/>
          </a:xfrm>
          <a:prstGeom prst="rect">
            <a:avLst/>
          </a:prstGeom>
          <a:noFill/>
          <a:ln/>
        </p:spPr>
        <p:txBody>
          <a:bodyPr wrap="square" lIns="0" tIns="0" rIns="0" bIns="0" rtlCol="0" anchor="t"/>
          <a:lstStyle/>
          <a:p>
            <a:pPr algn="ctr" indent="0" marL="0">
              <a:spcBef>
                <a:spcPts val="200"/>
              </a:spcBef>
              <a:buNone/>
            </a:pPr>
            <a:r>
              <a:rPr lang="en-US" sz="900" dirty="0">
                <a:solidFill>
                  <a:srgbClr val="4A5568"/>
                </a:solidFill>
                <a:latin typeface="Arial" pitchFamily="34" charset="0"/>
                <a:ea typeface="Arial" pitchFamily="34" charset="-122"/>
                <a:cs typeface="Arial" pitchFamily="34" charset="-120"/>
              </a:rPr>
              <a:t>100人離職で年間1.5-2億円の損失</a:t>
            </a:r>
            <a:endParaRPr lang="en-US" sz="900" dirty="0"/>
          </a:p>
        </p:txBody>
      </p:sp>
      <p:sp>
        <p:nvSpPr>
          <p:cNvPr id="22" name="Text 20"/>
          <p:cNvSpPr/>
          <p:nvPr/>
        </p:nvSpPr>
        <p:spPr>
          <a:xfrm>
            <a:off x="507950" y="4883200"/>
            <a:ext cx="8290661" cy="133350"/>
          </a:xfrm>
          <a:prstGeom prst="rect">
            <a:avLst/>
          </a:prstGeom>
          <a:noFill/>
          <a:ln/>
        </p:spPr>
        <p:txBody>
          <a:bodyPr wrap="square" lIns="0" tIns="0" rIns="0" bIns="0" rtlCol="0" anchor="t"/>
          <a:lstStyle/>
          <a:p>
            <a:pPr algn="l" indent="0" marL="0">
              <a:spcAft>
                <a:spcPts val="1000"/>
              </a:spcAft>
              <a:buNone/>
            </a:pPr>
            <a:r>
              <a:rPr lang="en-US" sz="700" dirty="0">
                <a:solidFill>
                  <a:srgbClr val="4A5568"/>
                </a:solidFill>
                <a:latin typeface="Arial" pitchFamily="34" charset="0"/>
                <a:ea typeface="Arial" pitchFamily="34" charset="-122"/>
                <a:cs typeface="Arial" pitchFamily="34" charset="-120"/>
              </a:rPr>
              <a:t>出典: 厚生労働省「雇用動向調査」「新規学卒就職者の離職状況」/ Gallup "State of the Global Workplace 2023" / リクルート「就職白書」</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885825"/>
          </a:xfrm>
          <a:prstGeom prst="rect">
            <a:avLst/>
          </a:prstGeom>
          <a:solidFill>
            <a:srgbClr val="1B2A4A"/>
          </a:solidFill>
          <a:ln/>
        </p:spPr>
        <p:txBody>
          <a:bodyPr wrap="square" rtlCol="0" anchor="ctr"/>
          <a:lstStyle/>
          <a:p>
            <a:pPr indent="0" marL="0">
              <a:buNone/>
            </a:pPr>
            <a:endParaRPr lang="en-US" dirty="0"/>
          </a:p>
        </p:txBody>
      </p:sp>
      <p:sp>
        <p:nvSpPr>
          <p:cNvPr id="3" name="Text 1"/>
          <p:cNvSpPr/>
          <p:nvPr/>
        </p:nvSpPr>
        <p:spPr>
          <a:xfrm>
            <a:off x="507950" y="228600"/>
            <a:ext cx="8290661" cy="428625"/>
          </a:xfrm>
          <a:prstGeom prst="rect">
            <a:avLst/>
          </a:prstGeom>
          <a:noFill/>
          <a:ln/>
        </p:spPr>
        <p:txBody>
          <a:bodyPr wrap="square" lIns="0" tIns="0" rIns="0" bIns="0" rtlCol="0" anchor="t"/>
          <a:lstStyle/>
          <a:p>
            <a:pPr algn="l" indent="0" marL="0">
              <a:buNone/>
            </a:pPr>
            <a:r>
              <a:rPr lang="en-US" sz="2200" b="1" dirty="0">
                <a:solidFill>
                  <a:srgbClr val="FFFFFF"/>
                </a:solidFill>
                <a:latin typeface="Arial" pitchFamily="34" charset="0"/>
                <a:ea typeface="Arial" pitchFamily="34" charset="-122"/>
                <a:cs typeface="Arial" pitchFamily="34" charset="-120"/>
              </a:rPr>
              <a:t>本質的な原因 ― "知れば辞めない"のに、知る手段がない</a:t>
            </a:r>
            <a:endParaRPr lang="en-US" sz="2200" dirty="0"/>
          </a:p>
        </p:txBody>
      </p:sp>
      <p:sp>
        <p:nvSpPr>
          <p:cNvPr id="4" name="Text 2"/>
          <p:cNvSpPr/>
          <p:nvPr/>
        </p:nvSpPr>
        <p:spPr>
          <a:xfrm>
            <a:off x="507950" y="1088975"/>
            <a:ext cx="8290661" cy="209550"/>
          </a:xfrm>
          <a:prstGeom prst="rect">
            <a:avLst/>
          </a:prstGeom>
          <a:noFill/>
          <a:ln/>
        </p:spPr>
        <p:txBody>
          <a:bodyPr wrap="square" lIns="0" tIns="0" rIns="0" bIns="0" rtlCol="0" anchor="t"/>
          <a:lstStyle/>
          <a:p>
            <a:pPr algn="l" indent="0" marL="0">
              <a:spcAft>
                <a:spcPts val="1200"/>
              </a:spcAft>
              <a:buNone/>
            </a:pPr>
            <a:r>
              <a:rPr lang="en-US" sz="1100" dirty="0">
                <a:solidFill>
                  <a:srgbClr val="1B2A4A"/>
                </a:solidFill>
                <a:latin typeface="Arial" pitchFamily="34" charset="0"/>
                <a:ea typeface="Arial" pitchFamily="34" charset="-122"/>
                <a:cs typeface="Arial" pitchFamily="34" charset="-120"/>
              </a:rPr>
              <a:t>既存の手段はいずれも"発見"を生む設計になっていない</a:t>
            </a:r>
            <a:endParaRPr lang="en-US" sz="1100" dirty="0"/>
          </a:p>
        </p:txBody>
      </p:sp>
      <p:sp>
        <p:nvSpPr>
          <p:cNvPr id="5" name="Text 3"/>
          <p:cNvSpPr/>
          <p:nvPr/>
        </p:nvSpPr>
        <p:spPr>
          <a:xfrm>
            <a:off x="507950" y="1450925"/>
            <a:ext cx="2624733" cy="857101"/>
          </a:xfrm>
          <a:prstGeom prst="roundRect">
            <a:avLst>
              <a:gd name="adj" fmla="val 8890"/>
            </a:avLst>
          </a:prstGeom>
          <a:solidFill>
            <a:srgbClr val="EDF2F7"/>
          </a:solidFill>
          <a:ln/>
        </p:spPr>
        <p:txBody>
          <a:bodyPr wrap="square" rtlCol="0" anchor="ctr"/>
          <a:lstStyle/>
          <a:p>
            <a:pPr indent="0" marL="0">
              <a:buNone/>
            </a:pPr>
            <a:endParaRPr lang="en-US" dirty="0"/>
          </a:p>
        </p:txBody>
      </p:sp>
      <p:sp>
        <p:nvSpPr>
          <p:cNvPr id="6" name="Text 4"/>
          <p:cNvSpPr/>
          <p:nvPr/>
        </p:nvSpPr>
        <p:spPr>
          <a:xfrm>
            <a:off x="634901" y="1577876"/>
            <a:ext cx="2418249" cy="152400"/>
          </a:xfrm>
          <a:prstGeom prst="rect">
            <a:avLst/>
          </a:prstGeom>
          <a:noFill/>
          <a:ln/>
        </p:spPr>
        <p:txBody>
          <a:bodyPr wrap="square" lIns="0" tIns="0" rIns="0" bIns="0" rtlCol="0" anchor="t"/>
          <a:lstStyle/>
          <a:p>
            <a:pPr algn="l" indent="0" marL="0">
              <a:spcAft>
                <a:spcPts val="400"/>
              </a:spcAft>
              <a:buNone/>
            </a:pPr>
            <a:r>
              <a:rPr lang="en-US" sz="1100" b="1" dirty="0">
                <a:solidFill>
                  <a:srgbClr val="1B2A4A"/>
                </a:solidFill>
                <a:latin typeface="Arial" pitchFamily="34" charset="0"/>
                <a:ea typeface="Arial" pitchFamily="34" charset="-122"/>
                <a:cs typeface="Arial" pitchFamily="34" charset="-120"/>
              </a:rPr>
              <a:t>1on1</a:t>
            </a:r>
            <a:endParaRPr lang="en-US" sz="1100" dirty="0"/>
          </a:p>
        </p:txBody>
      </p:sp>
      <p:sp>
        <p:nvSpPr>
          <p:cNvPr id="7" name="Text 5"/>
          <p:cNvSpPr/>
          <p:nvPr/>
        </p:nvSpPr>
        <p:spPr>
          <a:xfrm>
            <a:off x="634901" y="1781026"/>
            <a:ext cx="2418249" cy="342900"/>
          </a:xfrm>
          <a:prstGeom prst="rect">
            <a:avLst/>
          </a:prstGeom>
          <a:noFill/>
          <a:ln/>
        </p:spPr>
        <p:txBody>
          <a:bodyPr wrap="square" lIns="0" tIns="0" rIns="0" bIns="0" rtlCol="0" anchor="t"/>
          <a:lstStyle/>
          <a:p>
            <a:pPr algn="l" indent="0" marL="0">
              <a:buNone/>
            </a:pPr>
            <a:r>
              <a:rPr lang="en-US" sz="900" dirty="0">
                <a:solidFill>
                  <a:srgbClr val="4A5568"/>
                </a:solidFill>
                <a:latin typeface="Arial" pitchFamily="34" charset="0"/>
                <a:ea typeface="Arial" pitchFamily="34" charset="-122"/>
                <a:cs typeface="Arial" pitchFamily="34" charset="-120"/>
              </a:rPr>
              <a:t>上司の知見・視野に依存。部署外のキャリアは話題にすら上がらない</a:t>
            </a:r>
            <a:endParaRPr lang="en-US" sz="900" dirty="0"/>
          </a:p>
        </p:txBody>
      </p:sp>
      <p:sp>
        <p:nvSpPr>
          <p:cNvPr id="8" name="Text 6"/>
          <p:cNvSpPr/>
          <p:nvPr/>
        </p:nvSpPr>
        <p:spPr>
          <a:xfrm>
            <a:off x="3259634" y="1450925"/>
            <a:ext cx="2624733" cy="857101"/>
          </a:xfrm>
          <a:prstGeom prst="roundRect">
            <a:avLst>
              <a:gd name="adj" fmla="val 8890"/>
            </a:avLst>
          </a:prstGeom>
          <a:solidFill>
            <a:srgbClr val="EDF2F7"/>
          </a:solidFill>
          <a:ln/>
        </p:spPr>
        <p:txBody>
          <a:bodyPr wrap="square" rtlCol="0" anchor="ctr"/>
          <a:lstStyle/>
          <a:p>
            <a:pPr indent="0" marL="0">
              <a:buNone/>
            </a:pPr>
            <a:endParaRPr lang="en-US" dirty="0"/>
          </a:p>
        </p:txBody>
      </p:sp>
      <p:sp>
        <p:nvSpPr>
          <p:cNvPr id="9" name="Text 7"/>
          <p:cNvSpPr/>
          <p:nvPr/>
        </p:nvSpPr>
        <p:spPr>
          <a:xfrm>
            <a:off x="3386584" y="1577876"/>
            <a:ext cx="2418249" cy="209550"/>
          </a:xfrm>
          <a:prstGeom prst="rect">
            <a:avLst/>
          </a:prstGeom>
          <a:noFill/>
          <a:ln/>
        </p:spPr>
        <p:txBody>
          <a:bodyPr wrap="square" lIns="0" tIns="0" rIns="0" bIns="0" rtlCol="0" anchor="t"/>
          <a:lstStyle/>
          <a:p>
            <a:pPr algn="l" indent="0" marL="0">
              <a:spcAft>
                <a:spcPts val="400"/>
              </a:spcAft>
              <a:buNone/>
            </a:pPr>
            <a:r>
              <a:rPr lang="en-US" sz="1100" b="1" dirty="0">
                <a:solidFill>
                  <a:srgbClr val="1B2A4A"/>
                </a:solidFill>
                <a:latin typeface="Arial" pitchFamily="34" charset="0"/>
                <a:ea typeface="Arial" pitchFamily="34" charset="-122"/>
                <a:cs typeface="Arial" pitchFamily="34" charset="-120"/>
              </a:rPr>
              <a:t>社内公募</a:t>
            </a:r>
            <a:endParaRPr lang="en-US" sz="1100" dirty="0"/>
          </a:p>
        </p:txBody>
      </p:sp>
      <p:sp>
        <p:nvSpPr>
          <p:cNvPr id="10" name="Text 8"/>
          <p:cNvSpPr/>
          <p:nvPr/>
        </p:nvSpPr>
        <p:spPr>
          <a:xfrm>
            <a:off x="3386584" y="1838176"/>
            <a:ext cx="2418249" cy="342900"/>
          </a:xfrm>
          <a:prstGeom prst="rect">
            <a:avLst/>
          </a:prstGeom>
          <a:noFill/>
          <a:ln/>
        </p:spPr>
        <p:txBody>
          <a:bodyPr wrap="square" lIns="0" tIns="0" rIns="0" bIns="0" rtlCol="0" anchor="t"/>
          <a:lstStyle/>
          <a:p>
            <a:pPr algn="l" indent="0" marL="0">
              <a:buNone/>
            </a:pPr>
            <a:r>
              <a:rPr lang="en-US" sz="900" dirty="0">
                <a:solidFill>
                  <a:srgbClr val="4A5568"/>
                </a:solidFill>
                <a:latin typeface="Arial" pitchFamily="34" charset="0"/>
                <a:ea typeface="Arial" pitchFamily="34" charset="-122"/>
                <a:cs typeface="Arial" pitchFamily="34" charset="-120"/>
              </a:rPr>
              <a:t>公募は社内のごく一部。マッチする可能性が多数埋もれている</a:t>
            </a:r>
            <a:endParaRPr lang="en-US" sz="900" dirty="0"/>
          </a:p>
        </p:txBody>
      </p:sp>
      <p:sp>
        <p:nvSpPr>
          <p:cNvPr id="11" name="Text 9"/>
          <p:cNvSpPr/>
          <p:nvPr/>
        </p:nvSpPr>
        <p:spPr>
          <a:xfrm>
            <a:off x="6011317" y="1450925"/>
            <a:ext cx="2624733" cy="857101"/>
          </a:xfrm>
          <a:prstGeom prst="roundRect">
            <a:avLst>
              <a:gd name="adj" fmla="val 8890"/>
            </a:avLst>
          </a:prstGeom>
          <a:solidFill>
            <a:srgbClr val="EDF2F7"/>
          </a:solidFill>
          <a:ln/>
        </p:spPr>
        <p:txBody>
          <a:bodyPr wrap="square" rtlCol="0" anchor="ctr"/>
          <a:lstStyle/>
          <a:p>
            <a:pPr indent="0" marL="0">
              <a:buNone/>
            </a:pPr>
            <a:endParaRPr lang="en-US" dirty="0"/>
          </a:p>
        </p:txBody>
      </p:sp>
      <p:sp>
        <p:nvSpPr>
          <p:cNvPr id="12" name="Text 10"/>
          <p:cNvSpPr/>
          <p:nvPr/>
        </p:nvSpPr>
        <p:spPr>
          <a:xfrm>
            <a:off x="6138267" y="1577876"/>
            <a:ext cx="2418249" cy="209550"/>
          </a:xfrm>
          <a:prstGeom prst="rect">
            <a:avLst/>
          </a:prstGeom>
          <a:noFill/>
          <a:ln/>
        </p:spPr>
        <p:txBody>
          <a:bodyPr wrap="square" lIns="0" tIns="0" rIns="0" bIns="0" rtlCol="0" anchor="t"/>
          <a:lstStyle/>
          <a:p>
            <a:pPr algn="l" indent="0" marL="0">
              <a:spcAft>
                <a:spcPts val="400"/>
              </a:spcAft>
              <a:buNone/>
            </a:pPr>
            <a:r>
              <a:rPr lang="en-US" sz="1100" b="1" dirty="0">
                <a:solidFill>
                  <a:srgbClr val="1B2A4A"/>
                </a:solidFill>
                <a:latin typeface="Arial" pitchFamily="34" charset="0"/>
                <a:ea typeface="Arial" pitchFamily="34" charset="-122"/>
                <a:cs typeface="Arial" pitchFamily="34" charset="-120"/>
              </a:rPr>
              <a:t>外部コーチング</a:t>
            </a:r>
            <a:endParaRPr lang="en-US" sz="1100" dirty="0"/>
          </a:p>
        </p:txBody>
      </p:sp>
      <p:sp>
        <p:nvSpPr>
          <p:cNvPr id="13" name="Text 11"/>
          <p:cNvSpPr/>
          <p:nvPr/>
        </p:nvSpPr>
        <p:spPr>
          <a:xfrm>
            <a:off x="6138267" y="1838176"/>
            <a:ext cx="2418249" cy="342900"/>
          </a:xfrm>
          <a:prstGeom prst="rect">
            <a:avLst/>
          </a:prstGeom>
          <a:noFill/>
          <a:ln/>
        </p:spPr>
        <p:txBody>
          <a:bodyPr wrap="square" lIns="0" tIns="0" rIns="0" bIns="0" rtlCol="0" anchor="t"/>
          <a:lstStyle/>
          <a:p>
            <a:pPr algn="l" indent="0" marL="0">
              <a:buNone/>
            </a:pPr>
            <a:r>
              <a:rPr lang="en-US" sz="900" dirty="0">
                <a:solidFill>
                  <a:srgbClr val="4A5568"/>
                </a:solidFill>
                <a:latin typeface="Arial" pitchFamily="34" charset="0"/>
                <a:ea typeface="Arial" pitchFamily="34" charset="-122"/>
                <a:cs typeface="Arial" pitchFamily="34" charset="-120"/>
              </a:rPr>
              <a:t>自社固有のキャリア制度・部署の風土を知らない。一般論に留まる</a:t>
            </a:r>
            <a:endParaRPr lang="en-US" sz="900" dirty="0"/>
          </a:p>
        </p:txBody>
      </p:sp>
      <p:sp>
        <p:nvSpPr>
          <p:cNvPr id="14" name="Text 12"/>
          <p:cNvSpPr/>
          <p:nvPr/>
        </p:nvSpPr>
        <p:spPr>
          <a:xfrm>
            <a:off x="507950" y="2511177"/>
            <a:ext cx="8290661" cy="228600"/>
          </a:xfrm>
          <a:prstGeom prst="rect">
            <a:avLst/>
          </a:prstGeom>
          <a:noFill/>
          <a:ln/>
        </p:spPr>
        <p:txBody>
          <a:bodyPr wrap="square" lIns="0" tIns="0" rIns="0" bIns="0" rtlCol="0" anchor="t"/>
          <a:lstStyle/>
          <a:p>
            <a:pPr algn="l" indent="0" marL="0">
              <a:spcAft>
                <a:spcPts val="1000"/>
              </a:spcAft>
              <a:buNone/>
            </a:pPr>
            <a:r>
              <a:rPr lang="en-US" sz="1200" b="1" dirty="0">
                <a:solidFill>
                  <a:srgbClr val="1B2A4A"/>
                </a:solidFill>
                <a:latin typeface="Arial" pitchFamily="34" charset="0"/>
                <a:ea typeface="Arial" pitchFamily="34" charset="-122"/>
                <a:cs typeface="Arial" pitchFamily="34" charset="-120"/>
              </a:rPr>
              <a:t>3つの構造的ギャップ</a:t>
            </a:r>
            <a:endParaRPr lang="en-US" sz="1200" dirty="0"/>
          </a:p>
        </p:txBody>
      </p:sp>
      <p:sp>
        <p:nvSpPr>
          <p:cNvPr id="15" name="Text 13"/>
          <p:cNvSpPr/>
          <p:nvPr/>
        </p:nvSpPr>
        <p:spPr>
          <a:xfrm>
            <a:off x="507950" y="2866727"/>
            <a:ext cx="2624733" cy="927050"/>
          </a:xfrm>
          <a:prstGeom prst="roundRect">
            <a:avLst>
              <a:gd name="adj" fmla="val 8220"/>
            </a:avLst>
          </a:prstGeom>
          <a:solidFill>
            <a:srgbClr val="00A99D"/>
          </a:solidFill>
          <a:ln/>
        </p:spPr>
        <p:txBody>
          <a:bodyPr wrap="square" rtlCol="0" anchor="ctr"/>
          <a:lstStyle/>
          <a:p>
            <a:pPr indent="0" marL="0">
              <a:buNone/>
            </a:pPr>
            <a:endParaRPr lang="en-US" dirty="0"/>
          </a:p>
        </p:txBody>
      </p:sp>
      <p:sp>
        <p:nvSpPr>
          <p:cNvPr id="16" name="Text 14"/>
          <p:cNvSpPr/>
          <p:nvPr/>
        </p:nvSpPr>
        <p:spPr>
          <a:xfrm>
            <a:off x="660350" y="3019127"/>
            <a:ext cx="2366331" cy="228600"/>
          </a:xfrm>
          <a:prstGeom prst="rect">
            <a:avLst/>
          </a:prstGeom>
          <a:noFill/>
          <a:ln/>
        </p:spPr>
        <p:txBody>
          <a:bodyPr wrap="square" lIns="0" tIns="0" rIns="0" bIns="0" rtlCol="0" anchor="t"/>
          <a:lstStyle/>
          <a:p>
            <a:pPr algn="l" indent="0" marL="0">
              <a:spcAft>
                <a:spcPts val="400"/>
              </a:spcAft>
              <a:buNone/>
            </a:pPr>
            <a:r>
              <a:rPr lang="en-US" sz="1200" b="1" dirty="0">
                <a:solidFill>
                  <a:srgbClr val="FFFFFF"/>
                </a:solidFill>
                <a:latin typeface="Arial" pitchFamily="34" charset="0"/>
                <a:ea typeface="Arial" pitchFamily="34" charset="-122"/>
                <a:cs typeface="Arial" pitchFamily="34" charset="-120"/>
              </a:rPr>
              <a:t>情報のギャップ</a:t>
            </a:r>
            <a:endParaRPr lang="en-US" sz="1200" dirty="0"/>
          </a:p>
        </p:txBody>
      </p:sp>
      <p:sp>
        <p:nvSpPr>
          <p:cNvPr id="17" name="Text 15"/>
          <p:cNvSpPr/>
          <p:nvPr/>
        </p:nvSpPr>
        <p:spPr>
          <a:xfrm>
            <a:off x="660350" y="3298478"/>
            <a:ext cx="2366331" cy="342900"/>
          </a:xfrm>
          <a:prstGeom prst="rect">
            <a:avLst/>
          </a:prstGeom>
          <a:noFill/>
          <a:ln/>
        </p:spPr>
        <p:txBody>
          <a:bodyPr wrap="square" lIns="0" tIns="0" rIns="0" bIns="0" rtlCol="0" anchor="t"/>
          <a:lstStyle/>
          <a:p>
            <a:pPr algn="l" indent="0" marL="0">
              <a:buNone/>
            </a:pPr>
            <a:r>
              <a:rPr lang="en-US" sz="900" dirty="0">
                <a:solidFill>
                  <a:srgbClr val="FFFFFF">
                    <a:alpha val="87000"/>
                  </a:srgbClr>
                </a:solidFill>
                <a:latin typeface="Arial" pitchFamily="34" charset="0"/>
                <a:ea typeface="Arial" pitchFamily="34" charset="-122"/>
                <a:cs typeface="Arial" pitchFamily="34" charset="-120"/>
              </a:rPr>
              <a:t>多様なキャリアを歩む社員がいるのに、その存在・経験を知る手段がない</a:t>
            </a:r>
            <a:endParaRPr lang="en-US" sz="900" dirty="0"/>
          </a:p>
        </p:txBody>
      </p:sp>
      <p:sp>
        <p:nvSpPr>
          <p:cNvPr id="18" name="Text 16"/>
          <p:cNvSpPr/>
          <p:nvPr/>
        </p:nvSpPr>
        <p:spPr>
          <a:xfrm>
            <a:off x="3259634" y="2866727"/>
            <a:ext cx="2624733" cy="927050"/>
          </a:xfrm>
          <a:prstGeom prst="roundRect">
            <a:avLst>
              <a:gd name="adj" fmla="val 8220"/>
            </a:avLst>
          </a:prstGeom>
          <a:solidFill>
            <a:srgbClr val="2B6CB0"/>
          </a:solidFill>
          <a:ln/>
        </p:spPr>
        <p:txBody>
          <a:bodyPr wrap="square" rtlCol="0" anchor="ctr"/>
          <a:lstStyle/>
          <a:p>
            <a:pPr indent="0" marL="0">
              <a:buNone/>
            </a:pPr>
            <a:endParaRPr lang="en-US" dirty="0"/>
          </a:p>
        </p:txBody>
      </p:sp>
      <p:sp>
        <p:nvSpPr>
          <p:cNvPr id="19" name="Text 17"/>
          <p:cNvSpPr/>
          <p:nvPr/>
        </p:nvSpPr>
        <p:spPr>
          <a:xfrm>
            <a:off x="3412034" y="3019127"/>
            <a:ext cx="2366331" cy="228600"/>
          </a:xfrm>
          <a:prstGeom prst="rect">
            <a:avLst/>
          </a:prstGeom>
          <a:noFill/>
          <a:ln/>
        </p:spPr>
        <p:txBody>
          <a:bodyPr wrap="square" lIns="0" tIns="0" rIns="0" bIns="0" rtlCol="0" anchor="t"/>
          <a:lstStyle/>
          <a:p>
            <a:pPr algn="l" indent="0" marL="0">
              <a:spcAft>
                <a:spcPts val="400"/>
              </a:spcAft>
              <a:buNone/>
            </a:pPr>
            <a:r>
              <a:rPr lang="en-US" sz="1200" b="1" dirty="0">
                <a:solidFill>
                  <a:srgbClr val="FFFFFF"/>
                </a:solidFill>
                <a:latin typeface="Arial" pitchFamily="34" charset="0"/>
                <a:ea typeface="Arial" pitchFamily="34" charset="-122"/>
                <a:cs typeface="Arial" pitchFamily="34" charset="-120"/>
              </a:rPr>
              <a:t>マッチングのギャップ</a:t>
            </a:r>
            <a:endParaRPr lang="en-US" sz="1200" dirty="0"/>
          </a:p>
        </p:txBody>
      </p:sp>
      <p:sp>
        <p:nvSpPr>
          <p:cNvPr id="20" name="Text 18"/>
          <p:cNvSpPr/>
          <p:nvPr/>
        </p:nvSpPr>
        <p:spPr>
          <a:xfrm>
            <a:off x="3412034" y="3298478"/>
            <a:ext cx="2366331" cy="342900"/>
          </a:xfrm>
          <a:prstGeom prst="rect">
            <a:avLst/>
          </a:prstGeom>
          <a:noFill/>
          <a:ln/>
        </p:spPr>
        <p:txBody>
          <a:bodyPr wrap="square" lIns="0" tIns="0" rIns="0" bIns="0" rtlCol="0" anchor="t"/>
          <a:lstStyle/>
          <a:p>
            <a:pPr algn="l" indent="0" marL="0">
              <a:buNone/>
            </a:pPr>
            <a:r>
              <a:rPr lang="en-US" sz="900" dirty="0">
                <a:solidFill>
                  <a:srgbClr val="FFFFFF">
                    <a:alpha val="87000"/>
                  </a:srgbClr>
                </a:solidFill>
                <a:latin typeface="Arial" pitchFamily="34" charset="0"/>
                <a:ea typeface="Arial" pitchFamily="34" charset="-122"/>
                <a:cs typeface="Arial" pitchFamily="34" charset="-120"/>
              </a:rPr>
              <a:t>社内公募は氷山の一角。自分に合うポジションが埋もれている</a:t>
            </a:r>
            <a:endParaRPr lang="en-US" sz="900" dirty="0"/>
          </a:p>
        </p:txBody>
      </p:sp>
      <p:sp>
        <p:nvSpPr>
          <p:cNvPr id="21" name="Text 19"/>
          <p:cNvSpPr/>
          <p:nvPr/>
        </p:nvSpPr>
        <p:spPr>
          <a:xfrm>
            <a:off x="6011317" y="2866727"/>
            <a:ext cx="2624733" cy="927050"/>
          </a:xfrm>
          <a:prstGeom prst="roundRect">
            <a:avLst>
              <a:gd name="adj" fmla="val 8220"/>
            </a:avLst>
          </a:prstGeom>
          <a:solidFill>
            <a:srgbClr val="E8734A"/>
          </a:solidFill>
          <a:ln/>
        </p:spPr>
        <p:txBody>
          <a:bodyPr wrap="square" rtlCol="0" anchor="ctr"/>
          <a:lstStyle/>
          <a:p>
            <a:pPr indent="0" marL="0">
              <a:buNone/>
            </a:pPr>
            <a:endParaRPr lang="en-US" dirty="0"/>
          </a:p>
        </p:txBody>
      </p:sp>
      <p:sp>
        <p:nvSpPr>
          <p:cNvPr id="22" name="Text 20"/>
          <p:cNvSpPr/>
          <p:nvPr/>
        </p:nvSpPr>
        <p:spPr>
          <a:xfrm>
            <a:off x="6163717" y="3019127"/>
            <a:ext cx="2366331" cy="228600"/>
          </a:xfrm>
          <a:prstGeom prst="rect">
            <a:avLst/>
          </a:prstGeom>
          <a:noFill/>
          <a:ln/>
        </p:spPr>
        <p:txBody>
          <a:bodyPr wrap="square" lIns="0" tIns="0" rIns="0" bIns="0" rtlCol="0" anchor="t"/>
          <a:lstStyle/>
          <a:p>
            <a:pPr algn="l" indent="0" marL="0">
              <a:spcAft>
                <a:spcPts val="400"/>
              </a:spcAft>
              <a:buNone/>
            </a:pPr>
            <a:r>
              <a:rPr lang="en-US" sz="1200" b="1" dirty="0">
                <a:solidFill>
                  <a:srgbClr val="FFFFFF"/>
                </a:solidFill>
                <a:latin typeface="Arial" pitchFamily="34" charset="0"/>
                <a:ea typeface="Arial" pitchFamily="34" charset="-122"/>
                <a:cs typeface="Arial" pitchFamily="34" charset="-120"/>
              </a:rPr>
              <a:t>対話のギャップ</a:t>
            </a:r>
            <a:endParaRPr lang="en-US" sz="1200" dirty="0"/>
          </a:p>
        </p:txBody>
      </p:sp>
      <p:sp>
        <p:nvSpPr>
          <p:cNvPr id="23" name="Text 21"/>
          <p:cNvSpPr/>
          <p:nvPr/>
        </p:nvSpPr>
        <p:spPr>
          <a:xfrm>
            <a:off x="6163717" y="3298478"/>
            <a:ext cx="2366331" cy="342900"/>
          </a:xfrm>
          <a:prstGeom prst="rect">
            <a:avLst/>
          </a:prstGeom>
          <a:noFill/>
          <a:ln/>
        </p:spPr>
        <p:txBody>
          <a:bodyPr wrap="square" lIns="0" tIns="0" rIns="0" bIns="0" rtlCol="0" anchor="t"/>
          <a:lstStyle/>
          <a:p>
            <a:pPr algn="l" indent="0" marL="0">
              <a:buNone/>
            </a:pPr>
            <a:r>
              <a:rPr lang="en-US" sz="900" dirty="0">
                <a:solidFill>
                  <a:srgbClr val="FFFFFF">
                    <a:alpha val="87000"/>
                  </a:srgbClr>
                </a:solidFill>
                <a:latin typeface="Arial" pitchFamily="34" charset="0"/>
                <a:ea typeface="Arial" pitchFamily="34" charset="-122"/>
                <a:cs typeface="Arial" pitchFamily="34" charset="-120"/>
              </a:rPr>
              <a:t>一方通行の情報では「自分ならどうか」を考えられない</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885825"/>
          </a:xfrm>
          <a:prstGeom prst="rect">
            <a:avLst/>
          </a:prstGeom>
          <a:solidFill>
            <a:srgbClr val="1B2A4A"/>
          </a:solidFill>
          <a:ln/>
        </p:spPr>
        <p:txBody>
          <a:bodyPr wrap="square" rtlCol="0" anchor="ctr"/>
          <a:lstStyle/>
          <a:p>
            <a:pPr indent="0" marL="0">
              <a:buNone/>
            </a:pPr>
            <a:endParaRPr lang="en-US" dirty="0"/>
          </a:p>
        </p:txBody>
      </p:sp>
      <p:sp>
        <p:nvSpPr>
          <p:cNvPr id="3" name="Text 1"/>
          <p:cNvSpPr/>
          <p:nvPr/>
        </p:nvSpPr>
        <p:spPr>
          <a:xfrm>
            <a:off x="507950" y="228600"/>
            <a:ext cx="8290661" cy="428625"/>
          </a:xfrm>
          <a:prstGeom prst="rect">
            <a:avLst/>
          </a:prstGeom>
          <a:noFill/>
          <a:ln/>
        </p:spPr>
        <p:txBody>
          <a:bodyPr wrap="square" lIns="0" tIns="0" rIns="0" bIns="0" rtlCol="0" anchor="t"/>
          <a:lstStyle/>
          <a:p>
            <a:pPr algn="l" indent="0" marL="0">
              <a:buNone/>
            </a:pPr>
            <a:r>
              <a:rPr lang="en-US" sz="2200" b="1" dirty="0">
                <a:solidFill>
                  <a:srgbClr val="FFFFFF"/>
                </a:solidFill>
                <a:latin typeface="Arial" pitchFamily="34" charset="0"/>
                <a:ea typeface="Arial" pitchFamily="34" charset="-122"/>
                <a:cs typeface="Arial" pitchFamily="34" charset="-120"/>
              </a:rPr>
              <a:t>解決策 ― YourCompany Career Nexus</a:t>
            </a:r>
            <a:endParaRPr lang="en-US" sz="2200" dirty="0"/>
          </a:p>
        </p:txBody>
      </p:sp>
      <p:sp>
        <p:nvSpPr>
          <p:cNvPr id="4" name="Text 2"/>
          <p:cNvSpPr/>
          <p:nvPr/>
        </p:nvSpPr>
        <p:spPr>
          <a:xfrm>
            <a:off x="507950" y="1038225"/>
            <a:ext cx="8290661" cy="209550"/>
          </a:xfrm>
          <a:prstGeom prst="rect">
            <a:avLst/>
          </a:prstGeom>
          <a:noFill/>
          <a:ln/>
        </p:spPr>
        <p:txBody>
          <a:bodyPr wrap="square" lIns="0" tIns="0" rIns="0" bIns="0" rtlCol="0" anchor="t"/>
          <a:lstStyle/>
          <a:p>
            <a:pPr algn="l" indent="0" marL="0">
              <a:buNone/>
            </a:pPr>
            <a:r>
              <a:rPr lang="en-US" sz="1100" dirty="0">
                <a:solidFill>
                  <a:srgbClr val="1B2A4A"/>
                </a:solidFill>
                <a:latin typeface="Arial" pitchFamily="34" charset="0"/>
                <a:ea typeface="Arial" pitchFamily="34" charset="-122"/>
                <a:cs typeface="Arial" pitchFamily="34" charset="-120"/>
              </a:rPr>
              <a:t>3つのフェーズで進化するAIキャリアエージェント</a:t>
            </a:r>
            <a:endParaRPr lang="en-US" sz="1100" dirty="0"/>
          </a:p>
        </p:txBody>
      </p:sp>
      <p:sp>
        <p:nvSpPr>
          <p:cNvPr id="5" name="Text 3"/>
          <p:cNvSpPr/>
          <p:nvPr/>
        </p:nvSpPr>
        <p:spPr>
          <a:xfrm>
            <a:off x="507950" y="1400175"/>
            <a:ext cx="2590800" cy="3489424"/>
          </a:xfrm>
          <a:prstGeom prst="roundRect">
            <a:avLst>
              <a:gd name="adj" fmla="val 3922"/>
            </a:avLst>
          </a:prstGeom>
          <a:noFill/>
          <a:ln w="19050">
            <a:solidFill>
              <a:srgbClr val="00A99D"/>
            </a:solidFill>
          </a:ln>
        </p:spPr>
        <p:txBody>
          <a:bodyPr wrap="square" rtlCol="0" anchor="ctr"/>
          <a:lstStyle/>
          <a:p>
            <a:pPr indent="0" marL="0">
              <a:buNone/>
            </a:pPr>
            <a:endParaRPr lang="en-US" dirty="0"/>
          </a:p>
        </p:txBody>
      </p:sp>
      <p:sp>
        <p:nvSpPr>
          <p:cNvPr id="6" name="Text 4"/>
          <p:cNvSpPr/>
          <p:nvPr/>
        </p:nvSpPr>
        <p:spPr>
          <a:xfrm>
            <a:off x="704701" y="1596926"/>
            <a:ext cx="2197298" cy="400050"/>
          </a:xfrm>
          <a:prstGeom prst="roundRect">
            <a:avLst>
              <a:gd name="adj" fmla="val 12698"/>
            </a:avLst>
          </a:prstGeom>
          <a:solidFill>
            <a:srgbClr val="00A99D"/>
          </a:solidFill>
          <a:ln/>
        </p:spPr>
        <p:txBody>
          <a:bodyPr wrap="square" rtlCol="0" anchor="ctr"/>
          <a:lstStyle/>
          <a:p>
            <a:pPr indent="0" marL="0">
              <a:buNone/>
            </a:pPr>
            <a:endParaRPr lang="en-US" dirty="0"/>
          </a:p>
        </p:txBody>
      </p:sp>
      <p:sp>
        <p:nvSpPr>
          <p:cNvPr id="7" name="Text 5"/>
          <p:cNvSpPr/>
          <p:nvPr/>
        </p:nvSpPr>
        <p:spPr>
          <a:xfrm>
            <a:off x="831652" y="1673126"/>
            <a:ext cx="1982266" cy="247650"/>
          </a:xfrm>
          <a:prstGeom prst="rect">
            <a:avLst/>
          </a:prstGeom>
          <a:noFill/>
          <a:ln/>
        </p:spPr>
        <p:txBody>
          <a:bodyPr wrap="square" lIns="0" tIns="0" rIns="0" bIns="0" rtlCol="0" anchor="t"/>
          <a:lstStyle/>
          <a:p>
            <a:pPr algn="l" indent="0" marL="0">
              <a:buNone/>
            </a:pPr>
            <a:r>
              <a:rPr lang="en-US" sz="1300" b="1" dirty="0">
                <a:solidFill>
                  <a:srgbClr val="FFFFFF"/>
                </a:solidFill>
                <a:latin typeface="Arial" pitchFamily="34" charset="0"/>
                <a:ea typeface="Arial" pitchFamily="34" charset="-122"/>
                <a:cs typeface="Arial" pitchFamily="34" charset="-120"/>
              </a:rPr>
              <a:t>Phase 1: 発見</a:t>
            </a:r>
            <a:endParaRPr lang="en-US" sz="1300" dirty="0"/>
          </a:p>
        </p:txBody>
      </p:sp>
      <p:sp>
        <p:nvSpPr>
          <p:cNvPr id="8" name="Text 6"/>
          <p:cNvSpPr/>
          <p:nvPr/>
        </p:nvSpPr>
        <p:spPr>
          <a:xfrm>
            <a:off x="704701" y="2123926"/>
            <a:ext cx="2241244" cy="200025"/>
          </a:xfrm>
          <a:prstGeom prst="rect">
            <a:avLst/>
          </a:prstGeom>
          <a:noFill/>
          <a:ln/>
        </p:spPr>
        <p:txBody>
          <a:bodyPr wrap="square" lIns="0" tIns="0" rIns="0" bIns="0" rtlCol="0" anchor="t"/>
          <a:lstStyle/>
          <a:p>
            <a:pPr algn="l" indent="0" marL="0">
              <a:spcAft>
                <a:spcPts val="600"/>
              </a:spcAft>
              <a:buNone/>
            </a:pPr>
            <a:r>
              <a:rPr lang="en-US" sz="1000" b="1" dirty="0">
                <a:solidFill>
                  <a:srgbClr val="1B2A4A"/>
                </a:solidFill>
                <a:latin typeface="Arial" pitchFamily="34" charset="0"/>
                <a:ea typeface="Arial" pitchFamily="34" charset="-122"/>
                <a:cs typeface="Arial" pitchFamily="34" charset="-120"/>
              </a:rPr>
              <a:t>ロールモデルマップ &amp; キャリア壁打ち</a:t>
            </a:r>
            <a:endParaRPr lang="en-US" sz="1000" dirty="0"/>
          </a:p>
        </p:txBody>
      </p:sp>
      <p:sp>
        <p:nvSpPr>
          <p:cNvPr id="9" name="Text 7"/>
          <p:cNvSpPr/>
          <p:nvPr/>
        </p:nvSpPr>
        <p:spPr>
          <a:xfrm>
            <a:off x="704701" y="2400151"/>
            <a:ext cx="2197298" cy="1279327"/>
          </a:xfrm>
          <a:prstGeom prst="rect">
            <a:avLst/>
          </a:prstGeom>
          <a:noFill/>
          <a:ln/>
        </p:spPr>
        <p:txBody>
          <a:bodyPr wrap="square" lIns="88900" tIns="0" rIns="0" bIns="0" rtlCol="0" anchor="t"/>
          <a:lstStyle/>
          <a:p>
            <a:pPr algn="l" marL="88900" indent="-88900">
              <a:lnSpc>
                <a:spcPts val="1440"/>
              </a:lnSpc>
              <a:buSzPct val="100000"/>
              <a:buChar char="•"/>
            </a:pPr>
            <a:r>
              <a:rPr lang="en-US" sz="900" dirty="0">
                <a:solidFill>
                  <a:srgbClr val="4A5568"/>
                </a:solidFill>
                <a:latin typeface="Arial" pitchFamily="34" charset="0"/>
                <a:ea typeface="Arial" pitchFamily="34" charset="-122"/>
                <a:cs typeface="Arial" pitchFamily="34" charset="-120"/>
              </a:rPr>
              <a:t>自社内データでAIとキャリア壁打ち</a:t>
            </a:r>
            <a:endParaRPr lang="en-US" sz="900" dirty="0"/>
          </a:p>
          <a:p>
            <a:pPr algn="l" marL="88900" indent="-88900">
              <a:lnSpc>
                <a:spcPts val="1440"/>
              </a:lnSpc>
              <a:buSzPct val="100000"/>
              <a:buChar char="•"/>
            </a:pPr>
            <a:r>
              <a:rPr lang="en-US" sz="900" dirty="0">
                <a:solidFill>
                  <a:srgbClr val="4A5568"/>
                </a:solidFill>
                <a:latin typeface="Arial" pitchFamily="34" charset="0"/>
                <a:ea typeface="Arial" pitchFamily="34" charset="-122"/>
                <a:cs typeface="Arial" pitchFamily="34" charset="-120"/>
              </a:rPr>
              <a:t>インタビュー記事からロールモデルマップ構築</a:t>
            </a:r>
            <a:endParaRPr lang="en-US" sz="900" dirty="0"/>
          </a:p>
          <a:p>
            <a:pPr algn="l" marL="88900" indent="-88900">
              <a:lnSpc>
                <a:spcPts val="1440"/>
              </a:lnSpc>
              <a:buSzPct val="100000"/>
              <a:buChar char="•"/>
            </a:pPr>
            <a:r>
              <a:rPr lang="en-US" sz="900" dirty="0">
                <a:solidFill>
                  <a:srgbClr val="4A5568"/>
                </a:solidFill>
                <a:latin typeface="Arial" pitchFamily="34" charset="0"/>
                <a:ea typeface="Arial" pitchFamily="34" charset="-122"/>
                <a:cs typeface="Arial" pitchFamily="34" charset="-120"/>
              </a:rPr>
              <a:t>ロールモデルとの"疑似対話"</a:t>
            </a:r>
            <a:endParaRPr lang="en-US" sz="900" dirty="0"/>
          </a:p>
          <a:p>
            <a:pPr algn="l" marL="88900" indent="-88900">
              <a:lnSpc>
                <a:spcPts val="1440"/>
              </a:lnSpc>
              <a:buSzPct val="100000"/>
              <a:buChar char="•"/>
            </a:pPr>
            <a:r>
              <a:rPr lang="en-US" sz="900" dirty="0">
                <a:solidFill>
                  <a:srgbClr val="4A5568"/>
                </a:solidFill>
                <a:latin typeface="Arial" pitchFamily="34" charset="0"/>
                <a:ea typeface="Arial" pitchFamily="34" charset="-122"/>
                <a:cs typeface="Arial" pitchFamily="34" charset="-120"/>
              </a:rPr>
              <a:t>社内公募と連動したキャリアパス提案</a:t>
            </a:r>
            <a:endParaRPr lang="en-US" sz="900" dirty="0"/>
          </a:p>
          <a:p>
            <a:pPr algn="l" marL="88900" indent="-88900">
              <a:lnSpc>
                <a:spcPts val="1440"/>
              </a:lnSpc>
              <a:buSzPct val="100000"/>
              <a:buChar char="•"/>
            </a:pPr>
            <a:r>
              <a:rPr lang="en-US" sz="900" dirty="0">
                <a:solidFill>
                  <a:srgbClr val="4A5568"/>
                </a:solidFill>
                <a:latin typeface="Arial" pitchFamily="34" charset="0"/>
                <a:ea typeface="Arial" pitchFamily="34" charset="-122"/>
                <a:cs typeface="Arial" pitchFamily="34" charset="-120"/>
              </a:rPr>
              <a:t>キャリア制度・部署情報・風土データを取り込み</a:t>
            </a:r>
            <a:endParaRPr lang="en-US" sz="900" dirty="0"/>
          </a:p>
        </p:txBody>
      </p:sp>
      <p:sp>
        <p:nvSpPr>
          <p:cNvPr id="10" name="Text 8"/>
          <p:cNvSpPr/>
          <p:nvPr/>
        </p:nvSpPr>
        <p:spPr>
          <a:xfrm>
            <a:off x="3276451" y="1400175"/>
            <a:ext cx="2590949" cy="3489424"/>
          </a:xfrm>
          <a:prstGeom prst="roundRect">
            <a:avLst>
              <a:gd name="adj" fmla="val 3921"/>
            </a:avLst>
          </a:prstGeom>
          <a:noFill/>
          <a:ln w="19050">
            <a:solidFill>
              <a:srgbClr val="2B6CB0"/>
            </a:solidFill>
          </a:ln>
        </p:spPr>
        <p:txBody>
          <a:bodyPr wrap="square" rtlCol="0" anchor="ctr"/>
          <a:lstStyle/>
          <a:p>
            <a:pPr indent="0" marL="0">
              <a:buNone/>
            </a:pPr>
            <a:endParaRPr lang="en-US" dirty="0"/>
          </a:p>
        </p:txBody>
      </p:sp>
      <p:sp>
        <p:nvSpPr>
          <p:cNvPr id="11" name="Text 9"/>
          <p:cNvSpPr/>
          <p:nvPr/>
        </p:nvSpPr>
        <p:spPr>
          <a:xfrm>
            <a:off x="3473202" y="1596926"/>
            <a:ext cx="2197447" cy="400050"/>
          </a:xfrm>
          <a:prstGeom prst="roundRect">
            <a:avLst>
              <a:gd name="adj" fmla="val 12698"/>
            </a:avLst>
          </a:prstGeom>
          <a:solidFill>
            <a:srgbClr val="2B6CB0"/>
          </a:solidFill>
          <a:ln/>
        </p:spPr>
        <p:txBody>
          <a:bodyPr wrap="square" rtlCol="0" anchor="ctr"/>
          <a:lstStyle/>
          <a:p>
            <a:pPr indent="0" marL="0">
              <a:buNone/>
            </a:pPr>
            <a:endParaRPr lang="en-US" dirty="0"/>
          </a:p>
        </p:txBody>
      </p:sp>
      <p:sp>
        <p:nvSpPr>
          <p:cNvPr id="12" name="Text 10"/>
          <p:cNvSpPr/>
          <p:nvPr/>
        </p:nvSpPr>
        <p:spPr>
          <a:xfrm>
            <a:off x="3600152" y="1673126"/>
            <a:ext cx="1982417" cy="247650"/>
          </a:xfrm>
          <a:prstGeom prst="rect">
            <a:avLst/>
          </a:prstGeom>
          <a:noFill/>
          <a:ln/>
        </p:spPr>
        <p:txBody>
          <a:bodyPr wrap="square" lIns="0" tIns="0" rIns="0" bIns="0" rtlCol="0" anchor="t"/>
          <a:lstStyle/>
          <a:p>
            <a:pPr algn="l" indent="0" marL="0">
              <a:buNone/>
            </a:pPr>
            <a:r>
              <a:rPr lang="en-US" sz="1300" b="1" dirty="0">
                <a:solidFill>
                  <a:srgbClr val="FFFFFF"/>
                </a:solidFill>
                <a:latin typeface="Arial" pitchFamily="34" charset="0"/>
                <a:ea typeface="Arial" pitchFamily="34" charset="-122"/>
                <a:cs typeface="Arial" pitchFamily="34" charset="-120"/>
              </a:rPr>
              <a:t>Phase 2: 継続</a:t>
            </a:r>
            <a:endParaRPr lang="en-US" sz="1300" dirty="0"/>
          </a:p>
        </p:txBody>
      </p:sp>
      <p:sp>
        <p:nvSpPr>
          <p:cNvPr id="13" name="Text 11"/>
          <p:cNvSpPr/>
          <p:nvPr/>
        </p:nvSpPr>
        <p:spPr>
          <a:xfrm>
            <a:off x="3473202" y="2123926"/>
            <a:ext cx="2241396" cy="200025"/>
          </a:xfrm>
          <a:prstGeom prst="rect">
            <a:avLst/>
          </a:prstGeom>
          <a:noFill/>
          <a:ln/>
        </p:spPr>
        <p:txBody>
          <a:bodyPr wrap="square" lIns="0" tIns="0" rIns="0" bIns="0" rtlCol="0" anchor="t"/>
          <a:lstStyle/>
          <a:p>
            <a:pPr algn="l" indent="0" marL="0">
              <a:spcAft>
                <a:spcPts val="600"/>
              </a:spcAft>
              <a:buNone/>
            </a:pPr>
            <a:r>
              <a:rPr lang="en-US" sz="1000" b="1" dirty="0">
                <a:solidFill>
                  <a:srgbClr val="1B2A4A"/>
                </a:solidFill>
                <a:latin typeface="Arial" pitchFamily="34" charset="0"/>
                <a:ea typeface="Arial" pitchFamily="34" charset="-122"/>
                <a:cs typeface="Arial" pitchFamily="34" charset="-120"/>
              </a:rPr>
              <a:t>キャリアマップ &amp; モチベーション支援</a:t>
            </a:r>
            <a:endParaRPr lang="en-US" sz="1000" dirty="0"/>
          </a:p>
        </p:txBody>
      </p:sp>
      <p:sp>
        <p:nvSpPr>
          <p:cNvPr id="14" name="Text 12"/>
          <p:cNvSpPr/>
          <p:nvPr/>
        </p:nvSpPr>
        <p:spPr>
          <a:xfrm>
            <a:off x="3473202" y="2400151"/>
            <a:ext cx="2197447" cy="913805"/>
          </a:xfrm>
          <a:prstGeom prst="rect">
            <a:avLst/>
          </a:prstGeom>
          <a:noFill/>
          <a:ln/>
        </p:spPr>
        <p:txBody>
          <a:bodyPr wrap="square" lIns="88900" tIns="0" rIns="0" bIns="0" rtlCol="0" anchor="t"/>
          <a:lstStyle/>
          <a:p>
            <a:pPr algn="l" marL="88900" indent="-88900">
              <a:lnSpc>
                <a:spcPts val="1440"/>
              </a:lnSpc>
              <a:buSzPct val="100000"/>
              <a:buChar char="•"/>
            </a:pPr>
            <a:r>
              <a:rPr lang="en-US" sz="900" dirty="0">
                <a:solidFill>
                  <a:srgbClr val="4A5568"/>
                </a:solidFill>
                <a:latin typeface="Arial" pitchFamily="34" charset="0"/>
                <a:ea typeface="Arial" pitchFamily="34" charset="-122"/>
                <a:cs typeface="Arial" pitchFamily="34" charset="-120"/>
              </a:rPr>
              <a:t>会話内容から個人別キャリアマップ構築</a:t>
            </a:r>
            <a:endParaRPr lang="en-US" sz="900" dirty="0"/>
          </a:p>
          <a:p>
            <a:pPr algn="l" marL="88900" indent="-88900">
              <a:lnSpc>
                <a:spcPts val="1440"/>
              </a:lnSpc>
              <a:buSzPct val="100000"/>
              <a:buChar char="•"/>
            </a:pPr>
            <a:r>
              <a:rPr lang="en-US" sz="900" dirty="0">
                <a:solidFill>
                  <a:srgbClr val="4A5568"/>
                </a:solidFill>
                <a:latin typeface="Arial" pitchFamily="34" charset="0"/>
                <a:ea typeface="Arial" pitchFamily="34" charset="-122"/>
                <a:cs typeface="Arial" pitchFamily="34" charset="-120"/>
              </a:rPr>
              <a:t>日々の会話でモチベーション把握</a:t>
            </a:r>
            <a:endParaRPr lang="en-US" sz="900" dirty="0"/>
          </a:p>
          <a:p>
            <a:pPr algn="l" marL="88900" indent="-88900">
              <a:lnSpc>
                <a:spcPts val="1440"/>
              </a:lnSpc>
              <a:buSzPct val="100000"/>
              <a:buChar char="•"/>
            </a:pPr>
            <a:r>
              <a:rPr lang="en-US" sz="900" dirty="0">
                <a:solidFill>
                  <a:srgbClr val="4A5568"/>
                </a:solidFill>
                <a:latin typeface="Arial" pitchFamily="34" charset="0"/>
                <a:ea typeface="Arial" pitchFamily="34" charset="-122"/>
                <a:cs typeface="Arial" pitchFamily="34" charset="-120"/>
              </a:rPr>
              <a:t>AIが自発的に励ましの声かけ</a:t>
            </a:r>
            <a:endParaRPr lang="en-US" sz="900" dirty="0"/>
          </a:p>
          <a:p>
            <a:pPr algn="l" marL="88900" indent="-88900">
              <a:lnSpc>
                <a:spcPts val="1440"/>
              </a:lnSpc>
              <a:buSzPct val="100000"/>
              <a:buChar char="•"/>
            </a:pPr>
            <a:r>
              <a:rPr lang="en-US" sz="900" dirty="0">
                <a:solidFill>
                  <a:srgbClr val="4A5568"/>
                </a:solidFill>
                <a:latin typeface="Arial" pitchFamily="34" charset="0"/>
                <a:ea typeface="Arial" pitchFamily="34" charset="-122"/>
                <a:cs typeface="Arial" pitchFamily="34" charset="-120"/>
              </a:rPr>
              <a:t>公募更新通知・新人メンタリング</a:t>
            </a:r>
            <a:endParaRPr lang="en-US" sz="900" dirty="0"/>
          </a:p>
        </p:txBody>
      </p:sp>
      <p:sp>
        <p:nvSpPr>
          <p:cNvPr id="15" name="Text 13"/>
          <p:cNvSpPr/>
          <p:nvPr/>
        </p:nvSpPr>
        <p:spPr>
          <a:xfrm>
            <a:off x="6045101" y="1400175"/>
            <a:ext cx="2590949" cy="3489424"/>
          </a:xfrm>
          <a:prstGeom prst="roundRect">
            <a:avLst>
              <a:gd name="adj" fmla="val 3921"/>
            </a:avLst>
          </a:prstGeom>
          <a:noFill/>
          <a:ln w="19050">
            <a:solidFill>
              <a:srgbClr val="E8734A"/>
            </a:solidFill>
          </a:ln>
        </p:spPr>
        <p:txBody>
          <a:bodyPr wrap="square" rtlCol="0" anchor="ctr"/>
          <a:lstStyle/>
          <a:p>
            <a:pPr indent="0" marL="0">
              <a:buNone/>
            </a:pPr>
            <a:endParaRPr lang="en-US" dirty="0"/>
          </a:p>
        </p:txBody>
      </p:sp>
      <p:sp>
        <p:nvSpPr>
          <p:cNvPr id="16" name="Text 14"/>
          <p:cNvSpPr/>
          <p:nvPr/>
        </p:nvSpPr>
        <p:spPr>
          <a:xfrm>
            <a:off x="6241852" y="1596926"/>
            <a:ext cx="2197447" cy="400050"/>
          </a:xfrm>
          <a:prstGeom prst="roundRect">
            <a:avLst>
              <a:gd name="adj" fmla="val 12698"/>
            </a:avLst>
          </a:prstGeom>
          <a:solidFill>
            <a:srgbClr val="E8734A"/>
          </a:solidFill>
          <a:ln/>
        </p:spPr>
        <p:txBody>
          <a:bodyPr wrap="square" rtlCol="0" anchor="ctr"/>
          <a:lstStyle/>
          <a:p>
            <a:pPr indent="0" marL="0">
              <a:buNone/>
            </a:pPr>
            <a:endParaRPr lang="en-US" dirty="0"/>
          </a:p>
        </p:txBody>
      </p:sp>
      <p:sp>
        <p:nvSpPr>
          <p:cNvPr id="17" name="Text 15"/>
          <p:cNvSpPr/>
          <p:nvPr/>
        </p:nvSpPr>
        <p:spPr>
          <a:xfrm>
            <a:off x="6368802" y="1673126"/>
            <a:ext cx="1982417" cy="247650"/>
          </a:xfrm>
          <a:prstGeom prst="rect">
            <a:avLst/>
          </a:prstGeom>
          <a:noFill/>
          <a:ln/>
        </p:spPr>
        <p:txBody>
          <a:bodyPr wrap="square" lIns="0" tIns="0" rIns="0" bIns="0" rtlCol="0" anchor="t"/>
          <a:lstStyle/>
          <a:p>
            <a:pPr algn="l" indent="0" marL="0">
              <a:buNone/>
            </a:pPr>
            <a:r>
              <a:rPr lang="en-US" sz="1300" b="1" dirty="0">
                <a:solidFill>
                  <a:srgbClr val="FFFFFF"/>
                </a:solidFill>
                <a:latin typeface="Arial" pitchFamily="34" charset="0"/>
                <a:ea typeface="Arial" pitchFamily="34" charset="-122"/>
                <a:cs typeface="Arial" pitchFamily="34" charset="-120"/>
              </a:rPr>
              <a:t>Phase 3: 組織</a:t>
            </a:r>
            <a:endParaRPr lang="en-US" sz="1300" dirty="0"/>
          </a:p>
        </p:txBody>
      </p:sp>
      <p:sp>
        <p:nvSpPr>
          <p:cNvPr id="18" name="Text 16"/>
          <p:cNvSpPr/>
          <p:nvPr/>
        </p:nvSpPr>
        <p:spPr>
          <a:xfrm>
            <a:off x="6241852" y="2123926"/>
            <a:ext cx="2241396" cy="200025"/>
          </a:xfrm>
          <a:prstGeom prst="rect">
            <a:avLst/>
          </a:prstGeom>
          <a:noFill/>
          <a:ln/>
        </p:spPr>
        <p:txBody>
          <a:bodyPr wrap="square" lIns="0" tIns="0" rIns="0" bIns="0" rtlCol="0" anchor="t"/>
          <a:lstStyle/>
          <a:p>
            <a:pPr algn="l" indent="0" marL="0">
              <a:spcAft>
                <a:spcPts val="600"/>
              </a:spcAft>
              <a:buNone/>
            </a:pPr>
            <a:r>
              <a:rPr lang="en-US" sz="1000" b="1" dirty="0">
                <a:solidFill>
                  <a:srgbClr val="1B2A4A"/>
                </a:solidFill>
                <a:latin typeface="Arial" pitchFamily="34" charset="0"/>
                <a:ea typeface="Arial" pitchFamily="34" charset="-122"/>
                <a:cs typeface="Arial" pitchFamily="34" charset="-120"/>
              </a:rPr>
              <a:t>スキル可視化 &amp; 最適配置</a:t>
            </a:r>
            <a:endParaRPr lang="en-US" sz="1000" dirty="0"/>
          </a:p>
        </p:txBody>
      </p:sp>
      <p:sp>
        <p:nvSpPr>
          <p:cNvPr id="19" name="Text 17"/>
          <p:cNvSpPr/>
          <p:nvPr/>
        </p:nvSpPr>
        <p:spPr>
          <a:xfrm>
            <a:off x="6241852" y="2400151"/>
            <a:ext cx="2197447" cy="913805"/>
          </a:xfrm>
          <a:prstGeom prst="rect">
            <a:avLst/>
          </a:prstGeom>
          <a:noFill/>
          <a:ln/>
        </p:spPr>
        <p:txBody>
          <a:bodyPr wrap="square" lIns="88900" tIns="0" rIns="0" bIns="0" rtlCol="0" anchor="t"/>
          <a:lstStyle/>
          <a:p>
            <a:pPr algn="l" marL="88900" indent="-88900">
              <a:lnSpc>
                <a:spcPts val="1440"/>
              </a:lnSpc>
              <a:buSzPct val="100000"/>
              <a:buChar char="•"/>
            </a:pPr>
            <a:r>
              <a:rPr lang="en-US" sz="900" dirty="0">
                <a:solidFill>
                  <a:srgbClr val="4A5568"/>
                </a:solidFill>
                <a:latin typeface="Arial" pitchFamily="34" charset="0"/>
                <a:ea typeface="Arial" pitchFamily="34" charset="-122"/>
                <a:cs typeface="Arial" pitchFamily="34" charset="-120"/>
              </a:rPr>
              <a:t>全社員のキャリア・スキル可視化</a:t>
            </a:r>
            <a:endParaRPr lang="en-US" sz="900" dirty="0"/>
          </a:p>
          <a:p>
            <a:pPr algn="l" marL="88900" indent="-88900">
              <a:lnSpc>
                <a:spcPts val="1440"/>
              </a:lnSpc>
              <a:buSzPct val="100000"/>
              <a:buChar char="•"/>
            </a:pPr>
            <a:r>
              <a:rPr lang="en-US" sz="900" dirty="0">
                <a:solidFill>
                  <a:srgbClr val="4A5568"/>
                </a:solidFill>
                <a:latin typeface="Arial" pitchFamily="34" charset="0"/>
                <a:ea typeface="Arial" pitchFamily="34" charset="-122"/>
                <a:cs typeface="Arial" pitchFamily="34" charset="-120"/>
              </a:rPr>
              <a:t>プロジェクトへの最適人員配置を自動化</a:t>
            </a:r>
            <a:endParaRPr lang="en-US" sz="900" dirty="0"/>
          </a:p>
          <a:p>
            <a:pPr algn="l" marL="88900" indent="-88900">
              <a:lnSpc>
                <a:spcPts val="1440"/>
              </a:lnSpc>
              <a:buSzPct val="100000"/>
              <a:buChar char="•"/>
            </a:pPr>
            <a:r>
              <a:rPr lang="en-US" sz="900" dirty="0">
                <a:solidFill>
                  <a:srgbClr val="4A5568"/>
                </a:solidFill>
                <a:latin typeface="Arial" pitchFamily="34" charset="0"/>
                <a:ea typeface="Arial" pitchFamily="34" charset="-122"/>
                <a:cs typeface="Arial" pitchFamily="34" charset="-120"/>
              </a:rPr>
              <a:t>勉強会・メンタリングをマッチング</a:t>
            </a:r>
            <a:endParaRPr lang="en-US" sz="900" dirty="0"/>
          </a:p>
          <a:p>
            <a:pPr algn="l" marL="88900" indent="-88900">
              <a:lnSpc>
                <a:spcPts val="1440"/>
              </a:lnSpc>
              <a:buSzPct val="100000"/>
              <a:buChar char="•"/>
            </a:pPr>
            <a:r>
              <a:rPr lang="en-US" sz="900" dirty="0">
                <a:solidFill>
                  <a:srgbClr val="4A5568"/>
                </a:solidFill>
                <a:latin typeface="Arial" pitchFamily="34" charset="0"/>
                <a:ea typeface="Arial" pitchFamily="34" charset="-122"/>
                <a:cs typeface="Arial" pitchFamily="34" charset="-120"/>
              </a:rPr>
              <a:t>流動的な組織の実現</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885825"/>
          </a:xfrm>
          <a:prstGeom prst="rect">
            <a:avLst/>
          </a:prstGeom>
          <a:solidFill>
            <a:srgbClr val="1B2A4A"/>
          </a:solidFill>
          <a:ln/>
        </p:spPr>
        <p:txBody>
          <a:bodyPr wrap="square" rtlCol="0" anchor="ctr"/>
          <a:lstStyle/>
          <a:p>
            <a:pPr indent="0" marL="0">
              <a:buNone/>
            </a:pPr>
            <a:endParaRPr lang="en-US" dirty="0"/>
          </a:p>
        </p:txBody>
      </p:sp>
      <p:sp>
        <p:nvSpPr>
          <p:cNvPr id="3" name="Text 1"/>
          <p:cNvSpPr/>
          <p:nvPr/>
        </p:nvSpPr>
        <p:spPr>
          <a:xfrm>
            <a:off x="507950" y="228600"/>
            <a:ext cx="8290661" cy="428625"/>
          </a:xfrm>
          <a:prstGeom prst="rect">
            <a:avLst/>
          </a:prstGeom>
          <a:noFill/>
          <a:ln/>
        </p:spPr>
        <p:txBody>
          <a:bodyPr wrap="square" lIns="0" tIns="0" rIns="0" bIns="0" rtlCol="0" anchor="t"/>
          <a:lstStyle/>
          <a:p>
            <a:pPr algn="l" indent="0" marL="0">
              <a:buNone/>
            </a:pPr>
            <a:r>
              <a:rPr lang="en-US" sz="2200" b="1" dirty="0">
                <a:solidFill>
                  <a:srgbClr val="FFFFFF"/>
                </a:solidFill>
                <a:latin typeface="Arial" pitchFamily="34" charset="0"/>
                <a:ea typeface="Arial" pitchFamily="34" charset="-122"/>
                <a:cs typeface="Arial" pitchFamily="34" charset="-120"/>
              </a:rPr>
              <a:t>デモ ― ユーザー体験フロー</a:t>
            </a:r>
            <a:endParaRPr lang="en-US" sz="2200" dirty="0"/>
          </a:p>
        </p:txBody>
      </p:sp>
      <p:sp>
        <p:nvSpPr>
          <p:cNvPr id="4" name="Text 2"/>
          <p:cNvSpPr/>
          <p:nvPr/>
        </p:nvSpPr>
        <p:spPr>
          <a:xfrm>
            <a:off x="507950" y="1012775"/>
            <a:ext cx="8290661" cy="209550"/>
          </a:xfrm>
          <a:prstGeom prst="rect">
            <a:avLst/>
          </a:prstGeom>
          <a:noFill/>
          <a:ln/>
        </p:spPr>
        <p:txBody>
          <a:bodyPr wrap="square" lIns="0" tIns="0" rIns="0" bIns="0" rtlCol="0" anchor="t"/>
          <a:lstStyle/>
          <a:p>
            <a:pPr algn="l" indent="0" marL="0">
              <a:buNone/>
            </a:pPr>
            <a:r>
              <a:rPr lang="en-US" sz="1100" dirty="0">
                <a:solidFill>
                  <a:srgbClr val="4A5568"/>
                </a:solidFill>
                <a:latin typeface="Arial" pitchFamily="34" charset="0"/>
                <a:ea typeface="Arial" pitchFamily="34" charset="-122"/>
                <a:cs typeface="Arial" pitchFamily="34" charset="-120"/>
              </a:rPr>
              <a:t>「今の仕事の延長しか見えない若手社員」のケース</a:t>
            </a:r>
            <a:endParaRPr lang="en-US" sz="1100" dirty="0"/>
          </a:p>
        </p:txBody>
      </p:sp>
      <p:sp>
        <p:nvSpPr>
          <p:cNvPr id="5" name="Text 3"/>
          <p:cNvSpPr/>
          <p:nvPr/>
        </p:nvSpPr>
        <p:spPr>
          <a:xfrm>
            <a:off x="381000" y="2252811"/>
            <a:ext cx="1375618" cy="1330077"/>
          </a:xfrm>
          <a:prstGeom prst="roundRect">
            <a:avLst>
              <a:gd name="adj" fmla="val 7639"/>
            </a:avLst>
          </a:prstGeom>
          <a:solidFill>
            <a:srgbClr val="00A99D"/>
          </a:solidFill>
          <a:ln/>
        </p:spPr>
        <p:txBody>
          <a:bodyPr wrap="square" rtlCol="0" anchor="ctr"/>
          <a:lstStyle/>
          <a:p>
            <a:pPr indent="0" marL="0">
              <a:buNone/>
            </a:pPr>
            <a:endParaRPr lang="en-US" dirty="0"/>
          </a:p>
        </p:txBody>
      </p:sp>
      <p:sp>
        <p:nvSpPr>
          <p:cNvPr id="6" name="Text 4"/>
          <p:cNvSpPr/>
          <p:nvPr/>
        </p:nvSpPr>
        <p:spPr>
          <a:xfrm>
            <a:off x="548499" y="2430512"/>
            <a:ext cx="1040621" cy="352425"/>
          </a:xfrm>
          <a:prstGeom prst="rect">
            <a:avLst/>
          </a:prstGeom>
          <a:noFill/>
          <a:ln/>
        </p:spPr>
        <p:txBody>
          <a:bodyPr wrap="square" lIns="0" tIns="0" rIns="0" bIns="0" rtlCol="0" anchor="t"/>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7" name="Text 5"/>
          <p:cNvSpPr/>
          <p:nvPr/>
        </p:nvSpPr>
        <p:spPr>
          <a:xfrm>
            <a:off x="548499" y="2859137"/>
            <a:ext cx="1040621" cy="209550"/>
          </a:xfrm>
          <a:prstGeom prst="rect">
            <a:avLst/>
          </a:prstGeom>
          <a:noFill/>
          <a:ln/>
        </p:spPr>
        <p:txBody>
          <a:bodyPr wrap="square" lIns="0" tIns="0" rIns="0" bIns="0" rtlCol="0" anchor="t"/>
          <a:lstStyle/>
          <a:p>
            <a:pPr algn="ctr" indent="0" marL="0">
              <a:spcBef>
                <a:spcPts val="600"/>
              </a:spcBef>
              <a:spcAft>
                <a:spcPts val="400"/>
              </a:spcAft>
              <a:buNone/>
            </a:pPr>
            <a:r>
              <a:rPr lang="en-US" sz="1100" b="1" dirty="0">
                <a:solidFill>
                  <a:srgbClr val="FFFFFF"/>
                </a:solidFill>
                <a:latin typeface="Arial" pitchFamily="34" charset="0"/>
                <a:ea typeface="Arial" pitchFamily="34" charset="-122"/>
                <a:cs typeface="Arial" pitchFamily="34" charset="-120"/>
              </a:rPr>
              <a:t>悩みの相談</a:t>
            </a:r>
            <a:endParaRPr lang="en-US" sz="1100" dirty="0"/>
          </a:p>
        </p:txBody>
      </p:sp>
      <p:sp>
        <p:nvSpPr>
          <p:cNvPr id="8" name="Text 6"/>
          <p:cNvSpPr/>
          <p:nvPr/>
        </p:nvSpPr>
        <p:spPr>
          <a:xfrm>
            <a:off x="548499" y="3119438"/>
            <a:ext cx="1040621" cy="285750"/>
          </a:xfrm>
          <a:prstGeom prst="rect">
            <a:avLst/>
          </a:prstGeom>
          <a:noFill/>
          <a:ln/>
        </p:spPr>
        <p:txBody>
          <a:bodyPr wrap="square" lIns="0" tIns="0" rIns="0" bIns="0" rtlCol="0" anchor="t"/>
          <a:lstStyle/>
          <a:p>
            <a:pPr algn="ctr" indent="0" marL="0">
              <a:buNone/>
            </a:pPr>
            <a:r>
              <a:rPr lang="en-US" sz="800" dirty="0">
                <a:solidFill>
                  <a:srgbClr val="FFFFFF">
                    <a:alpha val="80000"/>
                  </a:srgbClr>
                </a:solidFill>
                <a:latin typeface="Arial" pitchFamily="34" charset="0"/>
                <a:ea typeface="Arial" pitchFamily="34" charset="-122"/>
                <a:cs typeface="Arial" pitchFamily="34" charset="-120"/>
              </a:rPr>
              <a:t>Slack/Teamsから気軽にAIに相談</a:t>
            </a:r>
            <a:endParaRPr lang="en-US" sz="800" dirty="0"/>
          </a:p>
        </p:txBody>
      </p:sp>
      <p:sp>
        <p:nvSpPr>
          <p:cNvPr id="9" name="Text 7"/>
          <p:cNvSpPr/>
          <p:nvPr/>
        </p:nvSpPr>
        <p:spPr>
          <a:xfrm>
            <a:off x="1832818" y="2760613"/>
            <a:ext cx="228011" cy="314325"/>
          </a:xfrm>
          <a:prstGeom prst="rect">
            <a:avLst/>
          </a:prstGeom>
          <a:noFill/>
          <a:ln/>
        </p:spPr>
        <p:txBody>
          <a:bodyPr wrap="square" lIns="0" tIns="0" rIns="0" bIns="0" rtlCol="0" anchor="t"/>
          <a:lstStyle/>
          <a:p>
            <a:pPr algn="l" indent="0" marL="0">
              <a:buNone/>
            </a:pPr>
            <a:r>
              <a:rPr lang="en-US" sz="2000" dirty="0">
                <a:solidFill>
                  <a:srgbClr val="CBD5E0"/>
                </a:solidFill>
                <a:latin typeface="Arial" pitchFamily="34" charset="0"/>
                <a:ea typeface="Arial" pitchFamily="34" charset="-122"/>
                <a:cs typeface="Arial" pitchFamily="34" charset="-120"/>
              </a:rPr>
              <a:t>▶</a:t>
            </a:r>
            <a:endParaRPr lang="en-US" sz="2000" dirty="0"/>
          </a:p>
        </p:txBody>
      </p:sp>
      <p:sp>
        <p:nvSpPr>
          <p:cNvPr id="10" name="Text 8"/>
          <p:cNvSpPr/>
          <p:nvPr/>
        </p:nvSpPr>
        <p:spPr>
          <a:xfrm>
            <a:off x="2132558" y="2148036"/>
            <a:ext cx="1375767" cy="1539627"/>
          </a:xfrm>
          <a:prstGeom prst="roundRect">
            <a:avLst>
              <a:gd name="adj" fmla="val 7385"/>
            </a:avLst>
          </a:prstGeom>
          <a:solidFill>
            <a:srgbClr val="2B6CB0"/>
          </a:solidFill>
          <a:ln/>
        </p:spPr>
        <p:txBody>
          <a:bodyPr wrap="square" rtlCol="0" anchor="ctr"/>
          <a:lstStyle/>
          <a:p>
            <a:pPr indent="0" marL="0">
              <a:buNone/>
            </a:pPr>
            <a:endParaRPr lang="en-US" dirty="0"/>
          </a:p>
        </p:txBody>
      </p:sp>
      <p:sp>
        <p:nvSpPr>
          <p:cNvPr id="11" name="Text 9"/>
          <p:cNvSpPr/>
          <p:nvPr/>
        </p:nvSpPr>
        <p:spPr>
          <a:xfrm>
            <a:off x="2300055" y="2325737"/>
            <a:ext cx="1040773" cy="352425"/>
          </a:xfrm>
          <a:prstGeom prst="rect">
            <a:avLst/>
          </a:prstGeom>
          <a:noFill/>
          <a:ln/>
        </p:spPr>
        <p:txBody>
          <a:bodyPr wrap="square" lIns="0" tIns="0" rIns="0" bIns="0" rtlCol="0" anchor="t"/>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2" name="Text 10"/>
          <p:cNvSpPr/>
          <p:nvPr/>
        </p:nvSpPr>
        <p:spPr>
          <a:xfrm>
            <a:off x="2300055" y="2754362"/>
            <a:ext cx="1040773" cy="419100"/>
          </a:xfrm>
          <a:prstGeom prst="rect">
            <a:avLst/>
          </a:prstGeom>
          <a:noFill/>
          <a:ln/>
        </p:spPr>
        <p:txBody>
          <a:bodyPr wrap="square" lIns="0" tIns="0" rIns="0" bIns="0" rtlCol="0" anchor="t"/>
          <a:lstStyle/>
          <a:p>
            <a:pPr algn="ctr" indent="0" marL="0">
              <a:spcBef>
                <a:spcPts val="600"/>
              </a:spcBef>
              <a:spcAft>
                <a:spcPts val="400"/>
              </a:spcAft>
              <a:buNone/>
            </a:pPr>
            <a:r>
              <a:rPr lang="en-US" sz="1100" b="1" dirty="0">
                <a:solidFill>
                  <a:srgbClr val="FFFFFF"/>
                </a:solidFill>
                <a:latin typeface="Arial" pitchFamily="34" charset="0"/>
                <a:ea typeface="Arial" pitchFamily="34" charset="-122"/>
                <a:cs typeface="Arial" pitchFamily="34" charset="-120"/>
              </a:rPr>
              <a:t>ロールモデル発見</a:t>
            </a:r>
            <a:endParaRPr lang="en-US" sz="1100" dirty="0"/>
          </a:p>
        </p:txBody>
      </p:sp>
      <p:sp>
        <p:nvSpPr>
          <p:cNvPr id="13" name="Text 11"/>
          <p:cNvSpPr/>
          <p:nvPr/>
        </p:nvSpPr>
        <p:spPr>
          <a:xfrm>
            <a:off x="2300055" y="3224213"/>
            <a:ext cx="1040773" cy="285750"/>
          </a:xfrm>
          <a:prstGeom prst="rect">
            <a:avLst/>
          </a:prstGeom>
          <a:noFill/>
          <a:ln/>
        </p:spPr>
        <p:txBody>
          <a:bodyPr wrap="square" lIns="0" tIns="0" rIns="0" bIns="0" rtlCol="0" anchor="t"/>
          <a:lstStyle/>
          <a:p>
            <a:pPr algn="ctr" indent="0" marL="0">
              <a:buNone/>
            </a:pPr>
            <a:r>
              <a:rPr lang="en-US" sz="800" dirty="0">
                <a:solidFill>
                  <a:srgbClr val="FFFFFF">
                    <a:alpha val="80000"/>
                  </a:srgbClr>
                </a:solidFill>
                <a:latin typeface="Arial" pitchFamily="34" charset="0"/>
                <a:ea typeface="Arial" pitchFamily="34" charset="-122"/>
                <a:cs typeface="Arial" pitchFamily="34" charset="-120"/>
              </a:rPr>
              <a:t>意外なキャリアを歩んだ社員を提案</a:t>
            </a:r>
            <a:endParaRPr lang="en-US" sz="800" dirty="0"/>
          </a:p>
        </p:txBody>
      </p:sp>
      <p:sp>
        <p:nvSpPr>
          <p:cNvPr id="14" name="Text 12"/>
          <p:cNvSpPr/>
          <p:nvPr/>
        </p:nvSpPr>
        <p:spPr>
          <a:xfrm>
            <a:off x="3584525" y="2760613"/>
            <a:ext cx="228011" cy="314325"/>
          </a:xfrm>
          <a:prstGeom prst="rect">
            <a:avLst/>
          </a:prstGeom>
          <a:noFill/>
          <a:ln/>
        </p:spPr>
        <p:txBody>
          <a:bodyPr wrap="square" lIns="0" tIns="0" rIns="0" bIns="0" rtlCol="0" anchor="t"/>
          <a:lstStyle/>
          <a:p>
            <a:pPr algn="l" indent="0" marL="0">
              <a:buNone/>
            </a:pPr>
            <a:r>
              <a:rPr lang="en-US" sz="2000" dirty="0">
                <a:solidFill>
                  <a:srgbClr val="CBD5E0"/>
                </a:solidFill>
                <a:latin typeface="Arial" pitchFamily="34" charset="0"/>
                <a:ea typeface="Arial" pitchFamily="34" charset="-122"/>
                <a:cs typeface="Arial" pitchFamily="34" charset="-120"/>
              </a:rPr>
              <a:t>▶</a:t>
            </a:r>
            <a:endParaRPr lang="en-US" sz="2000" dirty="0"/>
          </a:p>
        </p:txBody>
      </p:sp>
      <p:sp>
        <p:nvSpPr>
          <p:cNvPr id="15" name="Text 13"/>
          <p:cNvSpPr/>
          <p:nvPr/>
        </p:nvSpPr>
        <p:spPr>
          <a:xfrm>
            <a:off x="3884265" y="2252811"/>
            <a:ext cx="1375618" cy="1330077"/>
          </a:xfrm>
          <a:prstGeom prst="roundRect">
            <a:avLst>
              <a:gd name="adj" fmla="val 7639"/>
            </a:avLst>
          </a:prstGeom>
          <a:solidFill>
            <a:srgbClr val="5A67D8"/>
          </a:solidFill>
          <a:ln/>
        </p:spPr>
        <p:txBody>
          <a:bodyPr wrap="square" rtlCol="0" anchor="ctr"/>
          <a:lstStyle/>
          <a:p>
            <a:pPr indent="0" marL="0">
              <a:buNone/>
            </a:pPr>
            <a:endParaRPr lang="en-US" dirty="0"/>
          </a:p>
        </p:txBody>
      </p:sp>
      <p:sp>
        <p:nvSpPr>
          <p:cNvPr id="16" name="Text 14"/>
          <p:cNvSpPr/>
          <p:nvPr/>
        </p:nvSpPr>
        <p:spPr>
          <a:xfrm>
            <a:off x="4051764" y="2430512"/>
            <a:ext cx="1040621" cy="352425"/>
          </a:xfrm>
          <a:prstGeom prst="rect">
            <a:avLst/>
          </a:prstGeom>
          <a:noFill/>
          <a:ln/>
        </p:spPr>
        <p:txBody>
          <a:bodyPr wrap="square" lIns="0" tIns="0" rIns="0" bIns="0" rtlCol="0" anchor="t"/>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17" name="Text 15"/>
          <p:cNvSpPr/>
          <p:nvPr/>
        </p:nvSpPr>
        <p:spPr>
          <a:xfrm>
            <a:off x="4051764" y="2859137"/>
            <a:ext cx="1040621" cy="209550"/>
          </a:xfrm>
          <a:prstGeom prst="rect">
            <a:avLst/>
          </a:prstGeom>
          <a:noFill/>
          <a:ln/>
        </p:spPr>
        <p:txBody>
          <a:bodyPr wrap="square" lIns="0" tIns="0" rIns="0" bIns="0" rtlCol="0" anchor="t"/>
          <a:lstStyle/>
          <a:p>
            <a:pPr algn="ctr" indent="0" marL="0">
              <a:spcBef>
                <a:spcPts val="600"/>
              </a:spcBef>
              <a:spcAft>
                <a:spcPts val="400"/>
              </a:spcAft>
              <a:buNone/>
            </a:pPr>
            <a:r>
              <a:rPr lang="en-US" sz="1100" b="1" dirty="0">
                <a:solidFill>
                  <a:srgbClr val="FFFFFF"/>
                </a:solidFill>
                <a:latin typeface="Arial" pitchFamily="34" charset="0"/>
                <a:ea typeface="Arial" pitchFamily="34" charset="-122"/>
                <a:cs typeface="Arial" pitchFamily="34" charset="-120"/>
              </a:rPr>
              <a:t>疑似対話</a:t>
            </a:r>
            <a:endParaRPr lang="en-US" sz="1100" dirty="0"/>
          </a:p>
        </p:txBody>
      </p:sp>
      <p:sp>
        <p:nvSpPr>
          <p:cNvPr id="18" name="Text 16"/>
          <p:cNvSpPr/>
          <p:nvPr/>
        </p:nvSpPr>
        <p:spPr>
          <a:xfrm>
            <a:off x="4051764" y="3119438"/>
            <a:ext cx="1040621" cy="285750"/>
          </a:xfrm>
          <a:prstGeom prst="rect">
            <a:avLst/>
          </a:prstGeom>
          <a:noFill/>
          <a:ln/>
        </p:spPr>
        <p:txBody>
          <a:bodyPr wrap="square" lIns="0" tIns="0" rIns="0" bIns="0" rtlCol="0" anchor="t"/>
          <a:lstStyle/>
          <a:p>
            <a:pPr algn="ctr" indent="0" marL="0">
              <a:buNone/>
            </a:pPr>
            <a:r>
              <a:rPr lang="en-US" sz="800" dirty="0">
                <a:solidFill>
                  <a:srgbClr val="FFFFFF">
                    <a:alpha val="80000"/>
                  </a:srgbClr>
                </a:solidFill>
                <a:latin typeface="Arial" pitchFamily="34" charset="0"/>
                <a:ea typeface="Arial" pitchFamily="34" charset="-122"/>
                <a:cs typeface="Arial" pitchFamily="34" charset="-120"/>
              </a:rPr>
              <a:t>考え方・学び方をAI対話で深掘り</a:t>
            </a:r>
            <a:endParaRPr lang="en-US" sz="800" dirty="0"/>
          </a:p>
        </p:txBody>
      </p:sp>
      <p:sp>
        <p:nvSpPr>
          <p:cNvPr id="19" name="Text 17"/>
          <p:cNvSpPr/>
          <p:nvPr/>
        </p:nvSpPr>
        <p:spPr>
          <a:xfrm>
            <a:off x="5336084" y="2760613"/>
            <a:ext cx="228011" cy="314325"/>
          </a:xfrm>
          <a:prstGeom prst="rect">
            <a:avLst/>
          </a:prstGeom>
          <a:noFill/>
          <a:ln/>
        </p:spPr>
        <p:txBody>
          <a:bodyPr wrap="square" lIns="0" tIns="0" rIns="0" bIns="0" rtlCol="0" anchor="t"/>
          <a:lstStyle/>
          <a:p>
            <a:pPr algn="l" indent="0" marL="0">
              <a:buNone/>
            </a:pPr>
            <a:r>
              <a:rPr lang="en-US" sz="2000" dirty="0">
                <a:solidFill>
                  <a:srgbClr val="CBD5E0"/>
                </a:solidFill>
                <a:latin typeface="Arial" pitchFamily="34" charset="0"/>
                <a:ea typeface="Arial" pitchFamily="34" charset="-122"/>
                <a:cs typeface="Arial" pitchFamily="34" charset="-120"/>
              </a:rPr>
              <a:t>▶</a:t>
            </a:r>
            <a:endParaRPr lang="en-US" sz="2000" dirty="0"/>
          </a:p>
        </p:txBody>
      </p:sp>
      <p:sp>
        <p:nvSpPr>
          <p:cNvPr id="20" name="Text 18"/>
          <p:cNvSpPr/>
          <p:nvPr/>
        </p:nvSpPr>
        <p:spPr>
          <a:xfrm>
            <a:off x="5635823" y="2148036"/>
            <a:ext cx="1375618" cy="1539627"/>
          </a:xfrm>
          <a:prstGeom prst="roundRect">
            <a:avLst>
              <a:gd name="adj" fmla="val 7386"/>
            </a:avLst>
          </a:prstGeom>
          <a:solidFill>
            <a:srgbClr val="E8734A"/>
          </a:solidFill>
          <a:ln/>
        </p:spPr>
        <p:txBody>
          <a:bodyPr wrap="square" rtlCol="0" anchor="ctr"/>
          <a:lstStyle/>
          <a:p>
            <a:pPr indent="0" marL="0">
              <a:buNone/>
            </a:pPr>
            <a:endParaRPr lang="en-US" dirty="0"/>
          </a:p>
        </p:txBody>
      </p:sp>
      <p:sp>
        <p:nvSpPr>
          <p:cNvPr id="21" name="Text 19"/>
          <p:cNvSpPr/>
          <p:nvPr/>
        </p:nvSpPr>
        <p:spPr>
          <a:xfrm>
            <a:off x="5803322" y="2325737"/>
            <a:ext cx="1040621" cy="352425"/>
          </a:xfrm>
          <a:prstGeom prst="rect">
            <a:avLst/>
          </a:prstGeom>
          <a:noFill/>
          <a:ln/>
        </p:spPr>
        <p:txBody>
          <a:bodyPr wrap="square" lIns="0" tIns="0" rIns="0" bIns="0" rtlCol="0" anchor="t"/>
          <a:lstStyle/>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22" name="Text 20"/>
          <p:cNvSpPr/>
          <p:nvPr/>
        </p:nvSpPr>
        <p:spPr>
          <a:xfrm>
            <a:off x="5803322" y="2754362"/>
            <a:ext cx="1040621" cy="419100"/>
          </a:xfrm>
          <a:prstGeom prst="rect">
            <a:avLst/>
          </a:prstGeom>
          <a:noFill/>
          <a:ln/>
        </p:spPr>
        <p:txBody>
          <a:bodyPr wrap="square" lIns="0" tIns="0" rIns="0" bIns="0" rtlCol="0" anchor="t"/>
          <a:lstStyle/>
          <a:p>
            <a:pPr algn="ctr" indent="0" marL="0">
              <a:spcBef>
                <a:spcPts val="600"/>
              </a:spcBef>
              <a:spcAft>
                <a:spcPts val="400"/>
              </a:spcAft>
              <a:buNone/>
            </a:pPr>
            <a:r>
              <a:rPr lang="en-US" sz="1100" b="1" dirty="0">
                <a:solidFill>
                  <a:srgbClr val="FFFFFF"/>
                </a:solidFill>
                <a:latin typeface="Arial" pitchFamily="34" charset="0"/>
                <a:ea typeface="Arial" pitchFamily="34" charset="-122"/>
                <a:cs typeface="Arial" pitchFamily="34" charset="-120"/>
              </a:rPr>
              <a:t>キャリアプラン提案</a:t>
            </a:r>
            <a:endParaRPr lang="en-US" sz="1100" dirty="0"/>
          </a:p>
        </p:txBody>
      </p:sp>
      <p:sp>
        <p:nvSpPr>
          <p:cNvPr id="23" name="Text 21"/>
          <p:cNvSpPr/>
          <p:nvPr/>
        </p:nvSpPr>
        <p:spPr>
          <a:xfrm>
            <a:off x="5803322" y="3224213"/>
            <a:ext cx="1040621" cy="285750"/>
          </a:xfrm>
          <a:prstGeom prst="rect">
            <a:avLst/>
          </a:prstGeom>
          <a:noFill/>
          <a:ln/>
        </p:spPr>
        <p:txBody>
          <a:bodyPr wrap="square" lIns="0" tIns="0" rIns="0" bIns="0" rtlCol="0" anchor="t"/>
          <a:lstStyle/>
          <a:p>
            <a:pPr algn="ctr" indent="0" marL="0">
              <a:buNone/>
            </a:pPr>
            <a:r>
              <a:rPr lang="en-US" sz="800" dirty="0">
                <a:solidFill>
                  <a:srgbClr val="FFFFFF">
                    <a:alpha val="80000"/>
                  </a:srgbClr>
                </a:solidFill>
                <a:latin typeface="Arial" pitchFamily="34" charset="0"/>
                <a:ea typeface="Arial" pitchFamily="34" charset="-122"/>
                <a:cs typeface="Arial" pitchFamily="34" charset="-120"/>
              </a:rPr>
              <a:t>自社ならではの具体的パスが見える</a:t>
            </a:r>
            <a:endParaRPr lang="en-US" sz="800" dirty="0"/>
          </a:p>
        </p:txBody>
      </p:sp>
      <p:sp>
        <p:nvSpPr>
          <p:cNvPr id="24" name="Text 22"/>
          <p:cNvSpPr/>
          <p:nvPr/>
        </p:nvSpPr>
        <p:spPr>
          <a:xfrm>
            <a:off x="7087642" y="2760613"/>
            <a:ext cx="228011" cy="314325"/>
          </a:xfrm>
          <a:prstGeom prst="rect">
            <a:avLst/>
          </a:prstGeom>
          <a:noFill/>
          <a:ln/>
        </p:spPr>
        <p:txBody>
          <a:bodyPr wrap="square" lIns="0" tIns="0" rIns="0" bIns="0" rtlCol="0" anchor="t"/>
          <a:lstStyle/>
          <a:p>
            <a:pPr algn="l" indent="0" marL="0">
              <a:buNone/>
            </a:pPr>
            <a:r>
              <a:rPr lang="en-US" sz="2000" dirty="0">
                <a:solidFill>
                  <a:srgbClr val="CBD5E0"/>
                </a:solidFill>
                <a:latin typeface="Arial" pitchFamily="34" charset="0"/>
                <a:ea typeface="Arial" pitchFamily="34" charset="-122"/>
                <a:cs typeface="Arial" pitchFamily="34" charset="-120"/>
              </a:rPr>
              <a:t>▶</a:t>
            </a:r>
            <a:endParaRPr lang="en-US" sz="2000" dirty="0"/>
          </a:p>
        </p:txBody>
      </p:sp>
      <p:sp>
        <p:nvSpPr>
          <p:cNvPr id="25" name="Text 23"/>
          <p:cNvSpPr/>
          <p:nvPr/>
        </p:nvSpPr>
        <p:spPr>
          <a:xfrm>
            <a:off x="7387382" y="2252811"/>
            <a:ext cx="1375618" cy="1330077"/>
          </a:xfrm>
          <a:prstGeom prst="roundRect">
            <a:avLst>
              <a:gd name="adj" fmla="val 7639"/>
            </a:avLst>
          </a:prstGeom>
          <a:solidFill>
            <a:srgbClr val="9F7AEA"/>
          </a:solidFill>
          <a:ln/>
        </p:spPr>
        <p:txBody>
          <a:bodyPr wrap="square" rtlCol="0" anchor="ctr"/>
          <a:lstStyle/>
          <a:p>
            <a:pPr indent="0" marL="0">
              <a:buNone/>
            </a:pPr>
            <a:endParaRPr lang="en-US" dirty="0"/>
          </a:p>
        </p:txBody>
      </p:sp>
      <p:sp>
        <p:nvSpPr>
          <p:cNvPr id="26" name="Text 24"/>
          <p:cNvSpPr/>
          <p:nvPr/>
        </p:nvSpPr>
        <p:spPr>
          <a:xfrm>
            <a:off x="7554880" y="2430512"/>
            <a:ext cx="1040621" cy="352425"/>
          </a:xfrm>
          <a:prstGeom prst="rect">
            <a:avLst/>
          </a:prstGeom>
          <a:noFill/>
          <a:ln/>
        </p:spPr>
        <p:txBody>
          <a:bodyPr wrap="square" lIns="0" tIns="0" rIns="0" bIns="0" rtlCol="0" anchor="t"/>
          <a:lstStyle/>
          <a:p>
            <a:pPr algn="ctr" indent="0" marL="0">
              <a:buNone/>
            </a:pPr>
            <a:r>
              <a:rPr 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27" name="Text 25"/>
          <p:cNvSpPr/>
          <p:nvPr/>
        </p:nvSpPr>
        <p:spPr>
          <a:xfrm>
            <a:off x="7554880" y="2859137"/>
            <a:ext cx="1040621" cy="209550"/>
          </a:xfrm>
          <a:prstGeom prst="rect">
            <a:avLst/>
          </a:prstGeom>
          <a:noFill/>
          <a:ln/>
        </p:spPr>
        <p:txBody>
          <a:bodyPr wrap="square" lIns="0" tIns="0" rIns="0" bIns="0" rtlCol="0" anchor="t"/>
          <a:lstStyle/>
          <a:p>
            <a:pPr algn="ctr" indent="0" marL="0">
              <a:spcBef>
                <a:spcPts val="600"/>
              </a:spcBef>
              <a:spcAft>
                <a:spcPts val="400"/>
              </a:spcAft>
              <a:buNone/>
            </a:pPr>
            <a:r>
              <a:rPr lang="en-US" sz="1100" b="1" dirty="0">
                <a:solidFill>
                  <a:srgbClr val="FFFFFF"/>
                </a:solidFill>
                <a:latin typeface="Arial" pitchFamily="34" charset="0"/>
                <a:ea typeface="Arial" pitchFamily="34" charset="-122"/>
                <a:cs typeface="Arial" pitchFamily="34" charset="-120"/>
              </a:rPr>
              <a:t>次のアクション</a:t>
            </a:r>
            <a:endParaRPr lang="en-US" sz="1100" dirty="0"/>
          </a:p>
        </p:txBody>
      </p:sp>
      <p:sp>
        <p:nvSpPr>
          <p:cNvPr id="28" name="Text 26"/>
          <p:cNvSpPr/>
          <p:nvPr/>
        </p:nvSpPr>
        <p:spPr>
          <a:xfrm>
            <a:off x="7554880" y="3119438"/>
            <a:ext cx="1040621" cy="285750"/>
          </a:xfrm>
          <a:prstGeom prst="rect">
            <a:avLst/>
          </a:prstGeom>
          <a:noFill/>
          <a:ln/>
        </p:spPr>
        <p:txBody>
          <a:bodyPr wrap="square" lIns="0" tIns="0" rIns="0" bIns="0" rtlCol="0" anchor="t"/>
          <a:lstStyle/>
          <a:p>
            <a:pPr algn="ctr" indent="0" marL="0">
              <a:buNone/>
            </a:pPr>
            <a:r>
              <a:rPr lang="en-US" sz="800" dirty="0">
                <a:solidFill>
                  <a:srgbClr val="FFFFFF">
                    <a:alpha val="80000"/>
                  </a:srgbClr>
                </a:solidFill>
                <a:latin typeface="Arial" pitchFamily="34" charset="0"/>
                <a:ea typeface="Arial" pitchFamily="34" charset="-122"/>
                <a:cs typeface="Arial" pitchFamily="34" charset="-120"/>
              </a:rPr>
              <a:t>公募情報・勉強会・メンター紹介</a:t>
            </a:r>
            <a:endParaRPr lang="en-US" sz="800" dirty="0"/>
          </a:p>
        </p:txBody>
      </p:sp>
      <p:sp>
        <p:nvSpPr>
          <p:cNvPr id="29" name="Text 27"/>
          <p:cNvSpPr/>
          <p:nvPr/>
        </p:nvSpPr>
        <p:spPr>
          <a:xfrm>
            <a:off x="426669" y="4740325"/>
            <a:ext cx="8290661" cy="200025"/>
          </a:xfrm>
          <a:prstGeom prst="rect">
            <a:avLst/>
          </a:prstGeom>
          <a:noFill/>
          <a:ln/>
        </p:spPr>
        <p:txBody>
          <a:bodyPr wrap="square" lIns="0" tIns="0" rIns="0" bIns="0" rtlCol="0" anchor="t"/>
          <a:lstStyle/>
          <a:p>
            <a:pPr algn="ctr" indent="0" marL="0">
              <a:buNone/>
            </a:pPr>
            <a:r>
              <a:rPr lang="en-US" sz="1000" dirty="0">
                <a:solidFill>
                  <a:srgbClr val="4A5568"/>
                </a:solidFill>
                <a:latin typeface="Arial" pitchFamily="34" charset="0"/>
                <a:ea typeface="Arial" pitchFamily="34" charset="-122"/>
                <a:cs typeface="Arial" pitchFamily="34" charset="-120"/>
              </a:rPr>
              <a:t>※ 詳細はデモ動画にて紹介</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885825"/>
          </a:xfrm>
          <a:prstGeom prst="rect">
            <a:avLst/>
          </a:prstGeom>
          <a:solidFill>
            <a:srgbClr val="1B2A4A"/>
          </a:solidFill>
          <a:ln/>
        </p:spPr>
        <p:txBody>
          <a:bodyPr wrap="square" rtlCol="0" anchor="ctr"/>
          <a:lstStyle/>
          <a:p>
            <a:pPr indent="0" marL="0">
              <a:buNone/>
            </a:pPr>
            <a:endParaRPr lang="en-US" dirty="0"/>
          </a:p>
        </p:txBody>
      </p:sp>
      <p:sp>
        <p:nvSpPr>
          <p:cNvPr id="3" name="Text 1"/>
          <p:cNvSpPr/>
          <p:nvPr/>
        </p:nvSpPr>
        <p:spPr>
          <a:xfrm>
            <a:off x="507950" y="228600"/>
            <a:ext cx="8290661" cy="428625"/>
          </a:xfrm>
          <a:prstGeom prst="rect">
            <a:avLst/>
          </a:prstGeom>
          <a:noFill/>
          <a:ln/>
        </p:spPr>
        <p:txBody>
          <a:bodyPr wrap="square" lIns="0" tIns="0" rIns="0" bIns="0" rtlCol="0" anchor="t"/>
          <a:lstStyle/>
          <a:p>
            <a:pPr algn="l" indent="0" marL="0">
              <a:buNone/>
            </a:pPr>
            <a:r>
              <a:rPr lang="en-US" sz="2200" b="1" dirty="0">
                <a:solidFill>
                  <a:srgbClr val="FFFFFF"/>
                </a:solidFill>
                <a:latin typeface="Arial" pitchFamily="34" charset="0"/>
                <a:ea typeface="Arial" pitchFamily="34" charset="-122"/>
                <a:cs typeface="Arial" pitchFamily="34" charset="-120"/>
              </a:rPr>
              <a:t>進化後のユースケース</a:t>
            </a:r>
            <a:endParaRPr lang="en-US" sz="2200" dirty="0"/>
          </a:p>
        </p:txBody>
      </p:sp>
      <p:sp>
        <p:nvSpPr>
          <p:cNvPr id="4" name="Text 2"/>
          <p:cNvSpPr/>
          <p:nvPr/>
        </p:nvSpPr>
        <p:spPr>
          <a:xfrm>
            <a:off x="507950" y="1139726"/>
            <a:ext cx="3962400" cy="3749873"/>
          </a:xfrm>
          <a:prstGeom prst="roundRect">
            <a:avLst>
              <a:gd name="adj" fmla="val 2709"/>
            </a:avLst>
          </a:prstGeom>
          <a:noFill/>
          <a:ln w="19050">
            <a:solidFill>
              <a:srgbClr val="2B6CB0"/>
            </a:solidFill>
          </a:ln>
        </p:spPr>
        <p:txBody>
          <a:bodyPr wrap="square" rtlCol="0" anchor="ctr"/>
          <a:lstStyle/>
          <a:p>
            <a:pPr indent="0" marL="0">
              <a:buNone/>
            </a:pPr>
            <a:endParaRPr lang="en-US" dirty="0"/>
          </a:p>
        </p:txBody>
      </p:sp>
      <p:sp>
        <p:nvSpPr>
          <p:cNvPr id="5" name="Text 3"/>
          <p:cNvSpPr/>
          <p:nvPr/>
        </p:nvSpPr>
        <p:spPr>
          <a:xfrm>
            <a:off x="730151" y="1361926"/>
            <a:ext cx="3517999" cy="460177"/>
          </a:xfrm>
          <a:prstGeom prst="roundRect">
            <a:avLst>
              <a:gd name="adj" fmla="val 11039"/>
            </a:avLst>
          </a:prstGeom>
          <a:solidFill>
            <a:srgbClr val="2B6CB0"/>
          </a:solidFill>
          <a:ln/>
        </p:spPr>
        <p:txBody>
          <a:bodyPr wrap="square" rtlCol="0" anchor="ctr"/>
          <a:lstStyle/>
          <a:p>
            <a:pPr indent="0" marL="0">
              <a:buNone/>
            </a:pPr>
            <a:endParaRPr lang="en-US" dirty="0"/>
          </a:p>
        </p:txBody>
      </p:sp>
      <p:sp>
        <p:nvSpPr>
          <p:cNvPr id="6" name="Text 4"/>
          <p:cNvSpPr/>
          <p:nvPr/>
        </p:nvSpPr>
        <p:spPr>
          <a:xfrm>
            <a:off x="882551" y="1463427"/>
            <a:ext cx="3277463" cy="257175"/>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Phase 2: モチベーション支援</a:t>
            </a:r>
            <a:endParaRPr lang="en-US" sz="1400" dirty="0"/>
          </a:p>
        </p:txBody>
      </p:sp>
      <p:sp>
        <p:nvSpPr>
          <p:cNvPr id="7" name="Text 5"/>
          <p:cNvSpPr/>
          <p:nvPr/>
        </p:nvSpPr>
        <p:spPr>
          <a:xfrm>
            <a:off x="730151" y="1974503"/>
            <a:ext cx="3517999" cy="685354"/>
          </a:xfrm>
          <a:prstGeom prst="rect">
            <a:avLst/>
          </a:prstGeom>
          <a:noFill/>
          <a:ln/>
        </p:spPr>
        <p:txBody>
          <a:bodyPr wrap="square" lIns="88900" tIns="0" rIns="0" bIns="0" rtlCol="0" anchor="t"/>
          <a:lstStyle/>
          <a:p>
            <a:pPr algn="l" marL="88900" indent="-88900">
              <a:lnSpc>
                <a:spcPts val="1800"/>
              </a:lnSpc>
              <a:buSzPct val="100000"/>
              <a:buChar char="•"/>
            </a:pPr>
            <a:r>
              <a:rPr lang="en-US" sz="1000" dirty="0">
                <a:solidFill>
                  <a:srgbClr val="1B2A4A"/>
                </a:solidFill>
                <a:latin typeface="Arial" pitchFamily="34" charset="0"/>
                <a:ea typeface="Arial" pitchFamily="34" charset="-122"/>
                <a:cs typeface="Arial" pitchFamily="34" charset="-120"/>
              </a:rPr>
              <a:t>会話履歴からキャリア志向・モチベーションを日々把握・更新</a:t>
            </a:r>
            <a:endParaRPr lang="en-US" sz="1000" dirty="0"/>
          </a:p>
          <a:p>
            <a:pPr algn="l" marL="88900" indent="-88900">
              <a:lnSpc>
                <a:spcPts val="1800"/>
              </a:lnSpc>
              <a:buSzPct val="100000"/>
              <a:buChar char="•"/>
            </a:pPr>
            <a:r>
              <a:rPr lang="en-US" sz="1000" dirty="0">
                <a:solidFill>
                  <a:srgbClr val="1B2A4A"/>
                </a:solidFill>
                <a:latin typeface="Arial" pitchFamily="34" charset="0"/>
                <a:ea typeface="Arial" pitchFamily="34" charset="-122"/>
                <a:cs typeface="Arial" pitchFamily="34" charset="-120"/>
              </a:rPr>
              <a:t>AIから自発的に声かけでモチベーションアップ</a:t>
            </a:r>
            <a:endParaRPr lang="en-US" sz="1000" dirty="0"/>
          </a:p>
        </p:txBody>
      </p:sp>
      <p:sp>
        <p:nvSpPr>
          <p:cNvPr id="8" name="Text 6"/>
          <p:cNvSpPr/>
          <p:nvPr/>
        </p:nvSpPr>
        <p:spPr>
          <a:xfrm>
            <a:off x="730151" y="2786807"/>
            <a:ext cx="3517999" cy="819001"/>
          </a:xfrm>
          <a:prstGeom prst="roundRect">
            <a:avLst>
              <a:gd name="adj" fmla="val 6203"/>
            </a:avLst>
          </a:prstGeom>
          <a:solidFill>
            <a:srgbClr val="EDF2F7"/>
          </a:solidFill>
          <a:ln/>
        </p:spPr>
        <p:txBody>
          <a:bodyPr wrap="square" rtlCol="0" anchor="ctr"/>
          <a:lstStyle/>
          <a:p>
            <a:pPr indent="0" marL="0">
              <a:buNone/>
            </a:pPr>
            <a:endParaRPr lang="en-US" dirty="0"/>
          </a:p>
        </p:txBody>
      </p:sp>
      <p:sp>
        <p:nvSpPr>
          <p:cNvPr id="9" name="Text 7"/>
          <p:cNvSpPr/>
          <p:nvPr/>
        </p:nvSpPr>
        <p:spPr>
          <a:xfrm>
            <a:off x="857101" y="2913757"/>
            <a:ext cx="3329380" cy="342900"/>
          </a:xfrm>
          <a:prstGeom prst="rect">
            <a:avLst/>
          </a:prstGeom>
          <a:noFill/>
          <a:ln/>
        </p:spPr>
        <p:txBody>
          <a:bodyPr wrap="square" lIns="0" tIns="0" rIns="0" bIns="0" rtlCol="0" anchor="t"/>
          <a:lstStyle/>
          <a:p>
            <a:pPr algn="l" indent="0" marL="0">
              <a:spcAft>
                <a:spcPts val="400"/>
              </a:spcAft>
              <a:buNone/>
            </a:pPr>
            <a:r>
              <a:rPr lang="en-US" sz="900" i="1" dirty="0">
                <a:solidFill>
                  <a:srgbClr val="4A5568"/>
                </a:solidFill>
                <a:latin typeface="Arial" pitchFamily="34" charset="0"/>
                <a:ea typeface="Arial" pitchFamily="34" charset="-122"/>
                <a:cs typeface="Arial" pitchFamily="34" charset="-120"/>
              </a:rPr>
              <a:t>「先日話していたスキルアップの件、社内にこんな勉強会がありますよ」</a:t>
            </a:r>
            <a:endParaRPr lang="en-US" sz="900" dirty="0"/>
          </a:p>
        </p:txBody>
      </p:sp>
      <p:sp>
        <p:nvSpPr>
          <p:cNvPr id="10" name="Text 8"/>
          <p:cNvSpPr/>
          <p:nvPr/>
        </p:nvSpPr>
        <p:spPr>
          <a:xfrm>
            <a:off x="857101" y="3307407"/>
            <a:ext cx="3329380" cy="171450"/>
          </a:xfrm>
          <a:prstGeom prst="rect">
            <a:avLst/>
          </a:prstGeom>
          <a:noFill/>
          <a:ln/>
        </p:spPr>
        <p:txBody>
          <a:bodyPr wrap="square" lIns="0" tIns="0" rIns="0" bIns="0" rtlCol="0" anchor="t"/>
          <a:lstStyle/>
          <a:p>
            <a:pPr algn="l" indent="0" marL="0">
              <a:buNone/>
            </a:pPr>
            <a:r>
              <a:rPr lang="en-US" sz="900" i="1" dirty="0">
                <a:solidFill>
                  <a:srgbClr val="4A5568"/>
                </a:solidFill>
                <a:latin typeface="Arial" pitchFamily="34" charset="0"/>
                <a:ea typeface="Arial" pitchFamily="34" charset="-122"/>
                <a:cs typeface="Arial" pitchFamily="34" charset="-120"/>
              </a:rPr>
              <a:t>「同じ悩みを乗り越えた○○さんの話を聞いてみませんか？」</a:t>
            </a:r>
            <a:endParaRPr lang="en-US" sz="900" dirty="0"/>
          </a:p>
        </p:txBody>
      </p:sp>
      <p:sp>
        <p:nvSpPr>
          <p:cNvPr id="11" name="Text 9"/>
          <p:cNvSpPr/>
          <p:nvPr/>
        </p:nvSpPr>
        <p:spPr>
          <a:xfrm>
            <a:off x="4673501" y="1139726"/>
            <a:ext cx="3962549" cy="3749873"/>
          </a:xfrm>
          <a:prstGeom prst="roundRect">
            <a:avLst>
              <a:gd name="adj" fmla="val 2709"/>
            </a:avLst>
          </a:prstGeom>
          <a:noFill/>
          <a:ln w="19050">
            <a:solidFill>
              <a:srgbClr val="E8734A"/>
            </a:solidFill>
          </a:ln>
        </p:spPr>
        <p:txBody>
          <a:bodyPr wrap="square" rtlCol="0" anchor="ctr"/>
          <a:lstStyle/>
          <a:p>
            <a:pPr indent="0" marL="0">
              <a:buNone/>
            </a:pPr>
            <a:endParaRPr lang="en-US" dirty="0"/>
          </a:p>
        </p:txBody>
      </p:sp>
      <p:sp>
        <p:nvSpPr>
          <p:cNvPr id="12" name="Text 10"/>
          <p:cNvSpPr/>
          <p:nvPr/>
        </p:nvSpPr>
        <p:spPr>
          <a:xfrm>
            <a:off x="4895701" y="1361926"/>
            <a:ext cx="3518148" cy="460177"/>
          </a:xfrm>
          <a:prstGeom prst="roundRect">
            <a:avLst>
              <a:gd name="adj" fmla="val 11039"/>
            </a:avLst>
          </a:prstGeom>
          <a:solidFill>
            <a:srgbClr val="E8734A"/>
          </a:solidFill>
          <a:ln/>
        </p:spPr>
        <p:txBody>
          <a:bodyPr wrap="square" rtlCol="0" anchor="ctr"/>
          <a:lstStyle/>
          <a:p>
            <a:pPr indent="0" marL="0">
              <a:buNone/>
            </a:pPr>
            <a:endParaRPr lang="en-US" dirty="0"/>
          </a:p>
        </p:txBody>
      </p:sp>
      <p:sp>
        <p:nvSpPr>
          <p:cNvPr id="13" name="Text 11"/>
          <p:cNvSpPr/>
          <p:nvPr/>
        </p:nvSpPr>
        <p:spPr>
          <a:xfrm>
            <a:off x="5048101" y="1463427"/>
            <a:ext cx="3277615" cy="257175"/>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Phase 3: 組織最適化</a:t>
            </a:r>
            <a:endParaRPr lang="en-US" sz="1400" dirty="0"/>
          </a:p>
        </p:txBody>
      </p:sp>
      <p:sp>
        <p:nvSpPr>
          <p:cNvPr id="14" name="Text 12"/>
          <p:cNvSpPr/>
          <p:nvPr/>
        </p:nvSpPr>
        <p:spPr>
          <a:xfrm>
            <a:off x="4895701" y="1974503"/>
            <a:ext cx="3518148" cy="685354"/>
          </a:xfrm>
          <a:prstGeom prst="rect">
            <a:avLst/>
          </a:prstGeom>
          <a:noFill/>
          <a:ln/>
        </p:spPr>
        <p:txBody>
          <a:bodyPr wrap="square" lIns="88900" tIns="0" rIns="0" bIns="0" rtlCol="0" anchor="t"/>
          <a:lstStyle/>
          <a:p>
            <a:pPr algn="l" marL="88900" indent="-88900">
              <a:lnSpc>
                <a:spcPts val="1800"/>
              </a:lnSpc>
              <a:buSzPct val="100000"/>
              <a:buChar char="•"/>
            </a:pPr>
            <a:r>
              <a:rPr lang="en-US" sz="1000" dirty="0">
                <a:solidFill>
                  <a:srgbClr val="1B2A4A"/>
                </a:solidFill>
                <a:latin typeface="Arial" pitchFamily="34" charset="0"/>
                <a:ea typeface="Arial" pitchFamily="34" charset="-122"/>
                <a:cs typeface="Arial" pitchFamily="34" charset="-120"/>
              </a:rPr>
              <a:t>全社員のスキルマップでプロジェクトへの最適人員配置</a:t>
            </a:r>
            <a:endParaRPr lang="en-US" sz="1000" dirty="0"/>
          </a:p>
          <a:p>
            <a:pPr algn="l" marL="88900" indent="-88900">
              <a:lnSpc>
                <a:spcPts val="1800"/>
              </a:lnSpc>
              <a:buSzPct val="100000"/>
              <a:buChar char="•"/>
            </a:pPr>
            <a:r>
              <a:rPr lang="en-US" sz="1000" dirty="0">
                <a:solidFill>
                  <a:srgbClr val="1B2A4A"/>
                </a:solidFill>
                <a:latin typeface="Arial" pitchFamily="34" charset="0"/>
                <a:ea typeface="Arial" pitchFamily="34" charset="-122"/>
                <a:cs typeface="Arial" pitchFamily="34" charset="-120"/>
              </a:rPr>
              <a:t>流動的な組織 ― 異動のハードルを下げる</a:t>
            </a:r>
            <a:endParaRPr lang="en-US" sz="1000" dirty="0"/>
          </a:p>
          <a:p>
            <a:pPr algn="l" marL="88900" indent="-88900">
              <a:lnSpc>
                <a:spcPts val="1800"/>
              </a:lnSpc>
              <a:buSzPct val="100000"/>
              <a:buChar char="•"/>
            </a:pPr>
            <a:r>
              <a:rPr lang="en-US" sz="1000" dirty="0">
                <a:solidFill>
                  <a:srgbClr val="1B2A4A"/>
                </a:solidFill>
                <a:latin typeface="Arial" pitchFamily="34" charset="0"/>
                <a:ea typeface="Arial" pitchFamily="34" charset="-122"/>
                <a:cs typeface="Arial" pitchFamily="34" charset="-120"/>
              </a:rPr>
              <a:t>人と人を繋いで勉強会・メンタリングを自動開催</a:t>
            </a:r>
            <a:endParaRPr lang="en-US" sz="1000" dirty="0"/>
          </a:p>
        </p:txBody>
      </p:sp>
      <p:sp>
        <p:nvSpPr>
          <p:cNvPr id="15" name="Text 13"/>
          <p:cNvSpPr/>
          <p:nvPr/>
        </p:nvSpPr>
        <p:spPr>
          <a:xfrm>
            <a:off x="4895701" y="2786807"/>
            <a:ext cx="3518148" cy="647551"/>
          </a:xfrm>
          <a:prstGeom prst="roundRect">
            <a:avLst>
              <a:gd name="adj" fmla="val 7845"/>
            </a:avLst>
          </a:prstGeom>
          <a:solidFill>
            <a:srgbClr val="EDF2F7"/>
          </a:solidFill>
          <a:ln/>
        </p:spPr>
        <p:txBody>
          <a:bodyPr wrap="square" rtlCol="0" anchor="ctr"/>
          <a:lstStyle/>
          <a:p>
            <a:pPr indent="0" marL="0">
              <a:buNone/>
            </a:pPr>
            <a:endParaRPr lang="en-US" dirty="0"/>
          </a:p>
        </p:txBody>
      </p:sp>
      <p:sp>
        <p:nvSpPr>
          <p:cNvPr id="16" name="Text 14"/>
          <p:cNvSpPr/>
          <p:nvPr/>
        </p:nvSpPr>
        <p:spPr>
          <a:xfrm>
            <a:off x="5022652" y="2913757"/>
            <a:ext cx="3329532" cy="171450"/>
          </a:xfrm>
          <a:prstGeom prst="rect">
            <a:avLst/>
          </a:prstGeom>
          <a:noFill/>
          <a:ln/>
        </p:spPr>
        <p:txBody>
          <a:bodyPr wrap="square" lIns="0" tIns="0" rIns="0" bIns="0" rtlCol="0" anchor="t"/>
          <a:lstStyle/>
          <a:p>
            <a:pPr algn="l" indent="0" marL="0">
              <a:spcAft>
                <a:spcPts val="400"/>
              </a:spcAft>
              <a:buNone/>
            </a:pPr>
            <a:r>
              <a:rPr lang="en-US" sz="900" i="1" dirty="0">
                <a:solidFill>
                  <a:srgbClr val="4A5568"/>
                </a:solidFill>
                <a:latin typeface="Arial" pitchFamily="34" charset="0"/>
                <a:ea typeface="Arial" pitchFamily="34" charset="-122"/>
                <a:cs typeface="Arial" pitchFamily="34" charset="-120"/>
              </a:rPr>
              <a:t>スキルの近い社員同士の学習コミュニティ形成</a:t>
            </a:r>
            <a:endParaRPr lang="en-US" sz="900" dirty="0"/>
          </a:p>
        </p:txBody>
      </p:sp>
      <p:sp>
        <p:nvSpPr>
          <p:cNvPr id="17" name="Text 15"/>
          <p:cNvSpPr/>
          <p:nvPr/>
        </p:nvSpPr>
        <p:spPr>
          <a:xfrm>
            <a:off x="5022652" y="3135957"/>
            <a:ext cx="3329532" cy="171450"/>
          </a:xfrm>
          <a:prstGeom prst="rect">
            <a:avLst/>
          </a:prstGeom>
          <a:noFill/>
          <a:ln/>
        </p:spPr>
        <p:txBody>
          <a:bodyPr wrap="square" lIns="0" tIns="0" rIns="0" bIns="0" rtlCol="0" anchor="t"/>
          <a:lstStyle/>
          <a:p>
            <a:pPr algn="l" indent="0" marL="0">
              <a:buNone/>
            </a:pPr>
            <a:r>
              <a:rPr lang="en-US" sz="900" i="1" dirty="0">
                <a:solidFill>
                  <a:srgbClr val="4A5568"/>
                </a:solidFill>
                <a:latin typeface="Arial" pitchFamily="34" charset="0"/>
                <a:ea typeface="Arial" pitchFamily="34" charset="-122"/>
                <a:cs typeface="Arial" pitchFamily="34" charset="-120"/>
              </a:rPr>
              <a:t>シニア社員と若手の自動メンタリングマッチング</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885825"/>
          </a:xfrm>
          <a:prstGeom prst="rect">
            <a:avLst/>
          </a:prstGeom>
          <a:solidFill>
            <a:srgbClr val="1B2A4A"/>
          </a:solidFill>
          <a:ln/>
        </p:spPr>
        <p:txBody>
          <a:bodyPr wrap="square" rtlCol="0" anchor="ctr"/>
          <a:lstStyle/>
          <a:p>
            <a:pPr indent="0" marL="0">
              <a:buNone/>
            </a:pPr>
            <a:endParaRPr lang="en-US" dirty="0"/>
          </a:p>
        </p:txBody>
      </p:sp>
      <p:sp>
        <p:nvSpPr>
          <p:cNvPr id="3" name="Text 1"/>
          <p:cNvSpPr/>
          <p:nvPr/>
        </p:nvSpPr>
        <p:spPr>
          <a:xfrm>
            <a:off x="507950" y="228600"/>
            <a:ext cx="8290661" cy="428625"/>
          </a:xfrm>
          <a:prstGeom prst="rect">
            <a:avLst/>
          </a:prstGeom>
          <a:noFill/>
          <a:ln/>
        </p:spPr>
        <p:txBody>
          <a:bodyPr wrap="square" lIns="0" tIns="0" rIns="0" bIns="0" rtlCol="0" anchor="t"/>
          <a:lstStyle/>
          <a:p>
            <a:pPr algn="l" indent="0" marL="0">
              <a:buNone/>
            </a:pPr>
            <a:r>
              <a:rPr lang="en-US" sz="2200" b="1" dirty="0">
                <a:solidFill>
                  <a:srgbClr val="FFFFFF"/>
                </a:solidFill>
                <a:latin typeface="Arial" pitchFamily="34" charset="0"/>
                <a:ea typeface="Arial" pitchFamily="34" charset="-122"/>
                <a:cs typeface="Arial" pitchFamily="34" charset="-120"/>
              </a:rPr>
              <a:t>独自性 ― なぜ Career Nexus でなければならないか</a:t>
            </a:r>
            <a:endParaRPr lang="en-US" sz="2200" dirty="0"/>
          </a:p>
        </p:txBody>
      </p:sp>
      <p:sp>
        <p:nvSpPr>
          <p:cNvPr id="4" name="Text 2"/>
          <p:cNvSpPr/>
          <p:nvPr/>
        </p:nvSpPr>
        <p:spPr>
          <a:xfrm>
            <a:off x="507950" y="1139726"/>
            <a:ext cx="2590800" cy="3698974"/>
          </a:xfrm>
          <a:prstGeom prst="roundRect">
            <a:avLst>
              <a:gd name="adj" fmla="val 3922"/>
            </a:avLst>
          </a:prstGeom>
          <a:solidFill>
            <a:srgbClr val="EDF2F7"/>
          </a:solidFill>
          <a:ln/>
        </p:spPr>
        <p:txBody>
          <a:bodyPr wrap="square" rtlCol="0" anchor="ctr"/>
          <a:lstStyle/>
          <a:p>
            <a:pPr indent="0" marL="0">
              <a:buNone/>
            </a:pPr>
            <a:endParaRPr lang="en-US" dirty="0"/>
          </a:p>
        </p:txBody>
      </p:sp>
      <p:sp>
        <p:nvSpPr>
          <p:cNvPr id="5" name="Shape 3"/>
          <p:cNvSpPr/>
          <p:nvPr/>
        </p:nvSpPr>
        <p:spPr>
          <a:xfrm>
            <a:off x="507950" y="1163538"/>
            <a:ext cx="2590800" cy="0"/>
          </a:xfrm>
          <a:prstGeom prst="line">
            <a:avLst/>
          </a:prstGeom>
          <a:noFill/>
          <a:ln w="47625">
            <a:solidFill>
              <a:srgbClr val="00A99D"/>
            </a:solidFill>
            <a:prstDash val="solid"/>
          </a:ln>
        </p:spPr>
      </p:sp>
      <p:sp>
        <p:nvSpPr>
          <p:cNvPr id="6" name="Text 4"/>
          <p:cNvSpPr/>
          <p:nvPr/>
        </p:nvSpPr>
        <p:spPr>
          <a:xfrm>
            <a:off x="736550" y="1415951"/>
            <a:ext cx="2176272" cy="466725"/>
          </a:xfrm>
          <a:prstGeom prst="rect">
            <a:avLst/>
          </a:prstGeom>
          <a:noFill/>
          <a:ln/>
        </p:spPr>
        <p:txBody>
          <a:bodyPr wrap="square" lIns="0" tIns="0" rIns="0" bIns="0" rtlCol="0" anchor="t"/>
          <a:lstStyle/>
          <a:p>
            <a:pPr algn="l" indent="0" marL="0">
              <a:buNone/>
            </a:pPr>
            <a:r>
              <a:rPr lang="en-US" sz="3200" b="1" dirty="0">
                <a:solidFill>
                  <a:srgbClr val="00A99D"/>
                </a:solidFill>
                <a:latin typeface="Arial" pitchFamily="34" charset="0"/>
                <a:ea typeface="Arial" pitchFamily="34" charset="-122"/>
                <a:cs typeface="Arial" pitchFamily="34" charset="-120"/>
              </a:rPr>
              <a:t>01</a:t>
            </a:r>
            <a:endParaRPr lang="en-US" sz="3200" dirty="0"/>
          </a:p>
        </p:txBody>
      </p:sp>
      <p:sp>
        <p:nvSpPr>
          <p:cNvPr id="7" name="Text 5"/>
          <p:cNvSpPr/>
          <p:nvPr/>
        </p:nvSpPr>
        <p:spPr>
          <a:xfrm>
            <a:off x="736550" y="1984177"/>
            <a:ext cx="2176272" cy="247650"/>
          </a:xfrm>
          <a:prstGeom prst="rect">
            <a:avLst/>
          </a:prstGeom>
          <a:noFill/>
          <a:ln/>
        </p:spPr>
        <p:txBody>
          <a:bodyPr wrap="square" lIns="0" tIns="0" rIns="0" bIns="0" rtlCol="0" anchor="t"/>
          <a:lstStyle/>
          <a:p>
            <a:pPr algn="l" indent="0" marL="0">
              <a:spcBef>
                <a:spcPts val="800"/>
              </a:spcBef>
              <a:spcAft>
                <a:spcPts val="800"/>
              </a:spcAft>
              <a:buNone/>
            </a:pPr>
            <a:r>
              <a:rPr lang="en-US" sz="1300" b="1" dirty="0">
                <a:solidFill>
                  <a:srgbClr val="1B2A4A"/>
                </a:solidFill>
                <a:latin typeface="Arial" pitchFamily="34" charset="0"/>
                <a:ea typeface="Arial" pitchFamily="34" charset="-122"/>
                <a:cs typeface="Arial" pitchFamily="34" charset="-120"/>
              </a:rPr>
              <a:t>自社データ x AI</a:t>
            </a:r>
            <a:endParaRPr lang="en-US" sz="1300" dirty="0"/>
          </a:p>
        </p:txBody>
      </p:sp>
      <p:sp>
        <p:nvSpPr>
          <p:cNvPr id="8" name="Text 6"/>
          <p:cNvSpPr/>
          <p:nvPr/>
        </p:nvSpPr>
        <p:spPr>
          <a:xfrm>
            <a:off x="736550" y="2333327"/>
            <a:ext cx="2176272" cy="812006"/>
          </a:xfrm>
          <a:prstGeom prst="rect">
            <a:avLst/>
          </a:prstGeom>
          <a:noFill/>
          <a:ln/>
        </p:spPr>
        <p:txBody>
          <a:bodyPr wrap="square" lIns="0" tIns="0" rIns="0" bIns="0" rtlCol="0" anchor="t"/>
          <a:lstStyle/>
          <a:p>
            <a:pPr algn="l" indent="0" marL="0">
              <a:lnSpc>
                <a:spcPts val="1600"/>
              </a:lnSpc>
              <a:buNone/>
            </a:pPr>
            <a:r>
              <a:rPr lang="en-US" sz="1000" dirty="0">
                <a:solidFill>
                  <a:srgbClr val="4A5568"/>
                </a:solidFill>
                <a:latin typeface="Arial" pitchFamily="34" charset="0"/>
                <a:ea typeface="Arial" pitchFamily="34" charset="-122"/>
                <a:cs typeface="Arial" pitchFamily="34" charset="-120"/>
              </a:rPr>
              <a:t>インタビュー記事・スキルデータ・公募情報をRAGで取り込み。汎用キャリアアドバイスではなく、その会社ならではのキャリア提案が可能</a:t>
            </a:r>
            <a:endParaRPr lang="en-US" sz="1000" dirty="0"/>
          </a:p>
        </p:txBody>
      </p:sp>
      <p:sp>
        <p:nvSpPr>
          <p:cNvPr id="9" name="Text 7"/>
          <p:cNvSpPr/>
          <p:nvPr/>
        </p:nvSpPr>
        <p:spPr>
          <a:xfrm>
            <a:off x="3276451" y="1139726"/>
            <a:ext cx="2590949" cy="3698974"/>
          </a:xfrm>
          <a:prstGeom prst="roundRect">
            <a:avLst>
              <a:gd name="adj" fmla="val 3921"/>
            </a:avLst>
          </a:prstGeom>
          <a:solidFill>
            <a:srgbClr val="EDF2F7"/>
          </a:solidFill>
          <a:ln/>
        </p:spPr>
        <p:txBody>
          <a:bodyPr wrap="square" rtlCol="0" anchor="ctr"/>
          <a:lstStyle/>
          <a:p>
            <a:pPr indent="0" marL="0">
              <a:buNone/>
            </a:pPr>
            <a:endParaRPr lang="en-US" dirty="0"/>
          </a:p>
        </p:txBody>
      </p:sp>
      <p:sp>
        <p:nvSpPr>
          <p:cNvPr id="10" name="Shape 8"/>
          <p:cNvSpPr/>
          <p:nvPr/>
        </p:nvSpPr>
        <p:spPr>
          <a:xfrm>
            <a:off x="3276451" y="1163538"/>
            <a:ext cx="2590949" cy="0"/>
          </a:xfrm>
          <a:prstGeom prst="line">
            <a:avLst/>
          </a:prstGeom>
          <a:noFill/>
          <a:ln w="47625">
            <a:solidFill>
              <a:srgbClr val="2B6CB0"/>
            </a:solidFill>
            <a:prstDash val="solid"/>
          </a:ln>
        </p:spPr>
      </p:sp>
      <p:sp>
        <p:nvSpPr>
          <p:cNvPr id="11" name="Text 9"/>
          <p:cNvSpPr/>
          <p:nvPr/>
        </p:nvSpPr>
        <p:spPr>
          <a:xfrm>
            <a:off x="3505051" y="1415951"/>
            <a:ext cx="2176424" cy="466725"/>
          </a:xfrm>
          <a:prstGeom prst="rect">
            <a:avLst/>
          </a:prstGeom>
          <a:noFill/>
          <a:ln/>
        </p:spPr>
        <p:txBody>
          <a:bodyPr wrap="square" lIns="0" tIns="0" rIns="0" bIns="0" rtlCol="0" anchor="t"/>
          <a:lstStyle/>
          <a:p>
            <a:pPr algn="l" indent="0" marL="0">
              <a:buNone/>
            </a:pPr>
            <a:r>
              <a:rPr lang="en-US" sz="3200" b="1" dirty="0">
                <a:solidFill>
                  <a:srgbClr val="2B6CB0"/>
                </a:solidFill>
                <a:latin typeface="Arial" pitchFamily="34" charset="0"/>
                <a:ea typeface="Arial" pitchFamily="34" charset="-122"/>
                <a:cs typeface="Arial" pitchFamily="34" charset="-120"/>
              </a:rPr>
              <a:t>02</a:t>
            </a:r>
            <a:endParaRPr lang="en-US" sz="3200" dirty="0"/>
          </a:p>
        </p:txBody>
      </p:sp>
      <p:sp>
        <p:nvSpPr>
          <p:cNvPr id="12" name="Text 10"/>
          <p:cNvSpPr/>
          <p:nvPr/>
        </p:nvSpPr>
        <p:spPr>
          <a:xfrm>
            <a:off x="3505051" y="1984177"/>
            <a:ext cx="2176424" cy="247650"/>
          </a:xfrm>
          <a:prstGeom prst="rect">
            <a:avLst/>
          </a:prstGeom>
          <a:noFill/>
          <a:ln/>
        </p:spPr>
        <p:txBody>
          <a:bodyPr wrap="square" lIns="0" tIns="0" rIns="0" bIns="0" rtlCol="0" anchor="t"/>
          <a:lstStyle/>
          <a:p>
            <a:pPr algn="l" indent="0" marL="0">
              <a:spcBef>
                <a:spcPts val="800"/>
              </a:spcBef>
              <a:spcAft>
                <a:spcPts val="800"/>
              </a:spcAft>
              <a:buNone/>
            </a:pPr>
            <a:r>
              <a:rPr lang="en-US" sz="1300" b="1" dirty="0">
                <a:solidFill>
                  <a:srgbClr val="1B2A4A"/>
                </a:solidFill>
                <a:latin typeface="Arial" pitchFamily="34" charset="0"/>
                <a:ea typeface="Arial" pitchFamily="34" charset="-122"/>
                <a:cs typeface="Arial" pitchFamily="34" charset="-120"/>
              </a:rPr>
              <a:t>対話で深掘り</a:t>
            </a:r>
            <a:endParaRPr lang="en-US" sz="1300" dirty="0"/>
          </a:p>
        </p:txBody>
      </p:sp>
      <p:sp>
        <p:nvSpPr>
          <p:cNvPr id="13" name="Text 11"/>
          <p:cNvSpPr/>
          <p:nvPr/>
        </p:nvSpPr>
        <p:spPr>
          <a:xfrm>
            <a:off x="3505051" y="2333327"/>
            <a:ext cx="2176424" cy="812006"/>
          </a:xfrm>
          <a:prstGeom prst="rect">
            <a:avLst/>
          </a:prstGeom>
          <a:noFill/>
          <a:ln/>
        </p:spPr>
        <p:txBody>
          <a:bodyPr wrap="square" lIns="0" tIns="0" rIns="0" bIns="0" rtlCol="0" anchor="t"/>
          <a:lstStyle/>
          <a:p>
            <a:pPr algn="l" indent="0" marL="0">
              <a:lnSpc>
                <a:spcPts val="1600"/>
              </a:lnSpc>
              <a:buNone/>
            </a:pPr>
            <a:r>
              <a:rPr lang="en-US" sz="1000" dirty="0">
                <a:solidFill>
                  <a:srgbClr val="4A5568"/>
                </a:solidFill>
                <a:latin typeface="Arial" pitchFamily="34" charset="0"/>
                <a:ea typeface="Arial" pitchFamily="34" charset="-122"/>
                <a:cs typeface="Arial" pitchFamily="34" charset="-120"/>
              </a:rPr>
              <a:t>AIとの会話で悩みや志向を深掘りし、一般的なアンケートでは得られない深い理解に基づく個人最適化されたプランを提示</a:t>
            </a:r>
            <a:endParaRPr lang="en-US" sz="1000" dirty="0"/>
          </a:p>
        </p:txBody>
      </p:sp>
      <p:sp>
        <p:nvSpPr>
          <p:cNvPr id="14" name="Text 12"/>
          <p:cNvSpPr/>
          <p:nvPr/>
        </p:nvSpPr>
        <p:spPr>
          <a:xfrm>
            <a:off x="6045101" y="1139726"/>
            <a:ext cx="2590949" cy="3698974"/>
          </a:xfrm>
          <a:prstGeom prst="roundRect">
            <a:avLst>
              <a:gd name="adj" fmla="val 3921"/>
            </a:avLst>
          </a:prstGeom>
          <a:solidFill>
            <a:srgbClr val="EDF2F7"/>
          </a:solidFill>
          <a:ln/>
        </p:spPr>
        <p:txBody>
          <a:bodyPr wrap="square" rtlCol="0" anchor="ctr"/>
          <a:lstStyle/>
          <a:p>
            <a:pPr indent="0" marL="0">
              <a:buNone/>
            </a:pPr>
            <a:endParaRPr lang="en-US" dirty="0"/>
          </a:p>
        </p:txBody>
      </p:sp>
      <p:sp>
        <p:nvSpPr>
          <p:cNvPr id="15" name="Shape 13"/>
          <p:cNvSpPr/>
          <p:nvPr/>
        </p:nvSpPr>
        <p:spPr>
          <a:xfrm>
            <a:off x="6045101" y="1163538"/>
            <a:ext cx="2590949" cy="0"/>
          </a:xfrm>
          <a:prstGeom prst="line">
            <a:avLst/>
          </a:prstGeom>
          <a:noFill/>
          <a:ln w="47625">
            <a:solidFill>
              <a:srgbClr val="E8734A"/>
            </a:solidFill>
            <a:prstDash val="solid"/>
          </a:ln>
        </p:spPr>
      </p:sp>
      <p:sp>
        <p:nvSpPr>
          <p:cNvPr id="16" name="Text 14"/>
          <p:cNvSpPr/>
          <p:nvPr/>
        </p:nvSpPr>
        <p:spPr>
          <a:xfrm>
            <a:off x="6273701" y="1415951"/>
            <a:ext cx="2176424" cy="466725"/>
          </a:xfrm>
          <a:prstGeom prst="rect">
            <a:avLst/>
          </a:prstGeom>
          <a:noFill/>
          <a:ln/>
        </p:spPr>
        <p:txBody>
          <a:bodyPr wrap="square" lIns="0" tIns="0" rIns="0" bIns="0" rtlCol="0" anchor="t"/>
          <a:lstStyle/>
          <a:p>
            <a:pPr algn="l" indent="0" marL="0">
              <a:buNone/>
            </a:pPr>
            <a:r>
              <a:rPr lang="en-US" sz="3200" b="1" dirty="0">
                <a:solidFill>
                  <a:srgbClr val="E8734A"/>
                </a:solidFill>
                <a:latin typeface="Arial" pitchFamily="34" charset="0"/>
                <a:ea typeface="Arial" pitchFamily="34" charset="-122"/>
                <a:cs typeface="Arial" pitchFamily="34" charset="-120"/>
              </a:rPr>
              <a:t>03</a:t>
            </a:r>
            <a:endParaRPr lang="en-US" sz="3200" dirty="0"/>
          </a:p>
        </p:txBody>
      </p:sp>
      <p:sp>
        <p:nvSpPr>
          <p:cNvPr id="17" name="Text 15"/>
          <p:cNvSpPr/>
          <p:nvPr/>
        </p:nvSpPr>
        <p:spPr>
          <a:xfrm>
            <a:off x="6273701" y="1984177"/>
            <a:ext cx="2176424" cy="247650"/>
          </a:xfrm>
          <a:prstGeom prst="rect">
            <a:avLst/>
          </a:prstGeom>
          <a:noFill/>
          <a:ln/>
        </p:spPr>
        <p:txBody>
          <a:bodyPr wrap="square" lIns="0" tIns="0" rIns="0" bIns="0" rtlCol="0" anchor="t"/>
          <a:lstStyle/>
          <a:p>
            <a:pPr algn="l" indent="0" marL="0">
              <a:spcBef>
                <a:spcPts val="800"/>
              </a:spcBef>
              <a:spcAft>
                <a:spcPts val="800"/>
              </a:spcAft>
              <a:buNone/>
            </a:pPr>
            <a:r>
              <a:rPr lang="en-US" sz="1300" b="1" dirty="0">
                <a:solidFill>
                  <a:srgbClr val="1B2A4A"/>
                </a:solidFill>
                <a:latin typeface="Arial" pitchFamily="34" charset="0"/>
                <a:ea typeface="Arial" pitchFamily="34" charset="-122"/>
                <a:cs typeface="Arial" pitchFamily="34" charset="-120"/>
              </a:rPr>
              <a:t>蓄積が組織価値に</a:t>
            </a:r>
            <a:endParaRPr lang="en-US" sz="1300" dirty="0"/>
          </a:p>
        </p:txBody>
      </p:sp>
      <p:sp>
        <p:nvSpPr>
          <p:cNvPr id="18" name="Text 16"/>
          <p:cNvSpPr/>
          <p:nvPr/>
        </p:nvSpPr>
        <p:spPr>
          <a:xfrm>
            <a:off x="6273701" y="2333327"/>
            <a:ext cx="2176424" cy="812006"/>
          </a:xfrm>
          <a:prstGeom prst="rect">
            <a:avLst/>
          </a:prstGeom>
          <a:noFill/>
          <a:ln/>
        </p:spPr>
        <p:txBody>
          <a:bodyPr wrap="square" lIns="0" tIns="0" rIns="0" bIns="0" rtlCol="0" anchor="t"/>
          <a:lstStyle/>
          <a:p>
            <a:pPr algn="l" indent="0" marL="0">
              <a:lnSpc>
                <a:spcPts val="1600"/>
              </a:lnSpc>
              <a:buNone/>
            </a:pPr>
            <a:r>
              <a:rPr lang="en-US" sz="1000" dirty="0">
                <a:solidFill>
                  <a:srgbClr val="4A5568"/>
                </a:solidFill>
                <a:latin typeface="Arial" pitchFamily="34" charset="0"/>
                <a:ea typeface="Arial" pitchFamily="34" charset="-122"/>
                <a:cs typeface="Arial" pitchFamily="34" charset="-120"/>
              </a:rPr>
              <a:t>個人の会話蓄積で従来得られない詳細情報が溜まり、人員配置最適化・メンタリングマッチング等の新ユースケースが生まれる</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885825"/>
          </a:xfrm>
          <a:prstGeom prst="rect">
            <a:avLst/>
          </a:prstGeom>
          <a:solidFill>
            <a:srgbClr val="1B2A4A"/>
          </a:solidFill>
          <a:ln/>
        </p:spPr>
        <p:txBody>
          <a:bodyPr wrap="square" rtlCol="0" anchor="ctr"/>
          <a:lstStyle/>
          <a:p>
            <a:pPr indent="0" marL="0">
              <a:buNone/>
            </a:pPr>
            <a:endParaRPr lang="en-US" dirty="0"/>
          </a:p>
        </p:txBody>
      </p:sp>
      <p:sp>
        <p:nvSpPr>
          <p:cNvPr id="3" name="Text 1"/>
          <p:cNvSpPr/>
          <p:nvPr/>
        </p:nvSpPr>
        <p:spPr>
          <a:xfrm>
            <a:off x="507950" y="228600"/>
            <a:ext cx="8290661" cy="428625"/>
          </a:xfrm>
          <a:prstGeom prst="rect">
            <a:avLst/>
          </a:prstGeom>
          <a:noFill/>
          <a:ln/>
        </p:spPr>
        <p:txBody>
          <a:bodyPr wrap="square" lIns="0" tIns="0" rIns="0" bIns="0" rtlCol="0" anchor="t"/>
          <a:lstStyle/>
          <a:p>
            <a:pPr algn="l" indent="0" marL="0">
              <a:buNone/>
            </a:pPr>
            <a:r>
              <a:rPr lang="en-US" sz="2200" b="1" dirty="0">
                <a:solidFill>
                  <a:srgbClr val="FFFFFF"/>
                </a:solidFill>
                <a:latin typeface="Arial" pitchFamily="34" charset="0"/>
                <a:ea typeface="Arial" pitchFamily="34" charset="-122"/>
                <a:cs typeface="Arial" pitchFamily="34" charset="-120"/>
              </a:rPr>
              <a:t>アーキテクチャ概要</a:t>
            </a:r>
            <a:endParaRPr lang="en-US" sz="2200" dirty="0"/>
          </a:p>
        </p:txBody>
      </p:sp>
      <p:sp>
        <p:nvSpPr>
          <p:cNvPr id="4" name="Text 2"/>
          <p:cNvSpPr/>
          <p:nvPr/>
        </p:nvSpPr>
        <p:spPr>
          <a:xfrm>
            <a:off x="507950" y="1088975"/>
            <a:ext cx="1727002" cy="422077"/>
          </a:xfrm>
          <a:prstGeom prst="roundRect">
            <a:avLst>
              <a:gd name="adj" fmla="val 12036"/>
            </a:avLst>
          </a:prstGeom>
          <a:solidFill>
            <a:srgbClr val="1B2A4A"/>
          </a:solidFill>
          <a:ln/>
        </p:spPr>
        <p:txBody>
          <a:bodyPr wrap="square" rtlCol="0" anchor="ctr"/>
          <a:lstStyle/>
          <a:p>
            <a:pPr indent="0" marL="0">
              <a:buNone/>
            </a:pPr>
            <a:endParaRPr lang="en-US" dirty="0"/>
          </a:p>
        </p:txBody>
      </p:sp>
      <p:sp>
        <p:nvSpPr>
          <p:cNvPr id="5" name="Text 3"/>
          <p:cNvSpPr/>
          <p:nvPr/>
        </p:nvSpPr>
        <p:spPr>
          <a:xfrm>
            <a:off x="609451" y="1200001"/>
            <a:ext cx="777088" cy="20002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ユーザー接点</a:t>
            </a:r>
            <a:endParaRPr lang="en-US" sz="1000" dirty="0"/>
          </a:p>
        </p:txBody>
      </p:sp>
      <p:sp>
        <p:nvSpPr>
          <p:cNvPr id="6" name="Text 4"/>
          <p:cNvSpPr/>
          <p:nvPr/>
        </p:nvSpPr>
        <p:spPr>
          <a:xfrm>
            <a:off x="2361902" y="1088975"/>
            <a:ext cx="2023616" cy="422077"/>
          </a:xfrm>
          <a:prstGeom prst="roundRect">
            <a:avLst>
              <a:gd name="adj" fmla="val 12036"/>
            </a:avLst>
          </a:prstGeom>
          <a:solidFill>
            <a:srgbClr val="EDF2F7"/>
          </a:solidFill>
          <a:ln w="9525">
            <a:solidFill>
              <a:srgbClr val="CBD5E0"/>
            </a:solidFill>
          </a:ln>
        </p:spPr>
        <p:txBody>
          <a:bodyPr wrap="square" rtlCol="0" anchor="ctr"/>
          <a:lstStyle/>
          <a:p>
            <a:pPr indent="0" marL="0">
              <a:buNone/>
            </a:pPr>
            <a:endParaRPr lang="en-US" dirty="0"/>
          </a:p>
        </p:txBody>
      </p:sp>
      <p:sp>
        <p:nvSpPr>
          <p:cNvPr id="7" name="Text 5"/>
          <p:cNvSpPr/>
          <p:nvPr/>
        </p:nvSpPr>
        <p:spPr>
          <a:xfrm>
            <a:off x="2454912" y="1200001"/>
            <a:ext cx="1837596" cy="142875"/>
          </a:xfrm>
          <a:prstGeom prst="rect">
            <a:avLst/>
          </a:prstGeom>
          <a:noFill/>
          <a:ln/>
        </p:spPr>
        <p:txBody>
          <a:bodyPr wrap="square" lIns="0" tIns="0" rIns="0" bIns="0" rtlCol="0" anchor="t"/>
          <a:lstStyle/>
          <a:p>
            <a:pPr algn="ctr" indent="0" marL="0">
              <a:buNone/>
            </a:pPr>
            <a:r>
              <a:rPr lang="en-US" sz="1000" b="1" dirty="0">
                <a:solidFill>
                  <a:srgbClr val="1B2A4A"/>
                </a:solidFill>
                <a:latin typeface="Arial" pitchFamily="34" charset="0"/>
                <a:ea typeface="Arial" pitchFamily="34" charset="-122"/>
                <a:cs typeface="Arial" pitchFamily="34" charset="-120"/>
              </a:rPr>
              <a:t>Slack</a:t>
            </a:r>
            <a:endParaRPr lang="en-US" sz="1000" dirty="0"/>
          </a:p>
        </p:txBody>
      </p:sp>
      <p:sp>
        <p:nvSpPr>
          <p:cNvPr id="8" name="Text 6"/>
          <p:cNvSpPr/>
          <p:nvPr/>
        </p:nvSpPr>
        <p:spPr>
          <a:xfrm>
            <a:off x="4487019" y="1088975"/>
            <a:ext cx="2023765" cy="422077"/>
          </a:xfrm>
          <a:prstGeom prst="roundRect">
            <a:avLst>
              <a:gd name="adj" fmla="val 12036"/>
            </a:avLst>
          </a:prstGeom>
          <a:solidFill>
            <a:srgbClr val="EDF2F7"/>
          </a:solidFill>
          <a:ln w="9525">
            <a:solidFill>
              <a:srgbClr val="CBD5E0"/>
            </a:solidFill>
          </a:ln>
        </p:spPr>
        <p:txBody>
          <a:bodyPr wrap="square" rtlCol="0" anchor="ctr"/>
          <a:lstStyle/>
          <a:p>
            <a:pPr indent="0" marL="0">
              <a:buNone/>
            </a:pPr>
            <a:endParaRPr lang="en-US" dirty="0"/>
          </a:p>
        </p:txBody>
      </p:sp>
      <p:sp>
        <p:nvSpPr>
          <p:cNvPr id="9" name="Text 7"/>
          <p:cNvSpPr/>
          <p:nvPr/>
        </p:nvSpPr>
        <p:spPr>
          <a:xfrm>
            <a:off x="4580028" y="1200001"/>
            <a:ext cx="1837748" cy="142875"/>
          </a:xfrm>
          <a:prstGeom prst="rect">
            <a:avLst/>
          </a:prstGeom>
          <a:noFill/>
          <a:ln/>
        </p:spPr>
        <p:txBody>
          <a:bodyPr wrap="square" lIns="0" tIns="0" rIns="0" bIns="0" rtlCol="0" anchor="t"/>
          <a:lstStyle/>
          <a:p>
            <a:pPr algn="ctr" indent="0" marL="0">
              <a:buNone/>
            </a:pPr>
            <a:r>
              <a:rPr lang="en-US" sz="1000" b="1" dirty="0">
                <a:solidFill>
                  <a:srgbClr val="1B2A4A"/>
                </a:solidFill>
                <a:latin typeface="Arial" pitchFamily="34" charset="0"/>
                <a:ea typeface="Arial" pitchFamily="34" charset="-122"/>
                <a:cs typeface="Arial" pitchFamily="34" charset="-120"/>
              </a:rPr>
              <a:t>Microsoft Teams</a:t>
            </a:r>
            <a:endParaRPr lang="en-US" sz="1000" dirty="0"/>
          </a:p>
        </p:txBody>
      </p:sp>
      <p:sp>
        <p:nvSpPr>
          <p:cNvPr id="10" name="Text 8"/>
          <p:cNvSpPr/>
          <p:nvPr/>
        </p:nvSpPr>
        <p:spPr>
          <a:xfrm>
            <a:off x="6612285" y="1088975"/>
            <a:ext cx="2023765" cy="422077"/>
          </a:xfrm>
          <a:prstGeom prst="roundRect">
            <a:avLst>
              <a:gd name="adj" fmla="val 12036"/>
            </a:avLst>
          </a:prstGeom>
          <a:solidFill>
            <a:srgbClr val="EDF2F7"/>
          </a:solidFill>
          <a:ln w="9525">
            <a:solidFill>
              <a:srgbClr val="CBD5E0"/>
            </a:solidFill>
          </a:ln>
        </p:spPr>
        <p:txBody>
          <a:bodyPr wrap="square" rtlCol="0" anchor="ctr"/>
          <a:lstStyle/>
          <a:p>
            <a:pPr indent="0" marL="0">
              <a:buNone/>
            </a:pPr>
            <a:endParaRPr lang="en-US" dirty="0"/>
          </a:p>
        </p:txBody>
      </p:sp>
      <p:sp>
        <p:nvSpPr>
          <p:cNvPr id="11" name="Text 9"/>
          <p:cNvSpPr/>
          <p:nvPr/>
        </p:nvSpPr>
        <p:spPr>
          <a:xfrm>
            <a:off x="6705293" y="1200001"/>
            <a:ext cx="1837748" cy="200025"/>
          </a:xfrm>
          <a:prstGeom prst="rect">
            <a:avLst/>
          </a:prstGeom>
          <a:noFill/>
          <a:ln/>
        </p:spPr>
        <p:txBody>
          <a:bodyPr wrap="square" lIns="0" tIns="0" rIns="0" bIns="0" rtlCol="0" anchor="t"/>
          <a:lstStyle/>
          <a:p>
            <a:pPr algn="ctr" indent="0" marL="0">
              <a:buNone/>
            </a:pPr>
            <a:r>
              <a:rPr lang="en-US" sz="1000" dirty="0">
                <a:solidFill>
                  <a:srgbClr val="4A5568"/>
                </a:solidFill>
                <a:latin typeface="Arial" pitchFamily="34" charset="0"/>
                <a:ea typeface="Arial" pitchFamily="34" charset="-122"/>
                <a:cs typeface="Arial" pitchFamily="34" charset="-120"/>
              </a:rPr>
              <a:t>日常ツールで気軽に利用</a:t>
            </a:r>
            <a:endParaRPr lang="en-US" sz="1000" dirty="0"/>
          </a:p>
        </p:txBody>
      </p:sp>
      <p:sp>
        <p:nvSpPr>
          <p:cNvPr id="12" name="Text 10"/>
          <p:cNvSpPr/>
          <p:nvPr/>
        </p:nvSpPr>
        <p:spPr>
          <a:xfrm>
            <a:off x="507950" y="1612553"/>
            <a:ext cx="1727002" cy="403027"/>
          </a:xfrm>
          <a:prstGeom prst="roundRect">
            <a:avLst>
              <a:gd name="adj" fmla="val 12605"/>
            </a:avLst>
          </a:prstGeom>
          <a:solidFill>
            <a:srgbClr val="00A99D"/>
          </a:solidFill>
          <a:ln/>
        </p:spPr>
        <p:txBody>
          <a:bodyPr wrap="square" rtlCol="0" anchor="ctr"/>
          <a:lstStyle/>
          <a:p>
            <a:pPr indent="0" marL="0">
              <a:buNone/>
            </a:pPr>
            <a:endParaRPr lang="en-US" dirty="0"/>
          </a:p>
        </p:txBody>
      </p:sp>
      <p:sp>
        <p:nvSpPr>
          <p:cNvPr id="13" name="Text 11"/>
          <p:cNvSpPr/>
          <p:nvPr/>
        </p:nvSpPr>
        <p:spPr>
          <a:xfrm>
            <a:off x="609451" y="1714054"/>
            <a:ext cx="898836" cy="20002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AIエージェント</a:t>
            </a:r>
            <a:endParaRPr lang="en-US" sz="1000" dirty="0"/>
          </a:p>
        </p:txBody>
      </p:sp>
      <p:sp>
        <p:nvSpPr>
          <p:cNvPr id="14" name="Text 12"/>
          <p:cNvSpPr/>
          <p:nvPr/>
        </p:nvSpPr>
        <p:spPr>
          <a:xfrm>
            <a:off x="2361902" y="1612553"/>
            <a:ext cx="2023616" cy="403027"/>
          </a:xfrm>
          <a:prstGeom prst="roundRect">
            <a:avLst>
              <a:gd name="adj" fmla="val 12605"/>
            </a:avLst>
          </a:prstGeom>
          <a:solidFill>
            <a:srgbClr val="E6FFFA"/>
          </a:solidFill>
          <a:ln w="9525">
            <a:solidFill>
              <a:srgbClr val="00A99D"/>
            </a:solidFill>
          </a:ln>
        </p:spPr>
        <p:txBody>
          <a:bodyPr wrap="square" rtlCol="0" anchor="ctr"/>
          <a:lstStyle/>
          <a:p>
            <a:pPr indent="0" marL="0">
              <a:buNone/>
            </a:pPr>
            <a:endParaRPr lang="en-US" dirty="0"/>
          </a:p>
        </p:txBody>
      </p:sp>
      <p:sp>
        <p:nvSpPr>
          <p:cNvPr id="15" name="Text 13"/>
          <p:cNvSpPr/>
          <p:nvPr/>
        </p:nvSpPr>
        <p:spPr>
          <a:xfrm>
            <a:off x="2454912" y="1723579"/>
            <a:ext cx="1837596" cy="171450"/>
          </a:xfrm>
          <a:prstGeom prst="rect">
            <a:avLst/>
          </a:prstGeom>
          <a:noFill/>
          <a:ln/>
        </p:spPr>
        <p:txBody>
          <a:bodyPr wrap="square" lIns="0" tIns="0" rIns="0" bIns="0" rtlCol="0" anchor="t"/>
          <a:lstStyle/>
          <a:p>
            <a:pPr algn="ctr" indent="0" marL="0">
              <a:buNone/>
            </a:pPr>
            <a:r>
              <a:rPr lang="en-US" sz="900" dirty="0">
                <a:solidFill>
                  <a:srgbClr val="1B2A4A"/>
                </a:solidFill>
                <a:latin typeface="Arial" pitchFamily="34" charset="0"/>
                <a:ea typeface="Arial" pitchFamily="34" charset="-122"/>
                <a:cs typeface="Arial" pitchFamily="34" charset="-120"/>
              </a:rPr>
              <a:t>キャリア壁打ち</a:t>
            </a:r>
            <a:endParaRPr lang="en-US" sz="900" dirty="0"/>
          </a:p>
        </p:txBody>
      </p:sp>
      <p:sp>
        <p:nvSpPr>
          <p:cNvPr id="16" name="Text 14"/>
          <p:cNvSpPr/>
          <p:nvPr/>
        </p:nvSpPr>
        <p:spPr>
          <a:xfrm>
            <a:off x="4487019" y="1612553"/>
            <a:ext cx="2023765" cy="403027"/>
          </a:xfrm>
          <a:prstGeom prst="roundRect">
            <a:avLst>
              <a:gd name="adj" fmla="val 12605"/>
            </a:avLst>
          </a:prstGeom>
          <a:solidFill>
            <a:srgbClr val="E6FFFA"/>
          </a:solidFill>
          <a:ln w="9525">
            <a:solidFill>
              <a:srgbClr val="00A99D"/>
            </a:solidFill>
          </a:ln>
        </p:spPr>
        <p:txBody>
          <a:bodyPr wrap="square" rtlCol="0" anchor="ctr"/>
          <a:lstStyle/>
          <a:p>
            <a:pPr indent="0" marL="0">
              <a:buNone/>
            </a:pPr>
            <a:endParaRPr lang="en-US" dirty="0"/>
          </a:p>
        </p:txBody>
      </p:sp>
      <p:sp>
        <p:nvSpPr>
          <p:cNvPr id="17" name="Text 15"/>
          <p:cNvSpPr/>
          <p:nvPr/>
        </p:nvSpPr>
        <p:spPr>
          <a:xfrm>
            <a:off x="4580028" y="1723579"/>
            <a:ext cx="1837748" cy="171450"/>
          </a:xfrm>
          <a:prstGeom prst="rect">
            <a:avLst/>
          </a:prstGeom>
          <a:noFill/>
          <a:ln/>
        </p:spPr>
        <p:txBody>
          <a:bodyPr wrap="square" lIns="0" tIns="0" rIns="0" bIns="0" rtlCol="0" anchor="t"/>
          <a:lstStyle/>
          <a:p>
            <a:pPr algn="ctr" indent="0" marL="0">
              <a:buNone/>
            </a:pPr>
            <a:r>
              <a:rPr lang="en-US" sz="900" dirty="0">
                <a:solidFill>
                  <a:srgbClr val="1B2A4A"/>
                </a:solidFill>
                <a:latin typeface="Arial" pitchFamily="34" charset="0"/>
                <a:ea typeface="Arial" pitchFamily="34" charset="-122"/>
                <a:cs typeface="Arial" pitchFamily="34" charset="-120"/>
              </a:rPr>
              <a:t>励まし・通知</a:t>
            </a:r>
            <a:endParaRPr lang="en-US" sz="900" dirty="0"/>
          </a:p>
        </p:txBody>
      </p:sp>
      <p:sp>
        <p:nvSpPr>
          <p:cNvPr id="18" name="Text 16"/>
          <p:cNvSpPr/>
          <p:nvPr/>
        </p:nvSpPr>
        <p:spPr>
          <a:xfrm>
            <a:off x="6612285" y="1612553"/>
            <a:ext cx="2023765" cy="403027"/>
          </a:xfrm>
          <a:prstGeom prst="roundRect">
            <a:avLst>
              <a:gd name="adj" fmla="val 12605"/>
            </a:avLst>
          </a:prstGeom>
          <a:solidFill>
            <a:srgbClr val="E6FFFA"/>
          </a:solidFill>
          <a:ln w="9525">
            <a:solidFill>
              <a:srgbClr val="00A99D"/>
            </a:solidFill>
          </a:ln>
        </p:spPr>
        <p:txBody>
          <a:bodyPr wrap="square" rtlCol="0" anchor="ctr"/>
          <a:lstStyle/>
          <a:p>
            <a:pPr indent="0" marL="0">
              <a:buNone/>
            </a:pPr>
            <a:endParaRPr lang="en-US" dirty="0"/>
          </a:p>
        </p:txBody>
      </p:sp>
      <p:sp>
        <p:nvSpPr>
          <p:cNvPr id="19" name="Text 17"/>
          <p:cNvSpPr/>
          <p:nvPr/>
        </p:nvSpPr>
        <p:spPr>
          <a:xfrm>
            <a:off x="6705293" y="1723579"/>
            <a:ext cx="1837748" cy="171450"/>
          </a:xfrm>
          <a:prstGeom prst="rect">
            <a:avLst/>
          </a:prstGeom>
          <a:noFill/>
          <a:ln/>
        </p:spPr>
        <p:txBody>
          <a:bodyPr wrap="square" lIns="0" tIns="0" rIns="0" bIns="0" rtlCol="0" anchor="t"/>
          <a:lstStyle/>
          <a:p>
            <a:pPr algn="ctr" indent="0" marL="0">
              <a:buNone/>
            </a:pPr>
            <a:r>
              <a:rPr lang="en-US" sz="900" dirty="0">
                <a:solidFill>
                  <a:srgbClr val="1B2A4A"/>
                </a:solidFill>
                <a:latin typeface="Arial" pitchFamily="34" charset="0"/>
                <a:ea typeface="Arial" pitchFamily="34" charset="-122"/>
                <a:cs typeface="Arial" pitchFamily="34" charset="-120"/>
              </a:rPr>
              <a:t>マッチング</a:t>
            </a:r>
            <a:endParaRPr lang="en-US" sz="900" dirty="0"/>
          </a:p>
        </p:txBody>
      </p:sp>
      <p:sp>
        <p:nvSpPr>
          <p:cNvPr id="20" name="Text 18"/>
          <p:cNvSpPr/>
          <p:nvPr/>
        </p:nvSpPr>
        <p:spPr>
          <a:xfrm>
            <a:off x="507950" y="2117080"/>
            <a:ext cx="1727002" cy="403027"/>
          </a:xfrm>
          <a:prstGeom prst="roundRect">
            <a:avLst>
              <a:gd name="adj" fmla="val 12605"/>
            </a:avLst>
          </a:prstGeom>
          <a:solidFill>
            <a:srgbClr val="2B6CB0"/>
          </a:solidFill>
          <a:ln/>
        </p:spPr>
        <p:txBody>
          <a:bodyPr wrap="square" rtlCol="0" anchor="ctr"/>
          <a:lstStyle/>
          <a:p>
            <a:pPr indent="0" marL="0">
              <a:buNone/>
            </a:pPr>
            <a:endParaRPr lang="en-US" dirty="0"/>
          </a:p>
        </p:txBody>
      </p:sp>
      <p:sp>
        <p:nvSpPr>
          <p:cNvPr id="21" name="Text 19"/>
          <p:cNvSpPr/>
          <p:nvPr/>
        </p:nvSpPr>
        <p:spPr>
          <a:xfrm>
            <a:off x="609451" y="2218581"/>
            <a:ext cx="654885" cy="20002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RAG / 検索</a:t>
            </a:r>
            <a:endParaRPr lang="en-US" sz="1000" dirty="0"/>
          </a:p>
        </p:txBody>
      </p:sp>
      <p:sp>
        <p:nvSpPr>
          <p:cNvPr id="22" name="Text 20"/>
          <p:cNvSpPr/>
          <p:nvPr/>
        </p:nvSpPr>
        <p:spPr>
          <a:xfrm>
            <a:off x="2361902" y="2117080"/>
            <a:ext cx="2023616" cy="403027"/>
          </a:xfrm>
          <a:prstGeom prst="roundRect">
            <a:avLst>
              <a:gd name="adj" fmla="val 12605"/>
            </a:avLst>
          </a:prstGeom>
          <a:solidFill>
            <a:srgbClr val="EBF4FF"/>
          </a:solidFill>
          <a:ln w="9525">
            <a:solidFill>
              <a:srgbClr val="2B6CB0"/>
            </a:solidFill>
          </a:ln>
        </p:spPr>
        <p:txBody>
          <a:bodyPr wrap="square" rtlCol="0" anchor="ctr"/>
          <a:lstStyle/>
          <a:p>
            <a:pPr indent="0" marL="0">
              <a:buNone/>
            </a:pPr>
            <a:endParaRPr lang="en-US" dirty="0"/>
          </a:p>
        </p:txBody>
      </p:sp>
      <p:sp>
        <p:nvSpPr>
          <p:cNvPr id="23" name="Text 21"/>
          <p:cNvSpPr/>
          <p:nvPr/>
        </p:nvSpPr>
        <p:spPr>
          <a:xfrm>
            <a:off x="2454912" y="2228106"/>
            <a:ext cx="1837596" cy="171450"/>
          </a:xfrm>
          <a:prstGeom prst="rect">
            <a:avLst/>
          </a:prstGeom>
          <a:noFill/>
          <a:ln/>
        </p:spPr>
        <p:txBody>
          <a:bodyPr wrap="square" lIns="0" tIns="0" rIns="0" bIns="0" rtlCol="0" anchor="t"/>
          <a:lstStyle/>
          <a:p>
            <a:pPr algn="ctr" indent="0" marL="0">
              <a:buNone/>
            </a:pPr>
            <a:r>
              <a:rPr lang="en-US" sz="900" dirty="0">
                <a:solidFill>
                  <a:srgbClr val="1B2A4A"/>
                </a:solidFill>
                <a:latin typeface="Arial" pitchFamily="34" charset="0"/>
                <a:ea typeface="Arial" pitchFamily="34" charset="-122"/>
                <a:cs typeface="Arial" pitchFamily="34" charset="-120"/>
              </a:rPr>
              <a:t>インタビュー記事</a:t>
            </a:r>
            <a:endParaRPr lang="en-US" sz="900" dirty="0"/>
          </a:p>
        </p:txBody>
      </p:sp>
      <p:sp>
        <p:nvSpPr>
          <p:cNvPr id="24" name="Text 22"/>
          <p:cNvSpPr/>
          <p:nvPr/>
        </p:nvSpPr>
        <p:spPr>
          <a:xfrm>
            <a:off x="4487019" y="2117080"/>
            <a:ext cx="2023765" cy="403027"/>
          </a:xfrm>
          <a:prstGeom prst="roundRect">
            <a:avLst>
              <a:gd name="adj" fmla="val 12605"/>
            </a:avLst>
          </a:prstGeom>
          <a:solidFill>
            <a:srgbClr val="EBF4FF"/>
          </a:solidFill>
          <a:ln w="9525">
            <a:solidFill>
              <a:srgbClr val="2B6CB0"/>
            </a:solidFill>
          </a:ln>
        </p:spPr>
        <p:txBody>
          <a:bodyPr wrap="square" rtlCol="0" anchor="ctr"/>
          <a:lstStyle/>
          <a:p>
            <a:pPr indent="0" marL="0">
              <a:buNone/>
            </a:pPr>
            <a:endParaRPr lang="en-US" dirty="0"/>
          </a:p>
        </p:txBody>
      </p:sp>
      <p:sp>
        <p:nvSpPr>
          <p:cNvPr id="25" name="Text 23"/>
          <p:cNvSpPr/>
          <p:nvPr/>
        </p:nvSpPr>
        <p:spPr>
          <a:xfrm>
            <a:off x="4580028" y="2228106"/>
            <a:ext cx="1837748" cy="171450"/>
          </a:xfrm>
          <a:prstGeom prst="rect">
            <a:avLst/>
          </a:prstGeom>
          <a:noFill/>
          <a:ln/>
        </p:spPr>
        <p:txBody>
          <a:bodyPr wrap="square" lIns="0" tIns="0" rIns="0" bIns="0" rtlCol="0" anchor="t"/>
          <a:lstStyle/>
          <a:p>
            <a:pPr algn="ctr" indent="0" marL="0">
              <a:buNone/>
            </a:pPr>
            <a:r>
              <a:rPr lang="en-US" sz="900" dirty="0">
                <a:solidFill>
                  <a:srgbClr val="1B2A4A"/>
                </a:solidFill>
                <a:latin typeface="Arial" pitchFamily="34" charset="0"/>
                <a:ea typeface="Arial" pitchFamily="34" charset="-122"/>
                <a:cs typeface="Arial" pitchFamily="34" charset="-120"/>
              </a:rPr>
              <a:t>公募情報</a:t>
            </a:r>
            <a:endParaRPr lang="en-US" sz="900" dirty="0"/>
          </a:p>
        </p:txBody>
      </p:sp>
      <p:sp>
        <p:nvSpPr>
          <p:cNvPr id="26" name="Text 24"/>
          <p:cNvSpPr/>
          <p:nvPr/>
        </p:nvSpPr>
        <p:spPr>
          <a:xfrm>
            <a:off x="6612285" y="2117080"/>
            <a:ext cx="2023765" cy="403027"/>
          </a:xfrm>
          <a:prstGeom prst="roundRect">
            <a:avLst>
              <a:gd name="adj" fmla="val 12605"/>
            </a:avLst>
          </a:prstGeom>
          <a:solidFill>
            <a:srgbClr val="EBF4FF"/>
          </a:solidFill>
          <a:ln w="9525">
            <a:solidFill>
              <a:srgbClr val="2B6CB0"/>
            </a:solidFill>
          </a:ln>
        </p:spPr>
        <p:txBody>
          <a:bodyPr wrap="square" rtlCol="0" anchor="ctr"/>
          <a:lstStyle/>
          <a:p>
            <a:pPr indent="0" marL="0">
              <a:buNone/>
            </a:pPr>
            <a:endParaRPr lang="en-US" dirty="0"/>
          </a:p>
        </p:txBody>
      </p:sp>
      <p:sp>
        <p:nvSpPr>
          <p:cNvPr id="27" name="Text 25"/>
          <p:cNvSpPr/>
          <p:nvPr/>
        </p:nvSpPr>
        <p:spPr>
          <a:xfrm>
            <a:off x="6705293" y="2228106"/>
            <a:ext cx="1837748" cy="171450"/>
          </a:xfrm>
          <a:prstGeom prst="rect">
            <a:avLst/>
          </a:prstGeom>
          <a:noFill/>
          <a:ln/>
        </p:spPr>
        <p:txBody>
          <a:bodyPr wrap="square" lIns="0" tIns="0" rIns="0" bIns="0" rtlCol="0" anchor="t"/>
          <a:lstStyle/>
          <a:p>
            <a:pPr algn="ctr" indent="0" marL="0">
              <a:buNone/>
            </a:pPr>
            <a:r>
              <a:rPr lang="en-US" sz="900" dirty="0">
                <a:solidFill>
                  <a:srgbClr val="1B2A4A"/>
                </a:solidFill>
                <a:latin typeface="Arial" pitchFamily="34" charset="0"/>
                <a:ea typeface="Arial" pitchFamily="34" charset="-122"/>
                <a:cs typeface="Arial" pitchFamily="34" charset="-120"/>
              </a:rPr>
              <a:t>スキルデータ</a:t>
            </a:r>
            <a:endParaRPr lang="en-US" sz="900" dirty="0"/>
          </a:p>
        </p:txBody>
      </p:sp>
      <p:sp>
        <p:nvSpPr>
          <p:cNvPr id="28" name="Text 26"/>
          <p:cNvSpPr/>
          <p:nvPr/>
        </p:nvSpPr>
        <p:spPr>
          <a:xfrm>
            <a:off x="507950" y="2621607"/>
            <a:ext cx="1727002" cy="403027"/>
          </a:xfrm>
          <a:prstGeom prst="roundRect">
            <a:avLst>
              <a:gd name="adj" fmla="val 12605"/>
            </a:avLst>
          </a:prstGeom>
          <a:solidFill>
            <a:srgbClr val="E8734A"/>
          </a:solidFill>
          <a:ln/>
        </p:spPr>
        <p:txBody>
          <a:bodyPr wrap="square" rtlCol="0" anchor="ctr"/>
          <a:lstStyle/>
          <a:p>
            <a:pPr indent="0" marL="0">
              <a:buNone/>
            </a:pPr>
            <a:endParaRPr lang="en-US" dirty="0"/>
          </a:p>
        </p:txBody>
      </p:sp>
      <p:sp>
        <p:nvSpPr>
          <p:cNvPr id="29" name="Text 27"/>
          <p:cNvSpPr/>
          <p:nvPr/>
        </p:nvSpPr>
        <p:spPr>
          <a:xfrm>
            <a:off x="609451" y="2723108"/>
            <a:ext cx="647599" cy="20002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データ基盤</a:t>
            </a:r>
            <a:endParaRPr lang="en-US" sz="1000" dirty="0"/>
          </a:p>
        </p:txBody>
      </p:sp>
      <p:sp>
        <p:nvSpPr>
          <p:cNvPr id="30" name="Text 28"/>
          <p:cNvSpPr/>
          <p:nvPr/>
        </p:nvSpPr>
        <p:spPr>
          <a:xfrm>
            <a:off x="2361902" y="2621607"/>
            <a:ext cx="2023616" cy="403027"/>
          </a:xfrm>
          <a:prstGeom prst="roundRect">
            <a:avLst>
              <a:gd name="adj" fmla="val 12605"/>
            </a:avLst>
          </a:prstGeom>
          <a:solidFill>
            <a:srgbClr val="FFF5F0"/>
          </a:solidFill>
          <a:ln w="9525">
            <a:solidFill>
              <a:srgbClr val="E8734A"/>
            </a:solidFill>
          </a:ln>
        </p:spPr>
        <p:txBody>
          <a:bodyPr wrap="square" rtlCol="0" anchor="ctr"/>
          <a:lstStyle/>
          <a:p>
            <a:pPr indent="0" marL="0">
              <a:buNone/>
            </a:pPr>
            <a:endParaRPr lang="en-US" dirty="0"/>
          </a:p>
        </p:txBody>
      </p:sp>
      <p:sp>
        <p:nvSpPr>
          <p:cNvPr id="31" name="Text 29"/>
          <p:cNvSpPr/>
          <p:nvPr/>
        </p:nvSpPr>
        <p:spPr>
          <a:xfrm>
            <a:off x="2454912" y="2732633"/>
            <a:ext cx="1837596" cy="171450"/>
          </a:xfrm>
          <a:prstGeom prst="rect">
            <a:avLst/>
          </a:prstGeom>
          <a:noFill/>
          <a:ln/>
        </p:spPr>
        <p:txBody>
          <a:bodyPr wrap="square" lIns="0" tIns="0" rIns="0" bIns="0" rtlCol="0" anchor="t"/>
          <a:lstStyle/>
          <a:p>
            <a:pPr algn="ctr" indent="0" marL="0">
              <a:buNone/>
            </a:pPr>
            <a:r>
              <a:rPr lang="en-US" sz="900" dirty="0">
                <a:solidFill>
                  <a:srgbClr val="1B2A4A"/>
                </a:solidFill>
                <a:latin typeface="Arial" pitchFamily="34" charset="0"/>
                <a:ea typeface="Arial" pitchFamily="34" charset="-122"/>
                <a:cs typeface="Arial" pitchFamily="34" charset="-120"/>
              </a:rPr>
              <a:t>ロールモデルマップ</a:t>
            </a:r>
            <a:endParaRPr lang="en-US" sz="900" dirty="0"/>
          </a:p>
        </p:txBody>
      </p:sp>
      <p:sp>
        <p:nvSpPr>
          <p:cNvPr id="32" name="Text 30"/>
          <p:cNvSpPr/>
          <p:nvPr/>
        </p:nvSpPr>
        <p:spPr>
          <a:xfrm>
            <a:off x="4487019" y="2621607"/>
            <a:ext cx="2023765" cy="403027"/>
          </a:xfrm>
          <a:prstGeom prst="roundRect">
            <a:avLst>
              <a:gd name="adj" fmla="val 12605"/>
            </a:avLst>
          </a:prstGeom>
          <a:solidFill>
            <a:srgbClr val="FFF5F0"/>
          </a:solidFill>
          <a:ln w="9525">
            <a:solidFill>
              <a:srgbClr val="E8734A"/>
            </a:solidFill>
          </a:ln>
        </p:spPr>
        <p:txBody>
          <a:bodyPr wrap="square" rtlCol="0" anchor="ctr"/>
          <a:lstStyle/>
          <a:p>
            <a:pPr indent="0" marL="0">
              <a:buNone/>
            </a:pPr>
            <a:endParaRPr lang="en-US" dirty="0"/>
          </a:p>
        </p:txBody>
      </p:sp>
      <p:sp>
        <p:nvSpPr>
          <p:cNvPr id="33" name="Text 31"/>
          <p:cNvSpPr/>
          <p:nvPr/>
        </p:nvSpPr>
        <p:spPr>
          <a:xfrm>
            <a:off x="4580028" y="2732633"/>
            <a:ext cx="1837748" cy="171450"/>
          </a:xfrm>
          <a:prstGeom prst="rect">
            <a:avLst/>
          </a:prstGeom>
          <a:noFill/>
          <a:ln/>
        </p:spPr>
        <p:txBody>
          <a:bodyPr wrap="square" lIns="0" tIns="0" rIns="0" bIns="0" rtlCol="0" anchor="t"/>
          <a:lstStyle/>
          <a:p>
            <a:pPr algn="ctr" indent="0" marL="0">
              <a:buNone/>
            </a:pPr>
            <a:r>
              <a:rPr lang="en-US" sz="900" dirty="0">
                <a:solidFill>
                  <a:srgbClr val="1B2A4A"/>
                </a:solidFill>
                <a:latin typeface="Arial" pitchFamily="34" charset="0"/>
                <a:ea typeface="Arial" pitchFamily="34" charset="-122"/>
                <a:cs typeface="Arial" pitchFamily="34" charset="-120"/>
              </a:rPr>
              <a:t>個人キャリアマップ</a:t>
            </a:r>
            <a:endParaRPr lang="en-US" sz="900" dirty="0"/>
          </a:p>
        </p:txBody>
      </p:sp>
      <p:sp>
        <p:nvSpPr>
          <p:cNvPr id="34" name="Text 32"/>
          <p:cNvSpPr/>
          <p:nvPr/>
        </p:nvSpPr>
        <p:spPr>
          <a:xfrm>
            <a:off x="6612285" y="2621607"/>
            <a:ext cx="2023765" cy="403027"/>
          </a:xfrm>
          <a:prstGeom prst="roundRect">
            <a:avLst>
              <a:gd name="adj" fmla="val 12605"/>
            </a:avLst>
          </a:prstGeom>
          <a:solidFill>
            <a:srgbClr val="FFF5F0"/>
          </a:solidFill>
          <a:ln w="9525">
            <a:solidFill>
              <a:srgbClr val="E8734A"/>
            </a:solidFill>
          </a:ln>
        </p:spPr>
        <p:txBody>
          <a:bodyPr wrap="square" rtlCol="0" anchor="ctr"/>
          <a:lstStyle/>
          <a:p>
            <a:pPr indent="0" marL="0">
              <a:buNone/>
            </a:pPr>
            <a:endParaRPr lang="en-US" dirty="0"/>
          </a:p>
        </p:txBody>
      </p:sp>
      <p:sp>
        <p:nvSpPr>
          <p:cNvPr id="35" name="Text 33"/>
          <p:cNvSpPr/>
          <p:nvPr/>
        </p:nvSpPr>
        <p:spPr>
          <a:xfrm>
            <a:off x="6705293" y="2732633"/>
            <a:ext cx="1837748" cy="171450"/>
          </a:xfrm>
          <a:prstGeom prst="rect">
            <a:avLst/>
          </a:prstGeom>
          <a:noFill/>
          <a:ln/>
        </p:spPr>
        <p:txBody>
          <a:bodyPr wrap="square" lIns="0" tIns="0" rIns="0" bIns="0" rtlCol="0" anchor="t"/>
          <a:lstStyle/>
          <a:p>
            <a:pPr algn="ctr" indent="0" marL="0">
              <a:buNone/>
            </a:pPr>
            <a:r>
              <a:rPr lang="en-US" sz="900" dirty="0">
                <a:solidFill>
                  <a:srgbClr val="1B2A4A"/>
                </a:solidFill>
                <a:latin typeface="Arial" pitchFamily="34" charset="0"/>
                <a:ea typeface="Arial" pitchFamily="34" charset="-122"/>
                <a:cs typeface="Arial" pitchFamily="34" charset="-120"/>
              </a:rPr>
              <a:t>全社員スキルマップ</a:t>
            </a:r>
            <a:endParaRPr lang="en-US" sz="900" dirty="0"/>
          </a:p>
        </p:txBody>
      </p:sp>
      <p:sp>
        <p:nvSpPr>
          <p:cNvPr id="36" name="Text 34"/>
          <p:cNvSpPr/>
          <p:nvPr/>
        </p:nvSpPr>
        <p:spPr>
          <a:xfrm>
            <a:off x="507950" y="3126135"/>
            <a:ext cx="1727002" cy="403027"/>
          </a:xfrm>
          <a:prstGeom prst="roundRect">
            <a:avLst>
              <a:gd name="adj" fmla="val 12605"/>
            </a:avLst>
          </a:prstGeom>
          <a:solidFill>
            <a:srgbClr val="718096"/>
          </a:solidFill>
          <a:ln/>
        </p:spPr>
        <p:txBody>
          <a:bodyPr wrap="square" rtlCol="0" anchor="ctr"/>
          <a:lstStyle/>
          <a:p>
            <a:pPr indent="0" marL="0">
              <a:buNone/>
            </a:pPr>
            <a:endParaRPr lang="en-US" dirty="0"/>
          </a:p>
        </p:txBody>
      </p:sp>
      <p:sp>
        <p:nvSpPr>
          <p:cNvPr id="37" name="Text 35"/>
          <p:cNvSpPr/>
          <p:nvPr/>
        </p:nvSpPr>
        <p:spPr>
          <a:xfrm>
            <a:off x="609451" y="3227636"/>
            <a:ext cx="518109" cy="20002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社内連携</a:t>
            </a:r>
            <a:endParaRPr lang="en-US" sz="1000" dirty="0"/>
          </a:p>
        </p:txBody>
      </p:sp>
      <p:sp>
        <p:nvSpPr>
          <p:cNvPr id="38" name="Text 36"/>
          <p:cNvSpPr/>
          <p:nvPr/>
        </p:nvSpPr>
        <p:spPr>
          <a:xfrm>
            <a:off x="2361902" y="3126135"/>
            <a:ext cx="2023616" cy="403027"/>
          </a:xfrm>
          <a:prstGeom prst="roundRect">
            <a:avLst>
              <a:gd name="adj" fmla="val 12605"/>
            </a:avLst>
          </a:prstGeom>
          <a:solidFill>
            <a:srgbClr val="EDF2F7"/>
          </a:solidFill>
          <a:ln w="9525">
            <a:solidFill>
              <a:srgbClr val="718096"/>
            </a:solidFill>
          </a:ln>
        </p:spPr>
        <p:txBody>
          <a:bodyPr wrap="square" rtlCol="0" anchor="ctr"/>
          <a:lstStyle/>
          <a:p>
            <a:pPr indent="0" marL="0">
              <a:buNone/>
            </a:pPr>
            <a:endParaRPr lang="en-US" dirty="0"/>
          </a:p>
        </p:txBody>
      </p:sp>
      <p:sp>
        <p:nvSpPr>
          <p:cNvPr id="39" name="Text 37"/>
          <p:cNvSpPr/>
          <p:nvPr/>
        </p:nvSpPr>
        <p:spPr>
          <a:xfrm>
            <a:off x="2454912" y="3237161"/>
            <a:ext cx="1837596" cy="171450"/>
          </a:xfrm>
          <a:prstGeom prst="rect">
            <a:avLst/>
          </a:prstGeom>
          <a:noFill/>
          <a:ln/>
        </p:spPr>
        <p:txBody>
          <a:bodyPr wrap="square" lIns="0" tIns="0" rIns="0" bIns="0" rtlCol="0" anchor="t"/>
          <a:lstStyle/>
          <a:p>
            <a:pPr algn="ctr" indent="0" marL="0">
              <a:buNone/>
            </a:pPr>
            <a:r>
              <a:rPr lang="en-US" sz="900" dirty="0">
                <a:solidFill>
                  <a:srgbClr val="4A5568"/>
                </a:solidFill>
                <a:latin typeface="Arial" pitchFamily="34" charset="0"/>
                <a:ea typeface="Arial" pitchFamily="34" charset="-122"/>
                <a:cs typeface="Arial" pitchFamily="34" charset="-120"/>
              </a:rPr>
              <a:t>既存キャリアシステム</a:t>
            </a:r>
            <a:endParaRPr lang="en-US" sz="900" dirty="0"/>
          </a:p>
        </p:txBody>
      </p:sp>
      <p:sp>
        <p:nvSpPr>
          <p:cNvPr id="40" name="Text 38"/>
          <p:cNvSpPr/>
          <p:nvPr/>
        </p:nvSpPr>
        <p:spPr>
          <a:xfrm>
            <a:off x="4487019" y="3126135"/>
            <a:ext cx="2023765" cy="403027"/>
          </a:xfrm>
          <a:prstGeom prst="roundRect">
            <a:avLst>
              <a:gd name="adj" fmla="val 12605"/>
            </a:avLst>
          </a:prstGeom>
          <a:solidFill>
            <a:srgbClr val="EDF2F7"/>
          </a:solidFill>
          <a:ln w="9525">
            <a:solidFill>
              <a:srgbClr val="718096"/>
            </a:solidFill>
          </a:ln>
        </p:spPr>
        <p:txBody>
          <a:bodyPr wrap="square" rtlCol="0" anchor="ctr"/>
          <a:lstStyle/>
          <a:p>
            <a:pPr indent="0" marL="0">
              <a:buNone/>
            </a:pPr>
            <a:endParaRPr lang="en-US" dirty="0"/>
          </a:p>
        </p:txBody>
      </p:sp>
      <p:sp>
        <p:nvSpPr>
          <p:cNvPr id="41" name="Text 39"/>
          <p:cNvSpPr/>
          <p:nvPr/>
        </p:nvSpPr>
        <p:spPr>
          <a:xfrm>
            <a:off x="4580028" y="3237161"/>
            <a:ext cx="1837748" cy="171450"/>
          </a:xfrm>
          <a:prstGeom prst="rect">
            <a:avLst/>
          </a:prstGeom>
          <a:noFill/>
          <a:ln/>
        </p:spPr>
        <p:txBody>
          <a:bodyPr wrap="square" lIns="0" tIns="0" rIns="0" bIns="0" rtlCol="0" anchor="t"/>
          <a:lstStyle/>
          <a:p>
            <a:pPr algn="ctr" indent="0" marL="0">
              <a:buNone/>
            </a:pPr>
            <a:r>
              <a:rPr lang="en-US" sz="900" dirty="0">
                <a:solidFill>
                  <a:srgbClr val="4A5568"/>
                </a:solidFill>
                <a:latin typeface="Arial" pitchFamily="34" charset="0"/>
                <a:ea typeface="Arial" pitchFamily="34" charset="-122"/>
                <a:cs typeface="Arial" pitchFamily="34" charset="-120"/>
              </a:rPr>
              <a:t>人事システム</a:t>
            </a:r>
            <a:endParaRPr lang="en-US" sz="900" dirty="0"/>
          </a:p>
        </p:txBody>
      </p:sp>
      <p:sp>
        <p:nvSpPr>
          <p:cNvPr id="42" name="Text 40"/>
          <p:cNvSpPr/>
          <p:nvPr/>
        </p:nvSpPr>
        <p:spPr>
          <a:xfrm>
            <a:off x="6612285" y="3126135"/>
            <a:ext cx="2023765" cy="403027"/>
          </a:xfrm>
          <a:prstGeom prst="roundRect">
            <a:avLst>
              <a:gd name="adj" fmla="val 12605"/>
            </a:avLst>
          </a:prstGeom>
          <a:solidFill>
            <a:srgbClr val="EDF2F7"/>
          </a:solidFill>
          <a:ln w="9525">
            <a:solidFill>
              <a:srgbClr val="718096"/>
            </a:solidFill>
          </a:ln>
        </p:spPr>
        <p:txBody>
          <a:bodyPr wrap="square" rtlCol="0" anchor="ctr"/>
          <a:lstStyle/>
          <a:p>
            <a:pPr indent="0" marL="0">
              <a:buNone/>
            </a:pPr>
            <a:endParaRPr lang="en-US" dirty="0"/>
          </a:p>
        </p:txBody>
      </p:sp>
      <p:sp>
        <p:nvSpPr>
          <p:cNvPr id="43" name="Text 41"/>
          <p:cNvSpPr/>
          <p:nvPr/>
        </p:nvSpPr>
        <p:spPr>
          <a:xfrm>
            <a:off x="6705293" y="3237161"/>
            <a:ext cx="1837748" cy="171450"/>
          </a:xfrm>
          <a:prstGeom prst="rect">
            <a:avLst/>
          </a:prstGeom>
          <a:noFill/>
          <a:ln/>
        </p:spPr>
        <p:txBody>
          <a:bodyPr wrap="square" lIns="0" tIns="0" rIns="0" bIns="0" rtlCol="0" anchor="t"/>
          <a:lstStyle/>
          <a:p>
            <a:pPr algn="ctr" indent="0" marL="0">
              <a:buNone/>
            </a:pPr>
            <a:r>
              <a:rPr lang="en-US" sz="900" dirty="0">
                <a:solidFill>
                  <a:srgbClr val="4A5568"/>
                </a:solidFill>
                <a:latin typeface="Arial" pitchFamily="34" charset="0"/>
                <a:ea typeface="Arial" pitchFamily="34" charset="-122"/>
                <a:cs typeface="Arial" pitchFamily="34" charset="-120"/>
              </a:rPr>
              <a:t>自社データ連携（将来拡張）</a:t>
            </a:r>
            <a:endParaRPr lang="en-US" sz="900" dirty="0"/>
          </a:p>
        </p:txBody>
      </p:sp>
      <p:sp>
        <p:nvSpPr>
          <p:cNvPr id="44" name="Text 42"/>
          <p:cNvSpPr/>
          <p:nvPr/>
        </p:nvSpPr>
        <p:spPr>
          <a:xfrm>
            <a:off x="507950" y="4819650"/>
            <a:ext cx="8290661" cy="171450"/>
          </a:xfrm>
          <a:prstGeom prst="rect">
            <a:avLst/>
          </a:prstGeom>
          <a:noFill/>
          <a:ln/>
        </p:spPr>
        <p:txBody>
          <a:bodyPr wrap="square" lIns="0" tIns="0" rIns="0" bIns="0" rtlCol="0" anchor="t"/>
          <a:lstStyle/>
          <a:p>
            <a:pPr algn="l" indent="0" marL="0">
              <a:spcAft>
                <a:spcPts val="1200"/>
              </a:spcAft>
              <a:buNone/>
            </a:pPr>
            <a:r>
              <a:rPr lang="en-US" sz="900" dirty="0">
                <a:solidFill>
                  <a:srgbClr val="4A5568"/>
                </a:solidFill>
                <a:latin typeface="Arial" pitchFamily="34" charset="0"/>
                <a:ea typeface="Arial" pitchFamily="34" charset="-122"/>
                <a:cs typeface="Arial" pitchFamily="34" charset="-120"/>
              </a:rPr>
              <a:t>※ 破線は将来連携を示す。既存システムと簡単に繋ぐことができる拡張性のある設計</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885825"/>
          </a:xfrm>
          <a:prstGeom prst="rect">
            <a:avLst/>
          </a:prstGeom>
          <a:solidFill>
            <a:srgbClr val="1B2A4A"/>
          </a:solidFill>
          <a:ln/>
        </p:spPr>
        <p:txBody>
          <a:bodyPr wrap="square" rtlCol="0" anchor="ctr"/>
          <a:lstStyle/>
          <a:p>
            <a:pPr indent="0" marL="0">
              <a:buNone/>
            </a:pPr>
            <a:endParaRPr lang="en-US" dirty="0"/>
          </a:p>
        </p:txBody>
      </p:sp>
      <p:sp>
        <p:nvSpPr>
          <p:cNvPr id="3" name="Text 1"/>
          <p:cNvSpPr/>
          <p:nvPr/>
        </p:nvSpPr>
        <p:spPr>
          <a:xfrm>
            <a:off x="507950" y="228600"/>
            <a:ext cx="8290661" cy="428625"/>
          </a:xfrm>
          <a:prstGeom prst="rect">
            <a:avLst/>
          </a:prstGeom>
          <a:noFill/>
          <a:ln/>
        </p:spPr>
        <p:txBody>
          <a:bodyPr wrap="square" lIns="0" tIns="0" rIns="0" bIns="0" rtlCol="0" anchor="t"/>
          <a:lstStyle/>
          <a:p>
            <a:pPr algn="l" indent="0" marL="0">
              <a:buNone/>
            </a:pPr>
            <a:r>
              <a:rPr lang="en-US" sz="2200" b="1" dirty="0">
                <a:solidFill>
                  <a:srgbClr val="FFFFFF"/>
                </a:solidFill>
                <a:latin typeface="Arial" pitchFamily="34" charset="0"/>
                <a:ea typeface="Arial" pitchFamily="34" charset="-122"/>
                <a:cs typeface="Arial" pitchFamily="34" charset="-120"/>
              </a:rPr>
              <a:t>期待される効果</a:t>
            </a:r>
            <a:endParaRPr lang="en-US" sz="2200" dirty="0"/>
          </a:p>
        </p:txBody>
      </p:sp>
      <p:sp>
        <p:nvSpPr>
          <p:cNvPr id="4" name="Text 2"/>
          <p:cNvSpPr/>
          <p:nvPr/>
        </p:nvSpPr>
        <p:spPr>
          <a:xfrm>
            <a:off x="507950" y="2348061"/>
            <a:ext cx="1879550" cy="1333202"/>
          </a:xfrm>
          <a:prstGeom prst="roundRect">
            <a:avLst>
              <a:gd name="adj" fmla="val 7621"/>
            </a:avLst>
          </a:prstGeom>
          <a:solidFill>
            <a:srgbClr val="EDF2F7"/>
          </a:solidFill>
          <a:ln/>
        </p:spPr>
        <p:txBody>
          <a:bodyPr wrap="square" rtlCol="0" anchor="ctr"/>
          <a:lstStyle/>
          <a:p>
            <a:pPr indent="0" marL="0">
              <a:buNone/>
            </a:pPr>
            <a:endParaRPr lang="en-US" dirty="0"/>
          </a:p>
        </p:txBody>
      </p:sp>
      <p:sp>
        <p:nvSpPr>
          <p:cNvPr id="5" name="Shape 3"/>
          <p:cNvSpPr/>
          <p:nvPr/>
        </p:nvSpPr>
        <p:spPr>
          <a:xfrm>
            <a:off x="507950" y="3657451"/>
            <a:ext cx="1879550" cy="0"/>
          </a:xfrm>
          <a:prstGeom prst="line">
            <a:avLst/>
          </a:prstGeom>
          <a:noFill/>
          <a:ln w="47625">
            <a:solidFill>
              <a:srgbClr val="00A99D"/>
            </a:solidFill>
            <a:prstDash val="solid"/>
          </a:ln>
        </p:spPr>
      </p:sp>
      <p:sp>
        <p:nvSpPr>
          <p:cNvPr id="6" name="Text 4"/>
          <p:cNvSpPr/>
          <p:nvPr/>
        </p:nvSpPr>
        <p:spPr>
          <a:xfrm>
            <a:off x="748134" y="2601962"/>
            <a:ext cx="1399184" cy="257175"/>
          </a:xfrm>
          <a:prstGeom prst="rect">
            <a:avLst/>
          </a:prstGeom>
          <a:noFill/>
          <a:ln/>
        </p:spPr>
        <p:txBody>
          <a:bodyPr wrap="square" lIns="0" tIns="0" rIns="0" bIns="0" rtlCol="0" anchor="t"/>
          <a:lstStyle/>
          <a:p>
            <a:pPr algn="ctr" indent="0" marL="0">
              <a:spcAft>
                <a:spcPts val="800"/>
              </a:spcAft>
              <a:buNone/>
            </a:pPr>
            <a:r>
              <a:rPr lang="en-US" sz="1400" b="1" dirty="0">
                <a:solidFill>
                  <a:srgbClr val="00A99D"/>
                </a:solidFill>
                <a:latin typeface="Arial" pitchFamily="34" charset="0"/>
                <a:ea typeface="Arial" pitchFamily="34" charset="-122"/>
                <a:cs typeface="Arial" pitchFamily="34" charset="-120"/>
              </a:rPr>
              <a:t>離職率</a:t>
            </a:r>
            <a:endParaRPr lang="en-US" sz="1400" dirty="0"/>
          </a:p>
        </p:txBody>
      </p:sp>
      <p:sp>
        <p:nvSpPr>
          <p:cNvPr id="7" name="Text 5"/>
          <p:cNvSpPr/>
          <p:nvPr/>
        </p:nvSpPr>
        <p:spPr>
          <a:xfrm>
            <a:off x="748134" y="2960638"/>
            <a:ext cx="1399184" cy="419100"/>
          </a:xfrm>
          <a:prstGeom prst="rect">
            <a:avLst/>
          </a:prstGeom>
          <a:noFill/>
          <a:ln/>
        </p:spPr>
        <p:txBody>
          <a:bodyPr wrap="square" lIns="0" tIns="0" rIns="0" bIns="0" rtlCol="0" anchor="t"/>
          <a:lstStyle/>
          <a:p>
            <a:pPr algn="ctr" indent="0" marL="0">
              <a:buNone/>
            </a:pPr>
            <a:r>
              <a:rPr lang="en-US" sz="1100" dirty="0">
                <a:solidFill>
                  <a:srgbClr val="1B2A4A"/>
                </a:solidFill>
                <a:latin typeface="Arial" pitchFamily="34" charset="0"/>
                <a:ea typeface="Arial" pitchFamily="34" charset="-122"/>
                <a:cs typeface="Arial" pitchFamily="34" charset="-120"/>
              </a:rPr>
              <a:t>「可能性が見えない」離職の削減</a:t>
            </a:r>
            <a:endParaRPr lang="en-US" sz="1100" dirty="0"/>
          </a:p>
        </p:txBody>
      </p:sp>
      <p:sp>
        <p:nvSpPr>
          <p:cNvPr id="8" name="Text 6"/>
          <p:cNvSpPr/>
          <p:nvPr/>
        </p:nvSpPr>
        <p:spPr>
          <a:xfrm>
            <a:off x="2590651" y="2219474"/>
            <a:ext cx="1879699" cy="1590377"/>
          </a:xfrm>
          <a:prstGeom prst="roundRect">
            <a:avLst>
              <a:gd name="adj" fmla="val 6388"/>
            </a:avLst>
          </a:prstGeom>
          <a:solidFill>
            <a:srgbClr val="EDF2F7"/>
          </a:solidFill>
          <a:ln/>
        </p:spPr>
        <p:txBody>
          <a:bodyPr wrap="square" rtlCol="0" anchor="ctr"/>
          <a:lstStyle/>
          <a:p>
            <a:pPr indent="0" marL="0">
              <a:buNone/>
            </a:pPr>
            <a:endParaRPr lang="en-US" dirty="0"/>
          </a:p>
        </p:txBody>
      </p:sp>
      <p:sp>
        <p:nvSpPr>
          <p:cNvPr id="9" name="Shape 7"/>
          <p:cNvSpPr/>
          <p:nvPr/>
        </p:nvSpPr>
        <p:spPr>
          <a:xfrm>
            <a:off x="2590651" y="3786039"/>
            <a:ext cx="1879699" cy="0"/>
          </a:xfrm>
          <a:prstGeom prst="line">
            <a:avLst/>
          </a:prstGeom>
          <a:noFill/>
          <a:ln w="47625">
            <a:solidFill>
              <a:srgbClr val="2B6CB0"/>
            </a:solidFill>
            <a:prstDash val="solid"/>
          </a:ln>
        </p:spPr>
      </p:sp>
      <p:sp>
        <p:nvSpPr>
          <p:cNvPr id="10" name="Text 8"/>
          <p:cNvSpPr/>
          <p:nvPr/>
        </p:nvSpPr>
        <p:spPr>
          <a:xfrm>
            <a:off x="2830833" y="2473375"/>
            <a:ext cx="1399336" cy="514350"/>
          </a:xfrm>
          <a:prstGeom prst="rect">
            <a:avLst/>
          </a:prstGeom>
          <a:noFill/>
          <a:ln/>
        </p:spPr>
        <p:txBody>
          <a:bodyPr wrap="square" lIns="0" tIns="0" rIns="0" bIns="0" rtlCol="0" anchor="t"/>
          <a:lstStyle/>
          <a:p>
            <a:pPr algn="ctr" indent="0" marL="0">
              <a:spcAft>
                <a:spcPts val="800"/>
              </a:spcAft>
              <a:buNone/>
            </a:pPr>
            <a:r>
              <a:rPr lang="en-US" sz="1400" b="1" dirty="0">
                <a:solidFill>
                  <a:srgbClr val="2B6CB0"/>
                </a:solidFill>
                <a:latin typeface="Arial" pitchFamily="34" charset="0"/>
                <a:ea typeface="Arial" pitchFamily="34" charset="-122"/>
                <a:cs typeface="Arial" pitchFamily="34" charset="-120"/>
              </a:rPr>
              <a:t>エンゲージメント</a:t>
            </a:r>
            <a:endParaRPr lang="en-US" sz="1400" dirty="0"/>
          </a:p>
        </p:txBody>
      </p:sp>
      <p:sp>
        <p:nvSpPr>
          <p:cNvPr id="11" name="Text 9"/>
          <p:cNvSpPr/>
          <p:nvPr/>
        </p:nvSpPr>
        <p:spPr>
          <a:xfrm>
            <a:off x="2830833" y="3089225"/>
            <a:ext cx="1399336" cy="419100"/>
          </a:xfrm>
          <a:prstGeom prst="rect">
            <a:avLst/>
          </a:prstGeom>
          <a:noFill/>
          <a:ln/>
        </p:spPr>
        <p:txBody>
          <a:bodyPr wrap="square" lIns="0" tIns="0" rIns="0" bIns="0" rtlCol="0" anchor="t"/>
          <a:lstStyle/>
          <a:p>
            <a:pPr algn="ctr" indent="0" marL="0">
              <a:buNone/>
            </a:pPr>
            <a:r>
              <a:rPr lang="en-US" sz="1100" dirty="0">
                <a:solidFill>
                  <a:srgbClr val="1B2A4A"/>
                </a:solidFill>
                <a:latin typeface="Arial" pitchFamily="34" charset="0"/>
                <a:ea typeface="Arial" pitchFamily="34" charset="-122"/>
                <a:cs typeface="Arial" pitchFamily="34" charset="-120"/>
              </a:rPr>
              <a:t>キャリア展望の明確化による向上</a:t>
            </a:r>
            <a:endParaRPr lang="en-US" sz="1100" dirty="0"/>
          </a:p>
        </p:txBody>
      </p:sp>
      <p:sp>
        <p:nvSpPr>
          <p:cNvPr id="12" name="Text 10"/>
          <p:cNvSpPr/>
          <p:nvPr/>
        </p:nvSpPr>
        <p:spPr>
          <a:xfrm>
            <a:off x="4673501" y="2348061"/>
            <a:ext cx="1879699" cy="1333202"/>
          </a:xfrm>
          <a:prstGeom prst="roundRect">
            <a:avLst>
              <a:gd name="adj" fmla="val 7621"/>
            </a:avLst>
          </a:prstGeom>
          <a:solidFill>
            <a:srgbClr val="EDF2F7"/>
          </a:solidFill>
          <a:ln/>
        </p:spPr>
        <p:txBody>
          <a:bodyPr wrap="square" rtlCol="0" anchor="ctr"/>
          <a:lstStyle/>
          <a:p>
            <a:pPr indent="0" marL="0">
              <a:buNone/>
            </a:pPr>
            <a:endParaRPr lang="en-US" dirty="0"/>
          </a:p>
        </p:txBody>
      </p:sp>
      <p:sp>
        <p:nvSpPr>
          <p:cNvPr id="13" name="Shape 11"/>
          <p:cNvSpPr/>
          <p:nvPr/>
        </p:nvSpPr>
        <p:spPr>
          <a:xfrm>
            <a:off x="4673501" y="3657451"/>
            <a:ext cx="1879699" cy="0"/>
          </a:xfrm>
          <a:prstGeom prst="line">
            <a:avLst/>
          </a:prstGeom>
          <a:noFill/>
          <a:ln w="47625">
            <a:solidFill>
              <a:srgbClr val="E8734A"/>
            </a:solidFill>
            <a:prstDash val="solid"/>
          </a:ln>
        </p:spPr>
      </p:sp>
      <p:sp>
        <p:nvSpPr>
          <p:cNvPr id="14" name="Text 12"/>
          <p:cNvSpPr/>
          <p:nvPr/>
        </p:nvSpPr>
        <p:spPr>
          <a:xfrm>
            <a:off x="4913683" y="2601962"/>
            <a:ext cx="1399336" cy="257175"/>
          </a:xfrm>
          <a:prstGeom prst="rect">
            <a:avLst/>
          </a:prstGeom>
          <a:noFill/>
          <a:ln/>
        </p:spPr>
        <p:txBody>
          <a:bodyPr wrap="square" lIns="0" tIns="0" rIns="0" bIns="0" rtlCol="0" anchor="t"/>
          <a:lstStyle/>
          <a:p>
            <a:pPr algn="ctr" indent="0" marL="0">
              <a:spcAft>
                <a:spcPts val="800"/>
              </a:spcAft>
              <a:buNone/>
            </a:pPr>
            <a:r>
              <a:rPr lang="en-US" sz="1400" b="1" dirty="0">
                <a:solidFill>
                  <a:srgbClr val="E8734A"/>
                </a:solidFill>
                <a:latin typeface="Arial" pitchFamily="34" charset="0"/>
                <a:ea typeface="Arial" pitchFamily="34" charset="-122"/>
                <a:cs typeface="Arial" pitchFamily="34" charset="-120"/>
              </a:rPr>
              <a:t>人事工数</a:t>
            </a:r>
            <a:endParaRPr lang="en-US" sz="1400" dirty="0"/>
          </a:p>
        </p:txBody>
      </p:sp>
      <p:sp>
        <p:nvSpPr>
          <p:cNvPr id="15" name="Text 13"/>
          <p:cNvSpPr/>
          <p:nvPr/>
        </p:nvSpPr>
        <p:spPr>
          <a:xfrm>
            <a:off x="4913683" y="2960638"/>
            <a:ext cx="1399336" cy="419100"/>
          </a:xfrm>
          <a:prstGeom prst="rect">
            <a:avLst/>
          </a:prstGeom>
          <a:noFill/>
          <a:ln/>
        </p:spPr>
        <p:txBody>
          <a:bodyPr wrap="square" lIns="0" tIns="0" rIns="0" bIns="0" rtlCol="0" anchor="t"/>
          <a:lstStyle/>
          <a:p>
            <a:pPr algn="ctr" indent="0" marL="0">
              <a:buNone/>
            </a:pPr>
            <a:r>
              <a:rPr lang="en-US" sz="1100" dirty="0">
                <a:solidFill>
                  <a:srgbClr val="1B2A4A"/>
                </a:solidFill>
                <a:latin typeface="Arial" pitchFamily="34" charset="0"/>
                <a:ea typeface="Arial" pitchFamily="34" charset="-122"/>
                <a:cs typeface="Arial" pitchFamily="34" charset="-120"/>
              </a:rPr>
              <a:t>人員配置・マッチングの自動化</a:t>
            </a:r>
            <a:endParaRPr lang="en-US" sz="1100" dirty="0"/>
          </a:p>
        </p:txBody>
      </p:sp>
      <p:sp>
        <p:nvSpPr>
          <p:cNvPr id="16" name="Text 14"/>
          <p:cNvSpPr/>
          <p:nvPr/>
        </p:nvSpPr>
        <p:spPr>
          <a:xfrm>
            <a:off x="6756350" y="2348061"/>
            <a:ext cx="1879699" cy="1333202"/>
          </a:xfrm>
          <a:prstGeom prst="roundRect">
            <a:avLst>
              <a:gd name="adj" fmla="val 7621"/>
            </a:avLst>
          </a:prstGeom>
          <a:solidFill>
            <a:srgbClr val="EDF2F7"/>
          </a:solidFill>
          <a:ln/>
        </p:spPr>
        <p:txBody>
          <a:bodyPr wrap="square" rtlCol="0" anchor="ctr"/>
          <a:lstStyle/>
          <a:p>
            <a:pPr indent="0" marL="0">
              <a:buNone/>
            </a:pPr>
            <a:endParaRPr lang="en-US" dirty="0"/>
          </a:p>
        </p:txBody>
      </p:sp>
      <p:sp>
        <p:nvSpPr>
          <p:cNvPr id="17" name="Shape 15"/>
          <p:cNvSpPr/>
          <p:nvPr/>
        </p:nvSpPr>
        <p:spPr>
          <a:xfrm>
            <a:off x="6756350" y="3657451"/>
            <a:ext cx="1879699" cy="0"/>
          </a:xfrm>
          <a:prstGeom prst="line">
            <a:avLst/>
          </a:prstGeom>
          <a:noFill/>
          <a:ln w="47625">
            <a:solidFill>
              <a:srgbClr val="9F7AEA"/>
            </a:solidFill>
            <a:prstDash val="solid"/>
          </a:ln>
        </p:spPr>
      </p:sp>
      <p:sp>
        <p:nvSpPr>
          <p:cNvPr id="18" name="Text 16"/>
          <p:cNvSpPr/>
          <p:nvPr/>
        </p:nvSpPr>
        <p:spPr>
          <a:xfrm>
            <a:off x="6996532" y="2601962"/>
            <a:ext cx="1399336" cy="257175"/>
          </a:xfrm>
          <a:prstGeom prst="rect">
            <a:avLst/>
          </a:prstGeom>
          <a:noFill/>
          <a:ln/>
        </p:spPr>
        <p:txBody>
          <a:bodyPr wrap="square" lIns="0" tIns="0" rIns="0" bIns="0" rtlCol="0" anchor="t"/>
          <a:lstStyle/>
          <a:p>
            <a:pPr algn="ctr" indent="0" marL="0">
              <a:spcAft>
                <a:spcPts val="800"/>
              </a:spcAft>
              <a:buNone/>
            </a:pPr>
            <a:r>
              <a:rPr lang="en-US" sz="1400" b="1" dirty="0">
                <a:solidFill>
                  <a:srgbClr val="9F7AEA"/>
                </a:solidFill>
                <a:latin typeface="Arial" pitchFamily="34" charset="0"/>
                <a:ea typeface="Arial" pitchFamily="34" charset="-122"/>
                <a:cs typeface="Arial" pitchFamily="34" charset="-120"/>
              </a:rPr>
              <a:t>組織流動性</a:t>
            </a:r>
            <a:endParaRPr lang="en-US" sz="1400" dirty="0"/>
          </a:p>
        </p:txBody>
      </p:sp>
      <p:sp>
        <p:nvSpPr>
          <p:cNvPr id="19" name="Text 17"/>
          <p:cNvSpPr/>
          <p:nvPr/>
        </p:nvSpPr>
        <p:spPr>
          <a:xfrm>
            <a:off x="6996532" y="2960638"/>
            <a:ext cx="1399336" cy="419100"/>
          </a:xfrm>
          <a:prstGeom prst="rect">
            <a:avLst/>
          </a:prstGeom>
          <a:noFill/>
          <a:ln/>
        </p:spPr>
        <p:txBody>
          <a:bodyPr wrap="square" lIns="0" tIns="0" rIns="0" bIns="0" rtlCol="0" anchor="t"/>
          <a:lstStyle/>
          <a:p>
            <a:pPr algn="ctr" indent="0" marL="0">
              <a:buNone/>
            </a:pPr>
            <a:r>
              <a:rPr lang="en-US" sz="1100" dirty="0">
                <a:solidFill>
                  <a:srgbClr val="1B2A4A"/>
                </a:solidFill>
                <a:latin typeface="Arial" pitchFamily="34" charset="0"/>
                <a:ea typeface="Arial" pitchFamily="34" charset="-122"/>
                <a:cs typeface="Arial" pitchFamily="34" charset="-120"/>
              </a:rPr>
              <a:t>異動ハードル低下、適材適所の実現</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2349550" y="1393924"/>
            <a:ext cx="0" cy="1193750"/>
          </a:xfrm>
          <a:prstGeom prst="line">
            <a:avLst/>
          </a:prstGeom>
          <a:noFill/>
          <a:ln w="76200">
            <a:solidFill>
              <a:srgbClr val="00A99D"/>
            </a:solidFill>
            <a:prstDash val="solid"/>
          </a:ln>
        </p:spPr>
      </p:sp>
      <p:sp>
        <p:nvSpPr>
          <p:cNvPr id="3" name="Text 1"/>
          <p:cNvSpPr/>
          <p:nvPr/>
        </p:nvSpPr>
        <p:spPr>
          <a:xfrm>
            <a:off x="2641550" y="1393924"/>
            <a:ext cx="4274820" cy="571500"/>
          </a:xfrm>
          <a:prstGeom prst="rect">
            <a:avLst/>
          </a:prstGeom>
          <a:noFill/>
          <a:ln/>
        </p:spPr>
        <p:txBody>
          <a:bodyPr wrap="square" lIns="0" tIns="0" rIns="0" bIns="0" rtlCol="0" anchor="t"/>
          <a:lstStyle/>
          <a:p>
            <a:pPr algn="l" indent="0" marL="0">
              <a:spcAft>
                <a:spcPts val="400"/>
              </a:spcAft>
              <a:buNone/>
            </a:pPr>
            <a:r>
              <a:rPr lang="en-US" sz="3000" b="1" dirty="0">
                <a:solidFill>
                  <a:srgbClr val="FFFFFF"/>
                </a:solidFill>
                <a:latin typeface="Arial" pitchFamily="34" charset="0"/>
                <a:ea typeface="Arial" pitchFamily="34" charset="-122"/>
                <a:cs typeface="Arial" pitchFamily="34" charset="-120"/>
              </a:rPr>
              <a:t>半径5mの外に、</a:t>
            </a:r>
            <a:endParaRPr lang="en-US" sz="3000" dirty="0"/>
          </a:p>
        </p:txBody>
      </p:sp>
      <p:sp>
        <p:nvSpPr>
          <p:cNvPr id="4" name="Text 2"/>
          <p:cNvSpPr/>
          <p:nvPr/>
        </p:nvSpPr>
        <p:spPr>
          <a:xfrm>
            <a:off x="2641550" y="2016175"/>
            <a:ext cx="4274820" cy="571500"/>
          </a:xfrm>
          <a:prstGeom prst="rect">
            <a:avLst/>
          </a:prstGeom>
          <a:noFill/>
          <a:ln/>
        </p:spPr>
        <p:txBody>
          <a:bodyPr wrap="square" lIns="0" tIns="0" rIns="0" bIns="0" rtlCol="0" anchor="t"/>
          <a:lstStyle/>
          <a:p>
            <a:pPr algn="l" indent="0" marL="0">
              <a:buNone/>
            </a:pPr>
            <a:r>
              <a:rPr lang="en-US" sz="3000" b="1" dirty="0">
                <a:solidFill>
                  <a:srgbClr val="FFFFFF"/>
                </a:solidFill>
                <a:latin typeface="Arial" pitchFamily="34" charset="0"/>
                <a:ea typeface="Arial" pitchFamily="34" charset="-122"/>
                <a:cs typeface="Arial" pitchFamily="34" charset="-120"/>
              </a:rPr>
              <a:t>あなたのキャリアがある</a:t>
            </a:r>
            <a:endParaRPr lang="en-US" sz="3000" dirty="0"/>
          </a:p>
        </p:txBody>
      </p:sp>
      <p:sp>
        <p:nvSpPr>
          <p:cNvPr id="5" name="Text 3"/>
          <p:cNvSpPr/>
          <p:nvPr/>
        </p:nvSpPr>
        <p:spPr>
          <a:xfrm>
            <a:off x="3439120" y="2968675"/>
            <a:ext cx="2311075" cy="209550"/>
          </a:xfrm>
          <a:prstGeom prst="rect">
            <a:avLst/>
          </a:prstGeom>
          <a:noFill/>
          <a:ln/>
        </p:spPr>
        <p:txBody>
          <a:bodyPr wrap="square" lIns="0" tIns="0" rIns="0" bIns="0" rtlCol="0" anchor="t"/>
          <a:lstStyle/>
          <a:p>
            <a:pPr algn="l" indent="0" marL="0">
              <a:spcAft>
                <a:spcPts val="800"/>
              </a:spcAft>
              <a:buNone/>
            </a:pPr>
            <a:r>
              <a:rPr lang="en-US" sz="1400" dirty="0">
                <a:solidFill>
                  <a:srgbClr val="FFFFFF">
                    <a:alpha val="80000"/>
                  </a:srgbClr>
                </a:solidFill>
                <a:latin typeface="Arial" pitchFamily="34" charset="0"/>
                <a:ea typeface="Arial" pitchFamily="34" charset="-122"/>
                <a:cs typeface="Arial" pitchFamily="34" charset="-120"/>
              </a:rPr>
              <a:t>YourCompany Career Nexus</a:t>
            </a:r>
            <a:endParaRPr lang="en-US" sz="1400" dirty="0"/>
          </a:p>
        </p:txBody>
      </p:sp>
      <p:sp>
        <p:nvSpPr>
          <p:cNvPr id="6" name="Text 4"/>
          <p:cNvSpPr/>
          <p:nvPr/>
        </p:nvSpPr>
        <p:spPr>
          <a:xfrm>
            <a:off x="2925663" y="3279725"/>
            <a:ext cx="3358527" cy="209550"/>
          </a:xfrm>
          <a:prstGeom prst="rect">
            <a:avLst/>
          </a:prstGeom>
          <a:noFill/>
          <a:ln/>
        </p:spPr>
        <p:txBody>
          <a:bodyPr wrap="square" lIns="0" tIns="0" rIns="0" bIns="0" rtlCol="0" anchor="t"/>
          <a:lstStyle/>
          <a:p>
            <a:pPr algn="l" indent="0" marL="0">
              <a:buNone/>
            </a:pPr>
            <a:r>
              <a:rPr lang="en-US" sz="1100" dirty="0">
                <a:solidFill>
                  <a:srgbClr val="FFFFFF">
                    <a:alpha val="67000"/>
                  </a:srgbClr>
                </a:solidFill>
                <a:latin typeface="Arial" pitchFamily="34" charset="0"/>
                <a:ea typeface="Arial" pitchFamily="34" charset="-122"/>
                <a:cs typeface="Arial" pitchFamily="34" charset="-120"/>
              </a:rPr>
              <a:t>すべての社員に"自社の中のまだ見ぬ可能性"を届ける</a:t>
            </a:r>
            <a:endParaRPr lang="en-US" sz="1100" dirty="0"/>
          </a:p>
        </p:txBody>
      </p:sp>
      <p:sp>
        <p:nvSpPr>
          <p:cNvPr id="7" name="Text 5"/>
          <p:cNvSpPr/>
          <p:nvPr/>
        </p:nvSpPr>
        <p:spPr>
          <a:xfrm>
            <a:off x="2489597" y="3540026"/>
            <a:ext cx="4247951" cy="209550"/>
          </a:xfrm>
          <a:prstGeom prst="rect">
            <a:avLst/>
          </a:prstGeom>
          <a:noFill/>
          <a:ln/>
        </p:spPr>
        <p:txBody>
          <a:bodyPr wrap="square" lIns="0" tIns="0" rIns="0" bIns="0" rtlCol="0" anchor="t"/>
          <a:lstStyle/>
          <a:p>
            <a:pPr algn="l" indent="0" marL="0">
              <a:spcBef>
                <a:spcPts val="400"/>
              </a:spcBef>
              <a:buNone/>
            </a:pPr>
            <a:r>
              <a:rPr lang="en-US" sz="1100" dirty="0">
                <a:solidFill>
                  <a:srgbClr val="FFFFFF">
                    <a:alpha val="67000"/>
                  </a:srgbClr>
                </a:solidFill>
                <a:latin typeface="Arial" pitchFamily="34" charset="0"/>
                <a:ea typeface="Arial" pitchFamily="34" charset="-122"/>
                <a:cs typeface="Arial" pitchFamily="34" charset="-120"/>
              </a:rPr>
              <a:t>個人のキャリア実現と組織の活性化を同時に叶えるAIエージェント</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YourCompany Career Nexus - Detailed</dc:title>
  <dc:subject>PptxGenJS Presentation</dc:subject>
  <dc:creator>Career Nexus Team</dc:creator>
  <cp:lastModifiedBy>Career Nexus Team</cp:lastModifiedBy>
  <cp:revision>1</cp:revision>
  <dcterms:created xsi:type="dcterms:W3CDTF">2026-04-22T10:34:30Z</dcterms:created>
  <dcterms:modified xsi:type="dcterms:W3CDTF">2026-04-22T10:34:30Z</dcterms:modified>
</cp:coreProperties>
</file>