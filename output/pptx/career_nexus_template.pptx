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63" r:id="rId13"/>
    <p:sldId id="259" r:id="rId9"/>
    <p:sldId id="264" r:id="rId14"/>
    <p:sldId id="260" r:id="rId10"/>
    <p:sldId id="262" r:id="rId12"/>
    <p:sldId id="268" r:id="rId21"/>
    <p:sldId id="258" r:id="rId8"/>
    <p:sldId id="267" r:id="rId20"/>
    <p:sldId id="266" r:id="rId16"/>
  </p:sldIdLst>
  <p:sldSz cx="18288000" cy="10287000"/>
  <p:notesSz cx="6858000" cy="9144000"/>
  <p:embeddedFontLst>
    <p:embeddedFont>
      <p:font typeface="Tex Gyre Termes Bold" charset="1" panose="00000800000000000000"/>
      <p:regular r:id="rId17"/>
    </p:embeddedFont>
    <p:embeddedFont>
      <p:font typeface="Open Sauce" charset="1" panose="00000500000000000000"/>
      <p:regular r:id="rId18"/>
    </p:embeddedFont>
    <p:embeddedFont>
      <p:font typeface="Open Sauce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4.xml"/><Relationship Id="rId10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3.xml"/><Relationship Id="rId14" Type="http://schemas.openxmlformats.org/officeDocument/2006/relationships/slide" Target="slides/slide5.xml"/><Relationship Id="rId16" Type="http://schemas.openxmlformats.org/officeDocument/2006/relationships/slide" Target="slides/slide1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slide" Target="slides/slide10.xml"/><Relationship Id="rId21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svg"/><Relationship Id="rId6" Type="http://schemas.openxmlformats.org/officeDocument/2006/relationships/image" Target="../media/image4.svg"/><Relationship Id="rId7" Type="http://schemas.openxmlformats.org/officeDocument/2006/relationships/image" Target="../media/image6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975" y="895350"/>
            <a:ext cx="6386155" cy="345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lnSpc>
                <a:spcPts val="10000"/>
              </a:lnSpc>
              <a:buNone/>
            </a:pPr>
            <a:r>
              <a:rPr b="1" sz="12000">
                <a:solidFill>
                  <a:srgbClr val="31220C"/>
                </a:solidFill>
              </a:rPr>
              <a:t>Career Nexus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975" y="4557743"/>
            <a:ext cx="1004153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sz="2799">
                <a:solidFill>
                  <a:srgbClr val="31220C"/>
                </a:solidFill>
              </a:rPr>
              <a:t>あなたのキャリアの選択肢、"半径5m"で決めていませんか？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YourCompany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2975" y="8916987"/>
            <a:ext cx="1004153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AI Career Agent for Your Company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975" y="1079499"/>
            <a:ext cx="6386155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6400"/>
              </a:lnSpc>
            </a:pPr>
            <a:r>
              <a:rPr b="1" sz="8000">
                <a:solidFill>
                  <a:srgbClr val="31220C"/>
                </a:solidFill>
              </a:rPr>
              <a:t>課題提起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975" y="2921032"/>
            <a:ext cx="10041539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600"/>
              </a:lnSpc>
              <a:spcBef>
                <a:spcPct val="0"/>
              </a:spcBef>
            </a:pPr>
            <a:r>
              <a:rPr b="1" sz="2400">
                <a:solidFill>
                  <a:srgbClr val="31220C"/>
                </a:solidFill>
              </a:rPr>
              <a:t>大企業なのに"自分の周りしか見えない" ― ロールモデル不在、やりたいことと違う、部署の外が見えない、異動が期待と違った。辞める人の多くは会社が嫌いなのではなく「可能性が見えない」から辞めている。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YourCompany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942975" y="5288312"/>
            <a:ext cx="10041539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lnSpc>
                <a:spcPts val="3200"/>
              </a:lnSpc>
              <a:buNone/>
            </a:pPr>
            <a:r>
              <a:rPr sz="1800">
                <a:solidFill>
                  <a:srgbClr val="31220C"/>
                </a:solidFill>
              </a:rPr>
              <a:t>大卒3年以内離職率 32-34%（大企業でも25-27%）。若手離職理由の上位は「仕事のミスマッチ（25-30%）」「キャリアの見通し不安（25-28%）」。日本の熱意ある社員はわずか5-6%で世界最低水準（Gallup 2023）。新卒1人の離職コストは約150-200万円。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942975" y="1079499"/>
            <a:ext cx="8919160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6400"/>
              </a:lnSpc>
            </a:pPr>
            <a:r>
              <a:rPr b="1" sz="8000">
                <a:solidFill>
                  <a:srgbClr val="31220C"/>
                </a:solidFill>
              </a:rPr>
              <a:t>数字で見る課題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YourCompany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53849" y="3363146"/>
            <a:ext cx="366079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200">
                <a:solidFill>
                  <a:srgbClr val="31220C"/>
                </a:solidFill>
              </a:rPr>
              <a:t>離職率 32-34%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3849" y="4244526"/>
            <a:ext cx="3660793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sz="1600">
                <a:solidFill>
                  <a:srgbClr val="31220C"/>
                </a:solidFill>
              </a:rPr>
              <a:t>大卒3年以内の離職率。3人に1人が辞める。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08420" y="3363146"/>
            <a:ext cx="460878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200">
                <a:solidFill>
                  <a:srgbClr val="31220C"/>
                </a:solidFill>
              </a:rPr>
              <a:t>熱意ある社員 5-6%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08420" y="4244526"/>
            <a:ext cx="4608781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sz="1600">
                <a:solidFill>
                  <a:srgbClr val="31220C"/>
                </a:solidFill>
              </a:rPr>
              <a:t>世界140カ国中で最低水準（Gallup 2023）。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53849" y="6742005"/>
            <a:ext cx="366079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200">
                <a:solidFill>
                  <a:srgbClr val="31220C"/>
                </a:solidFill>
              </a:rPr>
              <a:t>離職理由TOP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3849" y="7623385"/>
            <a:ext cx="3660793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sz="1600">
                <a:solidFill>
                  <a:srgbClr val="31220C"/>
                </a:solidFill>
              </a:rPr>
              <a:t>ミスマッチ25-30%、キャリア不安25-28%。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08420" y="6742005"/>
            <a:ext cx="460878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200">
                <a:solidFill>
                  <a:srgbClr val="31220C"/>
                </a:solidFill>
              </a:rPr>
              <a:t>離職コスト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08420" y="7623385"/>
            <a:ext cx="4608781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sz="1600">
                <a:solidFill>
                  <a:srgbClr val="31220C"/>
                </a:solidFill>
              </a:rPr>
              <a:t>1人あたり150-200万円。100人で年間2億円損失。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2975" y="3168030"/>
            <a:ext cx="947761" cy="947761"/>
            <a:chOff x="0" y="0"/>
            <a:chExt cx="1263681" cy="126368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  <p:txBody>
              <a:bodyPr/>
              <a:p/>
            </p:txBody>
          </p:sp>
          <p:sp>
            <p:nvSpPr>
              <p:cNvPr name="TextBox 17" id="1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buNone/>
                <a:lnSpc>
                  <a:spcPts val="3919"/>
                </a:lnSpc>
                <a:spcBef>
                  <a:spcPct val="0"/>
                </a:spcBef>
              </a:pPr>
              <a:r>
                <a:rPr b="1" sz="2400">
                  <a:solidFill>
                    <a:srgbClr val="F6F3EA"/>
                  </a:solidFill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083498" y="3168030"/>
            <a:ext cx="947761" cy="947761"/>
            <a:chOff x="0" y="0"/>
            <a:chExt cx="1263681" cy="126368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  <p:txBody>
              <a:bodyPr/>
              <a:p/>
            </p:txBody>
          </p:sp>
          <p:sp>
            <p:nvSpPr>
              <p:cNvPr name="TextBox 22" id="2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buNone/>
                <a:lnSpc>
                  <a:spcPts val="3919"/>
                </a:lnSpc>
                <a:spcBef>
                  <a:spcPct val="0"/>
                </a:spcBef>
              </a:pPr>
              <a:r>
                <a:rPr b="1" sz="2400">
                  <a:solidFill>
                    <a:srgbClr val="F6F3EA"/>
                  </a:solidFill>
                </a:rPr>
                <a:t>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2975" y="6546890"/>
            <a:ext cx="947761" cy="947761"/>
            <a:chOff x="0" y="0"/>
            <a:chExt cx="1263681" cy="126368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  <p:txBody>
              <a:bodyPr/>
              <a:p/>
            </p:txBody>
          </p:sp>
          <p:sp>
            <p:nvSpPr>
              <p:cNvPr name="TextBox 27" id="2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buNone/>
                <a:lnSpc>
                  <a:spcPts val="3919"/>
                </a:lnSpc>
                <a:spcBef>
                  <a:spcPct val="0"/>
                </a:spcBef>
              </a:pPr>
              <a:r>
                <a:rPr b="1" sz="2400">
                  <a:solidFill>
                    <a:srgbClr val="F6F3EA"/>
                  </a:solidFill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083498" y="6546890"/>
            <a:ext cx="947761" cy="947761"/>
            <a:chOff x="0" y="0"/>
            <a:chExt cx="1263681" cy="1263681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  <p:txBody>
              <a:bodyPr/>
              <a:p/>
            </p:txBody>
          </p:sp>
          <p:sp>
            <p:nvSpPr>
              <p:cNvPr name="TextBox 32" id="3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buNone/>
                <a:lnSpc>
                  <a:spcPts val="3919"/>
                </a:lnSpc>
                <a:spcBef>
                  <a:spcPct val="0"/>
                </a:spcBef>
              </a:pPr>
              <a:r>
                <a:rPr b="1" sz="2400">
                  <a:solidFill>
                    <a:srgbClr val="F6F3EA"/>
                  </a:solidFill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942975" y="3528978"/>
            <a:ext cx="1822657" cy="1822657"/>
          </a:xfrm>
          <a:custGeom>
            <a:avLst/>
            <a:gdLst/>
            <a:ahLst/>
            <a:cxnLst/>
            <a:rect r="r" b="b" t="t" l="l"/>
            <a:pathLst>
              <a:path h="1822657" w="1822657">
                <a:moveTo>
                  <a:pt x="0" y="0"/>
                </a:moveTo>
                <a:lnTo>
                  <a:pt x="1822657" y="0"/>
                </a:lnTo>
                <a:lnTo>
                  <a:pt x="1822657" y="1822657"/>
                </a:lnTo>
                <a:lnTo>
                  <a:pt x="0" y="1822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5639295" y="3528978"/>
            <a:ext cx="1822657" cy="1822657"/>
          </a:xfrm>
          <a:custGeom>
            <a:avLst/>
            <a:gdLst/>
            <a:ahLst/>
            <a:cxnLst/>
            <a:rect r="r" b="b" t="t" l="l"/>
            <a:pathLst>
              <a:path h="1822657" w="1822657">
                <a:moveTo>
                  <a:pt x="0" y="0"/>
                </a:moveTo>
                <a:lnTo>
                  <a:pt x="1822657" y="0"/>
                </a:lnTo>
                <a:lnTo>
                  <a:pt x="1822657" y="1822657"/>
                </a:lnTo>
                <a:lnTo>
                  <a:pt x="0" y="18226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0335615" y="3195330"/>
            <a:ext cx="1954813" cy="2156305"/>
          </a:xfrm>
          <a:custGeom>
            <a:avLst/>
            <a:gdLst/>
            <a:ahLst/>
            <a:cxnLst/>
            <a:rect r="r" b="b" t="t" l="l"/>
            <a:pathLst>
              <a:path h="2156305" w="1954813">
                <a:moveTo>
                  <a:pt x="0" y="0"/>
                </a:moveTo>
                <a:lnTo>
                  <a:pt x="1954813" y="0"/>
                </a:lnTo>
                <a:lnTo>
                  <a:pt x="1954813" y="2156305"/>
                </a:lnTo>
                <a:lnTo>
                  <a:pt x="0" y="2156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942975" y="1079499"/>
            <a:ext cx="8919160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6400"/>
              </a:lnSpc>
            </a:pPr>
            <a:r>
              <a:rPr b="1" sz="6400">
                <a:solidFill>
                  <a:srgbClr val="31220C"/>
                </a:solidFill>
              </a:rPr>
              <a:t>なぜ解決されないのか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YourCompany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297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400">
                <a:solidFill>
                  <a:srgbClr val="31220C"/>
                </a:solidFill>
              </a:rPr>
              <a:t>情報のギャップ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2975" y="7156940"/>
            <a:ext cx="334386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sz="1800">
                <a:solidFill>
                  <a:srgbClr val="31220C"/>
                </a:solidFill>
              </a:rPr>
              <a:t>多様なキャリアを歩む社員がいるのに、その存在・経験を知る手段がない。1on1は上司の視野に依存。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3929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400">
                <a:solidFill>
                  <a:srgbClr val="31220C"/>
                </a:solidFill>
              </a:rPr>
              <a:t>マッチングのギャップ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39295" y="7156940"/>
            <a:ext cx="334386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sz="1800">
                <a:solidFill>
                  <a:srgbClr val="31220C"/>
                </a:solidFill>
              </a:rPr>
              <a:t>社内公募は氷山の一角。公募に出ていない部署にも合うポジションが埋もれている。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3561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400">
                <a:solidFill>
                  <a:srgbClr val="31220C"/>
                </a:solidFill>
              </a:rPr>
              <a:t>対話のギャップ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35615" y="7156940"/>
            <a:ext cx="334386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sz="1800">
                <a:solidFill>
                  <a:srgbClr val="31220C"/>
                </a:solidFill>
              </a:rPr>
              <a:t>情報があっても一方通行では「自分ならどうか」を考えられない。壁打ち相手がいない。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942975" y="2785307"/>
            <a:ext cx="3042578" cy="3042578"/>
          </a:xfrm>
          <a:custGeom>
            <a:avLst/>
            <a:gdLst/>
            <a:ahLst/>
            <a:cxnLst/>
            <a:rect r="r" b="b" t="t" l="l"/>
            <a:pathLst>
              <a:path h="3042578" w="3042578">
                <a:moveTo>
                  <a:pt x="0" y="0"/>
                </a:moveTo>
                <a:lnTo>
                  <a:pt x="3042578" y="0"/>
                </a:lnTo>
                <a:lnTo>
                  <a:pt x="3042578" y="3042578"/>
                </a:lnTo>
                <a:lnTo>
                  <a:pt x="0" y="304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99" t="0" r="-2500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942975" y="1079499"/>
            <a:ext cx="8919160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6400"/>
              </a:lnSpc>
            </a:pPr>
            <a:r>
              <a:rPr b="1" sz="8000">
                <a:solidFill>
                  <a:srgbClr val="31220C"/>
                </a:solidFill>
              </a:rPr>
              <a:t>解決策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YourCompany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97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400">
                <a:solidFill>
                  <a:srgbClr val="31220C"/>
                </a:solidFill>
              </a:rPr>
              <a:t>Phase 1: 発見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2975" y="7156940"/>
            <a:ext cx="334386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lnSpc>
                <a:spcPts val="2800"/>
              </a:lnSpc>
              <a:buNone/>
            </a:pPr>
            <a:r>
              <a:rPr sz="1600">
                <a:solidFill>
                  <a:srgbClr val="31220C"/>
                </a:solidFill>
              </a:rPr>
              <a:t>ロールモデルマップ構築、AIとキャリア壁打ち、疑似対話、部署情報・風土データ取込み、公募連動のキャリアパス提案。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3929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400">
                <a:solidFill>
                  <a:srgbClr val="31220C"/>
                </a:solidFill>
              </a:rPr>
              <a:t>Phase 2: 継続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39295" y="7156940"/>
            <a:ext cx="334386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lnSpc>
                <a:spcPts val="2800"/>
              </a:lnSpc>
              <a:buNone/>
            </a:pPr>
            <a:r>
              <a:rPr sz="1600">
                <a:solidFill>
                  <a:srgbClr val="31220C"/>
                </a:solidFill>
              </a:rPr>
              <a:t>個人別キャリアマップ構築、モチベーション把握、AIからの励ましの声かけ、公募更新通知、新人メンタリング。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3561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400">
                <a:solidFill>
                  <a:srgbClr val="31220C"/>
                </a:solidFill>
              </a:rPr>
              <a:t>Phase 3: 組織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35615" y="7156940"/>
            <a:ext cx="334386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lnSpc>
                <a:spcPts val="2800"/>
              </a:lnSpc>
              <a:buNone/>
            </a:pPr>
            <a:r>
              <a:rPr sz="1600">
                <a:solidFill>
                  <a:srgbClr val="31220C"/>
                </a:solidFill>
              </a:rPr>
              <a:t>全社員スキル可視化、プロジェクトへの最適人員配置自動化、勉強会・メンタリングマッチング、流動的な組織の実現。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639295" y="2785307"/>
            <a:ext cx="3042578" cy="3042578"/>
          </a:xfrm>
          <a:custGeom>
            <a:avLst/>
            <a:gdLst/>
            <a:ahLst/>
            <a:cxnLst/>
            <a:rect r="r" b="b" t="t" l="l"/>
            <a:pathLst>
              <a:path h="3042578" w="3042578">
                <a:moveTo>
                  <a:pt x="0" y="0"/>
                </a:moveTo>
                <a:lnTo>
                  <a:pt x="3042578" y="0"/>
                </a:lnTo>
                <a:lnTo>
                  <a:pt x="3042578" y="3042578"/>
                </a:lnTo>
                <a:lnTo>
                  <a:pt x="0" y="3042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000" r="0" b="-2500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0335615" y="2785307"/>
            <a:ext cx="3042578" cy="3042578"/>
          </a:xfrm>
          <a:custGeom>
            <a:avLst/>
            <a:gdLst/>
            <a:ahLst/>
            <a:cxnLst/>
            <a:rect r="r" b="b" t="t" l="l"/>
            <a:pathLst>
              <a:path h="3042578" w="3042578">
                <a:moveTo>
                  <a:pt x="0" y="0"/>
                </a:moveTo>
                <a:lnTo>
                  <a:pt x="3042578" y="0"/>
                </a:lnTo>
                <a:lnTo>
                  <a:pt x="3042578" y="3042578"/>
                </a:lnTo>
                <a:lnTo>
                  <a:pt x="0" y="3042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000" r="0" b="-2500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942975" y="1079499"/>
            <a:ext cx="8919160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6400"/>
              </a:lnSpc>
            </a:pPr>
            <a:r>
              <a:rPr b="1" sz="8000">
                <a:solidFill>
                  <a:srgbClr val="31220C"/>
                </a:solidFill>
              </a:rPr>
              <a:t>デモ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YourCompany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975" y="3205128"/>
            <a:ext cx="947761" cy="947761"/>
            <a:chOff x="0" y="0"/>
            <a:chExt cx="1263681" cy="126368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  <p:txBody>
              <a:bodyPr/>
              <a:p/>
            </p:txBody>
          </p:sp>
          <p:sp>
            <p:nvSpPr>
              <p:cNvPr name="TextBox 9" id="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buNone/>
                <a:lnSpc>
                  <a:spcPts val="3919"/>
                </a:lnSpc>
                <a:spcBef>
                  <a:spcPct val="0"/>
                </a:spcBef>
              </a:pPr>
              <a:r>
                <a:rPr b="1" sz="2400">
                  <a:solidFill>
                    <a:srgbClr val="F6F3EA"/>
                  </a:solidFill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39191" y="3066063"/>
            <a:ext cx="4655926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b="1" sz="1600">
                <a:solidFill>
                  <a:srgbClr val="31220C"/>
                </a:solidFill>
              </a:rPr>
              <a:t>悩みの相談: Slack/TeamsからAIにキャリアの悩みを相談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2975" y="5343525"/>
            <a:ext cx="947761" cy="947761"/>
            <a:chOff x="0" y="0"/>
            <a:chExt cx="1263681" cy="126368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  <p:txBody>
              <a:bodyPr/>
              <a:p/>
            </p:txBody>
          </p:sp>
          <p:sp>
            <p:nvSpPr>
              <p:cNvPr name="TextBox 15" id="15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buNone/>
                <a:lnSpc>
                  <a:spcPts val="3919"/>
                </a:lnSpc>
                <a:spcBef>
                  <a:spcPct val="0"/>
                </a:spcBef>
              </a:pPr>
              <a:r>
                <a:rPr b="1" sz="2400">
                  <a:solidFill>
                    <a:srgbClr val="F6F3EA"/>
                  </a:solidFill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439191" y="5194935"/>
            <a:ext cx="4655926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b="1" sz="1600">
                <a:solidFill>
                  <a:srgbClr val="31220C"/>
                </a:solidFill>
              </a:rPr>
              <a:t>ロールモデル発見: 意外なキャリアを歩んだ社員を提案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2975" y="7481922"/>
            <a:ext cx="947761" cy="947761"/>
            <a:chOff x="0" y="0"/>
            <a:chExt cx="1263681" cy="126368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  <p:txBody>
              <a:bodyPr/>
              <a:p/>
            </p:txBody>
          </p:sp>
          <p:sp>
            <p:nvSpPr>
              <p:cNvPr name="TextBox 21" id="21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buNone/>
                <a:lnSpc>
                  <a:spcPts val="3919"/>
                </a:lnSpc>
                <a:spcBef>
                  <a:spcPct val="0"/>
                </a:spcBef>
              </a:pPr>
              <a:r>
                <a:rPr b="1" sz="2400">
                  <a:solidFill>
                    <a:srgbClr val="F6F3EA"/>
                  </a:solidFill>
                </a:rPr>
                <a:t>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439191" y="7342857"/>
            <a:ext cx="4655926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b="1" sz="1600">
                <a:solidFill>
                  <a:srgbClr val="31220C"/>
                </a:solidFill>
              </a:rPr>
              <a:t>疑似対話: ロールモデルの考え方・学び方をAI対話で深掘り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072438" y="3205128"/>
            <a:ext cx="947761" cy="947761"/>
            <a:chOff x="0" y="0"/>
            <a:chExt cx="1263681" cy="126368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  <p:txBody>
              <a:bodyPr/>
              <a:p/>
            </p:txBody>
          </p:sp>
          <p:sp>
            <p:nvSpPr>
              <p:cNvPr name="TextBox 27" id="2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buNone/>
                <a:lnSpc>
                  <a:spcPts val="3919"/>
                </a:lnSpc>
                <a:spcBef>
                  <a:spcPct val="0"/>
                </a:spcBef>
              </a:pPr>
              <a:r>
                <a:rPr b="1" sz="2400">
                  <a:solidFill>
                    <a:srgbClr val="F6F3EA"/>
                  </a:solidFill>
                </a:rPr>
                <a:t>4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568653" y="3056538"/>
            <a:ext cx="4655926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b="1" sz="1600">
                <a:solidFill>
                  <a:srgbClr val="31220C"/>
                </a:solidFill>
              </a:rPr>
              <a:t>キャリアプラン提案: 自社ならではの具体的キャリアパスが見える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072438" y="5343525"/>
            <a:ext cx="947761" cy="947761"/>
            <a:chOff x="0" y="0"/>
            <a:chExt cx="1263681" cy="126368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  <p:txBody>
              <a:bodyPr/>
              <a:p/>
            </p:txBody>
          </p:sp>
          <p:sp>
            <p:nvSpPr>
              <p:cNvPr name="TextBox 33" id="3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buNone/>
                <a:lnSpc>
                  <a:spcPts val="3919"/>
                </a:lnSpc>
                <a:spcBef>
                  <a:spcPct val="0"/>
                </a:spcBef>
              </a:pPr>
              <a:r>
                <a:rPr b="1" sz="2400">
                  <a:solidFill>
                    <a:srgbClr val="F6F3EA"/>
                  </a:solidFill>
                </a:rPr>
                <a:t>5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568653" y="5194935"/>
            <a:ext cx="4655926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b="1" sz="1600">
                <a:solidFill>
                  <a:srgbClr val="31220C"/>
                </a:solidFill>
              </a:rPr>
              <a:t>次のアクション: 公募情報・勉強会・メンターの紹介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072438" y="7481922"/>
            <a:ext cx="947761" cy="947761"/>
            <a:chOff x="0" y="0"/>
            <a:chExt cx="1263681" cy="1263681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  <p:txBody>
              <a:bodyPr/>
              <a:p/>
            </p:txBody>
          </p:sp>
          <p:sp>
            <p:nvSpPr>
              <p:cNvPr name="TextBox 39" id="3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buNone/>
                <a:lnSpc>
                  <a:spcPts val="3919"/>
                </a:lnSpc>
                <a:spcBef>
                  <a:spcPct val="0"/>
                </a:spcBef>
              </a:pPr>
              <a:r>
                <a:rPr b="1" sz="2799">
                  <a:solidFill>
                    <a:srgbClr val="F6F3EA"/>
                  </a:solidFill>
                </a:rPr>
                <a:t>6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568653" y="7333332"/>
            <a:ext cx="4655926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lnSpc>
                <a:spcPts val="3779"/>
              </a:lnSpc>
              <a:buNone/>
            </a:pPr>
            <a:r>
              <a:rPr b="1" sz="2100">
                <a:solidFill>
                  <a:srgbClr val="31220C"/>
                </a:solidFill>
              </a:rPr>
              <a:t>※ 詳細はデモ動画にて紹介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028700" y="3429821"/>
            <a:ext cx="5811520" cy="4843462"/>
            <a:chOff x="0" y="0"/>
            <a:chExt cx="1530606" cy="12756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30606" cy="1275644"/>
            </a:xfrm>
            <a:custGeom>
              <a:avLst/>
              <a:gdLst/>
              <a:ahLst/>
              <a:cxnLst/>
              <a:rect r="r" b="b" t="t" l="l"/>
              <a:pathLst>
                <a:path h="1275644" w="1530606">
                  <a:moveTo>
                    <a:pt x="0" y="0"/>
                  </a:moveTo>
                  <a:lnTo>
                    <a:pt x="1530606" y="0"/>
                  </a:lnTo>
                  <a:lnTo>
                    <a:pt x="1530606" y="1275644"/>
                  </a:lnTo>
                  <a:lnTo>
                    <a:pt x="0" y="1275644"/>
                  </a:lnTo>
                  <a:close/>
                </a:path>
              </a:pathLst>
            </a:custGeom>
            <a:solidFill>
              <a:srgbClr val="C29553"/>
            </a:solidFill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1530606" cy="1399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42975" y="1079499"/>
            <a:ext cx="8919160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6400"/>
              </a:lnSpc>
            </a:pPr>
            <a:r>
              <a:rPr b="1" sz="6400">
                <a:solidFill>
                  <a:srgbClr val="31220C"/>
                </a:solidFill>
              </a:rPr>
              <a:t>進化後のユースケース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YourCompany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9725" y="3797332"/>
            <a:ext cx="445958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400">
                <a:solidFill>
                  <a:srgbClr val="F6F3EA"/>
                </a:solidFill>
              </a:rPr>
              <a:t>Phase 2: モチベーション支援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0175" y="4897787"/>
            <a:ext cx="4730352" cy="258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520" indent="-182880" lvl="1">
              <a:lnSpc>
                <a:spcPts val="4200"/>
              </a:lnSpc>
              <a:buChar char="•"/>
            </a:pPr>
            <a:r>
              <a:rPr sz="1800">
                <a:solidFill>
                  <a:srgbClr val="F6F3EA"/>
                </a:solidFill>
              </a:rPr>
              <a:t>会話履歴からモチベーションを日々把握・更新</a:t>
            </a:r>
          </a:p>
          <a:p>
            <a:pPr lvl="1" marL="731520" indent="-182880" algn="l">
              <a:lnSpc>
                <a:spcPts val="4200"/>
              </a:lnSpc>
              <a:buChar char="•"/>
            </a:pPr>
            <a:r>
              <a:rPr sz="1800">
                <a:solidFill>
                  <a:srgbClr val="F6F3EA"/>
                </a:solidFill>
              </a:rPr>
              <a:t>AIから自発的に声かけでモチベーションアップ</a:t>
            </a:r>
          </a:p>
          <a:p>
            <a:pPr lvl="1" marL="731520" indent="-182880" algn="l">
              <a:lnSpc>
                <a:spcPts val="4200"/>
              </a:lnSpc>
              <a:buChar char="•"/>
            </a:pPr>
            <a:r>
              <a:rPr sz="1800">
                <a:solidFill>
                  <a:srgbClr val="F6F3EA"/>
                </a:solidFill>
              </a:rPr>
              <a:t>公募更新通知・新人への定期メンタリング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679030" y="3429821"/>
            <a:ext cx="5811520" cy="4843462"/>
            <a:chOff x="0" y="0"/>
            <a:chExt cx="1530606" cy="12756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30606" cy="1275644"/>
            </a:xfrm>
            <a:custGeom>
              <a:avLst/>
              <a:gdLst/>
              <a:ahLst/>
              <a:cxnLst/>
              <a:rect r="r" b="b" t="t" l="l"/>
              <a:pathLst>
                <a:path h="1275644" w="1530606">
                  <a:moveTo>
                    <a:pt x="0" y="0"/>
                  </a:moveTo>
                  <a:lnTo>
                    <a:pt x="1530606" y="0"/>
                  </a:lnTo>
                  <a:lnTo>
                    <a:pt x="1530606" y="1275644"/>
                  </a:lnTo>
                  <a:lnTo>
                    <a:pt x="0" y="1275644"/>
                  </a:lnTo>
                  <a:close/>
                </a:path>
              </a:pathLst>
            </a:custGeom>
            <a:solidFill>
              <a:srgbClr val="C29553"/>
            </a:soli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530606" cy="1399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262937" y="3797332"/>
            <a:ext cx="445958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400">
                <a:solidFill>
                  <a:srgbClr val="F6F3EA"/>
                </a:solidFill>
              </a:rPr>
              <a:t>Phase 3: 組織最適化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53388" y="4897787"/>
            <a:ext cx="4730352" cy="258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520" indent="-182880" lvl="1">
              <a:lnSpc>
                <a:spcPts val="4200"/>
              </a:lnSpc>
              <a:buChar char="•"/>
            </a:pPr>
            <a:r>
              <a:rPr sz="1800">
                <a:solidFill>
                  <a:srgbClr val="F6F3EA"/>
                </a:solidFill>
              </a:rPr>
              <a:t>全社員スキルマップで最適人員配置を自動化</a:t>
            </a:r>
          </a:p>
          <a:p>
            <a:pPr lvl="1" marL="731520" indent="-182880" algn="l">
              <a:lnSpc>
                <a:spcPts val="4200"/>
              </a:lnSpc>
              <a:buChar char="•"/>
            </a:pPr>
            <a:r>
              <a:rPr sz="1800">
                <a:solidFill>
                  <a:srgbClr val="F6F3EA"/>
                </a:solidFill>
              </a:rPr>
              <a:t>勉強会・メンタリングを自動マッチング</a:t>
            </a:r>
          </a:p>
          <a:p>
            <a:pPr lvl="1" marL="731520" indent="-182880" algn="l">
              <a:lnSpc>
                <a:spcPts val="4200"/>
              </a:lnSpc>
              <a:buChar char="•"/>
            </a:pPr>
            <a:r>
              <a:rPr sz="1800">
                <a:solidFill>
                  <a:srgbClr val="F6F3EA"/>
                </a:solidFill>
              </a:rPr>
              <a:t>異動ハードルを下げ流動的な組織へ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00" y="4716812"/>
            <a:ext cx="5811520" cy="0"/>
          </a:xfrm>
          <a:prstGeom prst="line">
            <a:avLst/>
          </a:prstGeom>
          <a:ln cap="flat" w="38100">
            <a:solidFill>
              <a:srgbClr val="F6F3EA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7" id="17"/>
          <p:cNvSpPr/>
          <p:nvPr/>
        </p:nvSpPr>
        <p:spPr>
          <a:xfrm>
            <a:off x="7679030" y="4716812"/>
            <a:ext cx="5811520" cy="0"/>
          </a:xfrm>
          <a:prstGeom prst="line">
            <a:avLst/>
          </a:prstGeom>
          <a:ln cap="flat" w="38100">
            <a:solidFill>
              <a:srgbClr val="F6F3EA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942975" y="3528978"/>
            <a:ext cx="1822657" cy="1822657"/>
          </a:xfrm>
          <a:custGeom>
            <a:avLst/>
            <a:gdLst/>
            <a:ahLst/>
            <a:cxnLst/>
            <a:rect r="r" b="b" t="t" l="l"/>
            <a:pathLst>
              <a:path h="1822657" w="1822657">
                <a:moveTo>
                  <a:pt x="0" y="0"/>
                </a:moveTo>
                <a:lnTo>
                  <a:pt x="1822657" y="0"/>
                </a:lnTo>
                <a:lnTo>
                  <a:pt x="1822657" y="1822657"/>
                </a:lnTo>
                <a:lnTo>
                  <a:pt x="0" y="1822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5639295" y="3528978"/>
            <a:ext cx="1822657" cy="1822657"/>
          </a:xfrm>
          <a:custGeom>
            <a:avLst/>
            <a:gdLst/>
            <a:ahLst/>
            <a:cxnLst/>
            <a:rect r="r" b="b" t="t" l="l"/>
            <a:pathLst>
              <a:path h="1822657" w="1822657">
                <a:moveTo>
                  <a:pt x="0" y="0"/>
                </a:moveTo>
                <a:lnTo>
                  <a:pt x="1822657" y="0"/>
                </a:lnTo>
                <a:lnTo>
                  <a:pt x="1822657" y="1822657"/>
                </a:lnTo>
                <a:lnTo>
                  <a:pt x="0" y="18226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0335615" y="3195330"/>
            <a:ext cx="1954813" cy="2156305"/>
          </a:xfrm>
          <a:custGeom>
            <a:avLst/>
            <a:gdLst/>
            <a:ahLst/>
            <a:cxnLst/>
            <a:rect r="r" b="b" t="t" l="l"/>
            <a:pathLst>
              <a:path h="2156305" w="1954813">
                <a:moveTo>
                  <a:pt x="0" y="0"/>
                </a:moveTo>
                <a:lnTo>
                  <a:pt x="1954813" y="0"/>
                </a:lnTo>
                <a:lnTo>
                  <a:pt x="1954813" y="2156305"/>
                </a:lnTo>
                <a:lnTo>
                  <a:pt x="0" y="2156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942975" y="1079499"/>
            <a:ext cx="8919160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6400"/>
              </a:lnSpc>
            </a:pPr>
            <a:r>
              <a:rPr b="1" sz="8000">
                <a:solidFill>
                  <a:srgbClr val="31220C"/>
                </a:solidFill>
              </a:rPr>
              <a:t>独自性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YourCompany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297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400">
                <a:solidFill>
                  <a:srgbClr val="31220C"/>
                </a:solidFill>
              </a:rPr>
              <a:t>自社データ x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2975" y="7156940"/>
            <a:ext cx="334386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sz="1800">
                <a:solidFill>
                  <a:srgbClr val="31220C"/>
                </a:solidFill>
              </a:rPr>
              <a:t>インタビュー記事・スキルデータ・公募情報をRAGで取り込み、その会社ならではのキャリア提案が可能。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3929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400">
                <a:solidFill>
                  <a:srgbClr val="31220C"/>
                </a:solidFill>
              </a:rPr>
              <a:t>対話で深掘り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39295" y="7156940"/>
            <a:ext cx="334386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sz="1800">
                <a:solidFill>
                  <a:srgbClr val="31220C"/>
                </a:solidFill>
              </a:rPr>
              <a:t>AIとの会話で悩みや志向を深掘りし、個人に最適化されたキャリアプランを提示。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3561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400">
                <a:solidFill>
                  <a:srgbClr val="31220C"/>
                </a:solidFill>
              </a:rPr>
              <a:t>蓄積が組織価値に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35615" y="7156940"/>
            <a:ext cx="334386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sz="1800">
                <a:solidFill>
                  <a:srgbClr val="31220C"/>
                </a:solidFill>
              </a:rPr>
              <a:t>個人の会話蓄積で従来得られない情報が溜まり、人員配置・マッチング等の新ユースケースが生まれる。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975" y="1079499"/>
            <a:ext cx="6386155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6400"/>
              </a:lnSpc>
            </a:pPr>
            <a:r>
              <a:rPr b="1" sz="7200">
                <a:solidFill>
                  <a:srgbClr val="31220C"/>
                </a:solidFill>
              </a:rPr>
              <a:t>アーキテクチャ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YourCompany</a:t>
            </a:r>
          </a:p>
        </p:txBody>
      </p:sp>
      <p:sp>
        <p:nvSpPr>
          <p:cNvPr name="AutoShape 5" id="5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942975" y="2921032"/>
            <a:ext cx="1004153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400">
                <a:solidFill>
                  <a:srgbClr val="31220C"/>
                </a:solidFill>
              </a:rPr>
              <a:t>Slack/Teamsで気軽に使えるAIキャリアエージェント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975" y="3659537"/>
            <a:ext cx="10041539" cy="258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520" indent="-182880" lvl="1">
              <a:lnSpc>
                <a:spcPts val="4200"/>
              </a:lnSpc>
              <a:buChar char="•"/>
            </a:pPr>
            <a:r>
              <a:rPr sz="1800">
                <a:solidFill>
                  <a:srgbClr val="31220C"/>
                </a:solidFill>
              </a:rPr>
              <a:t>ユーザー接点: Slack / Microsoft Teams</a:t>
            </a:r>
          </a:p>
          <a:p>
            <a:pPr lvl="1" marL="731520" indent="-182880" algn="l">
              <a:lnSpc>
                <a:spcPts val="4200"/>
              </a:lnSpc>
              <a:buChar char="•"/>
            </a:pPr>
            <a:r>
              <a:rPr sz="1800">
                <a:solidFill>
                  <a:srgbClr val="31220C"/>
                </a:solidFill>
              </a:rPr>
              <a:t>AIエージェント: 壁打ち / 励まし・通知 / マッチング</a:t>
            </a:r>
          </a:p>
          <a:p>
            <a:pPr lvl="1" marL="731520" indent="-182880" algn="l">
              <a:lnSpc>
                <a:spcPts val="4200"/>
              </a:lnSpc>
              <a:buChar char="•"/>
            </a:pPr>
            <a:r>
              <a:rPr sz="1800">
                <a:solidFill>
                  <a:srgbClr val="31220C"/>
                </a:solidFill>
              </a:rPr>
              <a:t>RAG検索: インタビュー記事 / 公募情報 / スキルデータ</a:t>
            </a:r>
          </a:p>
          <a:p>
            <a:pPr lvl="1" marL="731520" indent="-182880" algn="l">
              <a:lnSpc>
                <a:spcPts val="4200"/>
              </a:lnSpc>
              <a:buChar char="•"/>
            </a:pPr>
            <a:r>
              <a:rPr sz="1800">
                <a:solidFill>
                  <a:srgbClr val="31220C"/>
                </a:solidFill>
              </a:rPr>
              <a:t>データ基盤: ロールモデルマップ / キャリアマップ / スキルマップ</a:t>
            </a:r>
          </a:p>
          <a:p>
            <a:pPr lvl="1" marL="731520" indent="-182880" algn="l">
              <a:lnSpc>
                <a:spcPts val="4200"/>
              </a:lnSpc>
              <a:buChar char="•"/>
            </a:pPr>
            <a:r>
              <a:rPr sz="1800">
                <a:solidFill>
                  <a:srgbClr val="31220C"/>
                </a:solidFill>
              </a:rPr>
              <a:t>社内連携: 既存キャリアシステム / 人事システム（将来拡張）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942975" y="1079499"/>
            <a:ext cx="8919160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6400"/>
              </a:lnSpc>
            </a:pPr>
            <a:r>
              <a:rPr b="1" sz="7200">
                <a:solidFill>
                  <a:srgbClr val="31220C"/>
                </a:solidFill>
              </a:rPr>
              <a:t>期待される効果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YourCompany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53849" y="3363146"/>
            <a:ext cx="366079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200">
                <a:solidFill>
                  <a:srgbClr val="31220C"/>
                </a:solidFill>
              </a:rPr>
              <a:t>離職率低下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3849" y="4244526"/>
            <a:ext cx="3660793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sz="1600">
                <a:solidFill>
                  <a:srgbClr val="31220C"/>
                </a:solidFill>
              </a:rPr>
              <a:t>「可能性が見えない」離職を削減。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08420" y="3363146"/>
            <a:ext cx="460878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1800">
                <a:solidFill>
                  <a:srgbClr val="31220C"/>
                </a:solidFill>
              </a:rPr>
              <a:t>エンゲージメント向上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08420" y="4244526"/>
            <a:ext cx="4608781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sz="1600">
                <a:solidFill>
                  <a:srgbClr val="31220C"/>
                </a:solidFill>
              </a:rPr>
              <a:t>キャリア展望の明確化で向上。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53849" y="6742005"/>
            <a:ext cx="366079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200">
                <a:solidFill>
                  <a:srgbClr val="31220C"/>
                </a:solidFill>
              </a:rPr>
              <a:t>人事工数削減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3849" y="7623385"/>
            <a:ext cx="3660793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sz="1600">
                <a:solidFill>
                  <a:srgbClr val="31220C"/>
                </a:solidFill>
              </a:rPr>
              <a:t>人員配置・マッチングをAIが自動化。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08420" y="6742005"/>
            <a:ext cx="460878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b="1" sz="2200">
                <a:solidFill>
                  <a:srgbClr val="31220C"/>
                </a:solidFill>
              </a:rPr>
              <a:t>組織流動性向上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08420" y="7623385"/>
            <a:ext cx="4608781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780"/>
              </a:lnSpc>
            </a:pPr>
            <a:r>
              <a:rPr sz="1600">
                <a:solidFill>
                  <a:srgbClr val="31220C"/>
                </a:solidFill>
              </a:rPr>
              <a:t>異動ハードル低下で適材適所を実現。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2975" y="3168030"/>
            <a:ext cx="947761" cy="947761"/>
            <a:chOff x="0" y="0"/>
            <a:chExt cx="1263681" cy="126368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  <p:txBody>
              <a:bodyPr/>
              <a:p/>
            </p:txBody>
          </p:sp>
          <p:sp>
            <p:nvSpPr>
              <p:cNvPr name="TextBox 17" id="1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buNone/>
                <a:lnSpc>
                  <a:spcPts val="3919"/>
                </a:lnSpc>
                <a:spcBef>
                  <a:spcPct val="0"/>
                </a:spcBef>
              </a:pPr>
              <a:r>
                <a:rPr b="1" sz="2400">
                  <a:solidFill>
                    <a:srgbClr val="F6F3EA"/>
                  </a:solidFill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083498" y="3168030"/>
            <a:ext cx="947761" cy="947761"/>
            <a:chOff x="0" y="0"/>
            <a:chExt cx="1263681" cy="126368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  <p:txBody>
              <a:bodyPr/>
              <a:p/>
            </p:txBody>
          </p:sp>
          <p:sp>
            <p:nvSpPr>
              <p:cNvPr name="TextBox 22" id="2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buNone/>
                <a:lnSpc>
                  <a:spcPts val="3919"/>
                </a:lnSpc>
                <a:spcBef>
                  <a:spcPct val="0"/>
                </a:spcBef>
              </a:pPr>
              <a:r>
                <a:rPr b="1" sz="2400">
                  <a:solidFill>
                    <a:srgbClr val="F6F3EA"/>
                  </a:solidFill>
                </a:rPr>
                <a:t>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2975" y="6546890"/>
            <a:ext cx="947761" cy="947761"/>
            <a:chOff x="0" y="0"/>
            <a:chExt cx="1263681" cy="126368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  <p:txBody>
              <a:bodyPr/>
              <a:p/>
            </p:txBody>
          </p:sp>
          <p:sp>
            <p:nvSpPr>
              <p:cNvPr name="TextBox 27" id="2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buNone/>
                <a:lnSpc>
                  <a:spcPts val="3919"/>
                </a:lnSpc>
                <a:spcBef>
                  <a:spcPct val="0"/>
                </a:spcBef>
              </a:pPr>
              <a:r>
                <a:rPr b="1" sz="2400">
                  <a:solidFill>
                    <a:srgbClr val="F6F3EA"/>
                  </a:solidFill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083498" y="6546890"/>
            <a:ext cx="947761" cy="947761"/>
            <a:chOff x="0" y="0"/>
            <a:chExt cx="1263681" cy="1263681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  <p:txBody>
              <a:bodyPr/>
              <a:p/>
            </p:txBody>
          </p:sp>
          <p:sp>
            <p:nvSpPr>
              <p:cNvPr name="TextBox 32" id="3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buNone/>
                <a:lnSpc>
                  <a:spcPts val="3919"/>
                </a:lnSpc>
                <a:spcBef>
                  <a:spcPct val="0"/>
                </a:spcBef>
              </a:pPr>
              <a:r>
                <a:rPr b="1" sz="2400">
                  <a:solidFill>
                    <a:srgbClr val="F6F3EA"/>
                  </a:solidFill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975" y="5417809"/>
            <a:ext cx="9421290" cy="182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lnSpc>
                <a:spcPts val="8000"/>
              </a:lnSpc>
              <a:buNone/>
            </a:pPr>
            <a:r>
              <a:rPr b="1" sz="10000">
                <a:solidFill>
                  <a:srgbClr val="31220C"/>
                </a:solidFill>
              </a:rPr>
              <a:t>Career Nexus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975" y="7456190"/>
            <a:ext cx="1004153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buNone/>
              <a:lnSpc>
                <a:spcPts val="3919"/>
              </a:lnSpc>
              <a:spcBef>
                <a:spcPct val="0"/>
              </a:spcBef>
            </a:pPr>
            <a:r>
              <a:rPr sz="2400">
                <a:solidFill>
                  <a:srgbClr val="31220C"/>
                </a:solidFill>
              </a:rPr>
              <a:t>半径5mの外に、あなたのキャリアがある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YourCompany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2975" y="8916987"/>
            <a:ext cx="1004153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buNone/>
              <a:lnSpc>
                <a:spcPts val="2940"/>
              </a:lnSpc>
              <a:spcBef>
                <a:spcPct val="0"/>
              </a:spcBef>
            </a:pPr>
            <a:r>
              <a:rPr b="1">
                <a:solidFill>
                  <a:srgbClr val="31220C"/>
                </a:solidFill>
              </a:rPr>
              <a:t>Thank You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DAHHksBbcXE</dc:identifier>
  <dcterms:modified xsi:type="dcterms:W3CDTF">2011-08-01T06:04:30Z</dcterms:modified>
  <cp:revision>1</cp:revision>
  <dc:title>Beige and Brown Plain Minimalist Modern Company Pitch Deck Presentation</dc:title>
</cp:coreProperties>
</file>